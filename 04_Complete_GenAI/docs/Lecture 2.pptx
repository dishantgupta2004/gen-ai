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62" r:id="rId5"/>
    <p:sldId id="265" r:id="rId6"/>
    <p:sldId id="268" r:id="rId7"/>
    <p:sldId id="270" r:id="rId8"/>
    <p:sldId id="274" r:id="rId9"/>
    <p:sldId id="280" r:id="rId10"/>
    <p:sldId id="283" r:id="rId11"/>
    <p:sldId id="285" r:id="rId12"/>
    <p:sldId id="287" r:id="rId13"/>
    <p:sldId id="290" r:id="rId14"/>
    <p:sldId id="294" r:id="rId15"/>
    <p:sldId id="297" r:id="rId16"/>
    <p:sldId id="30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37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Pretraining Compute (petaflop-days, log scale)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Compute</c:v>
          </c:tx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BERT-Large (340M)</c:v>
              </c:pt>
              <c:pt idx="1">
                <c:v>T5 (11B)</c:v>
              </c:pt>
              <c:pt idx="2">
                <c:v>GPT-3 (175B)</c:v>
              </c:pt>
            </c:strLit>
          </c:cat>
          <c:val>
            <c:numLit>
              <c:formatCode>General</c:formatCode>
              <c:ptCount val="3"/>
              <c:pt idx="0">
                <c:v>9</c:v>
              </c:pt>
              <c:pt idx="1">
                <c:v>110</c:v>
              </c:pt>
              <c:pt idx="2">
                <c:v>3640</c:v>
              </c:pt>
            </c:numLit>
          </c:val>
          <c:extLst>
            <c:ext xmlns:c16="http://schemas.microsoft.com/office/drawing/2014/chart" uri="{C3380CC4-5D6E-409C-BE32-E72D297353CC}">
              <c16:uniqueId val="{00000000-3DEC-41DE-8C87-A349FAA141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 sz="13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logBase val="10"/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175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910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06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864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755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185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134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181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17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820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459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446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797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946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512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222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91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9C91C0-989B-4979-8517-3D7FFEDD4C21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036685C-2E17-43B7-9687-2F22BB255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0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83EE3-3F97-DE29-202D-60B34AA8C6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Advance Generative AI (Lecture 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B827D-DB75-B482-9300-DE9AAD45B1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Unisole Empower</a:t>
            </a:r>
          </a:p>
        </p:txBody>
      </p:sp>
    </p:spTree>
    <p:extLst>
      <p:ext uri="{BB962C8B-B14F-4D97-AF65-F5344CB8AC3E}">
        <p14:creationId xmlns:p14="http://schemas.microsoft.com/office/powerpoint/2010/main" val="2606988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DC8A-FC60-41C5-7C92-40A528DDF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Objectives of Lecture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876B0-B965-9F40-C8D6-C8BBCF61B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IN" sz="1700" dirty="0"/>
              <a:t>Understand how foundation models are </a:t>
            </a:r>
            <a:r>
              <a:rPr lang="en-IN" sz="1700" b="1" dirty="0"/>
              <a:t>pretrained</a:t>
            </a:r>
            <a:r>
              <a:rPr lang="en-IN" sz="1700" dirty="0"/>
              <a:t> — the compute-intensive process behind multibillion-parameter LLMs</a:t>
            </a:r>
          </a:p>
          <a:p>
            <a:pPr marL="285750" indent="-28575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IN" sz="1700" dirty="0"/>
              <a:t>Explore the building blocks: </a:t>
            </a:r>
            <a:r>
              <a:rPr lang="en-IN" sz="1700" b="1" dirty="0"/>
              <a:t>tokenizers, embedding vectors</a:t>
            </a:r>
            <a:r>
              <a:rPr lang="en-IN" sz="1700" dirty="0"/>
              <a:t>, and the input context window</a:t>
            </a:r>
          </a:p>
          <a:p>
            <a:pPr marL="285750" indent="-28575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IN" sz="1700" dirty="0"/>
              <a:t>Dissect the </a:t>
            </a:r>
            <a:r>
              <a:rPr lang="en-IN" sz="1700" b="1" dirty="0"/>
              <a:t>Transformer architecture</a:t>
            </a:r>
            <a:r>
              <a:rPr lang="en-IN" sz="1700" dirty="0"/>
              <a:t> and the self-attention mechanism at its core</a:t>
            </a:r>
          </a:p>
          <a:p>
            <a:pPr marL="285750" indent="-28575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IN" sz="1700" dirty="0"/>
              <a:t>Distinguish the three model types: </a:t>
            </a:r>
            <a:r>
              <a:rPr lang="en-IN" sz="1700" b="1" dirty="0"/>
              <a:t>encoder-only, decoder-only, and encoder-decoder</a:t>
            </a:r>
          </a:p>
          <a:p>
            <a:pPr marL="285750" indent="-28575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IN" sz="1700" dirty="0"/>
              <a:t>Survey common </a:t>
            </a:r>
            <a:r>
              <a:rPr lang="en-IN" sz="1700" b="1" dirty="0"/>
              <a:t>pretraining datasets</a:t>
            </a:r>
            <a:r>
              <a:rPr lang="en-IN" sz="1700" dirty="0"/>
              <a:t> used to train large language models</a:t>
            </a:r>
          </a:p>
          <a:p>
            <a:pPr marL="285750" indent="-28575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IN" sz="1700" dirty="0"/>
              <a:t>Apply empirical </a:t>
            </a:r>
            <a:r>
              <a:rPr lang="en-IN" sz="1700" b="1" dirty="0"/>
              <a:t>scaling laws</a:t>
            </a:r>
            <a:r>
              <a:rPr lang="en-IN" sz="1700" dirty="0"/>
              <a:t> and the Chinchilla compute-optimal rule to size models and data</a:t>
            </a:r>
          </a:p>
        </p:txBody>
      </p:sp>
    </p:spTree>
    <p:extLst>
      <p:ext uri="{BB962C8B-B14F-4D97-AF65-F5344CB8AC3E}">
        <p14:creationId xmlns:p14="http://schemas.microsoft.com/office/powerpoint/2010/main" val="674572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B8BB-7CFA-9406-F3D9-A4A5ED153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Chapter Overview: Foundation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1D3D-74A7-3357-1103-6A14A044E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lnSpc>
                <a:spcPts val="2300"/>
              </a:lnSpc>
              <a:spcAft>
                <a:spcPts val="500"/>
              </a:spcAft>
              <a:buFont typeface="Arial"/>
              <a:buChar char="•"/>
            </a:pPr>
            <a:r>
              <a:rPr lang="en-IN" sz="1700" dirty="0"/>
              <a:t>In Lecture 1 (Ch 1–2) you learned to </a:t>
            </a:r>
            <a:r>
              <a:rPr lang="en-IN" sz="1700" b="1" dirty="0"/>
              <a:t>use</a:t>
            </a:r>
            <a:r>
              <a:rPr lang="en-IN" sz="1700" dirty="0"/>
              <a:t> an existing foundation model via prompt and in-context engineering.</a:t>
            </a:r>
          </a:p>
          <a:p>
            <a:pPr marL="285750" lvl="0" indent="-285750">
              <a:lnSpc>
                <a:spcPts val="2300"/>
              </a:lnSpc>
              <a:spcAft>
                <a:spcPts val="500"/>
              </a:spcAft>
              <a:buFont typeface="Arial"/>
              <a:buChar char="•"/>
            </a:pPr>
            <a:r>
              <a:rPr lang="en-IN" sz="1700" dirty="0"/>
              <a:t>This chapter goes </a:t>
            </a:r>
            <a:r>
              <a:rPr lang="en-IN" sz="1700" b="1" dirty="0"/>
              <a:t>under the hood</a:t>
            </a:r>
            <a:r>
              <a:rPr lang="en-IN" sz="1700" dirty="0"/>
              <a:t>: how a foundation model is actually trained.</a:t>
            </a:r>
          </a:p>
          <a:p>
            <a:pPr marL="285750" lvl="0" indent="-285750">
              <a:lnSpc>
                <a:spcPts val="2300"/>
              </a:lnSpc>
              <a:spcAft>
                <a:spcPts val="500"/>
              </a:spcAft>
              <a:buFont typeface="Arial"/>
              <a:buChar char="•"/>
            </a:pPr>
            <a:r>
              <a:rPr lang="en-IN" sz="1700" dirty="0"/>
              <a:t>Training from scratch — called </a:t>
            </a:r>
            <a:r>
              <a:rPr lang="en-IN" sz="1700" b="1" dirty="0"/>
              <a:t>pretraining</a:t>
            </a:r>
            <a:r>
              <a:rPr lang="en-IN" sz="1700" dirty="0"/>
              <a:t> — needs millions of GPU hours and trillions of tokens.</a:t>
            </a:r>
          </a:p>
          <a:p>
            <a:pPr marL="285750" lvl="0" indent="-285750">
              <a:lnSpc>
                <a:spcPts val="2300"/>
              </a:lnSpc>
              <a:spcAft>
                <a:spcPts val="500"/>
              </a:spcAft>
              <a:buFont typeface="Arial"/>
              <a:buChar char="•"/>
            </a:pPr>
            <a:r>
              <a:rPr lang="en-IN" sz="1700" dirty="0"/>
              <a:t>Example: </a:t>
            </a:r>
            <a:r>
              <a:rPr lang="en-IN" sz="1700" b="1" dirty="0"/>
              <a:t>BloombergGPT</a:t>
            </a:r>
            <a:r>
              <a:rPr lang="en-IN" sz="1700" dirty="0"/>
              <a:t> used a 1.3 million GPU-hour budget on Amazon SageMaker.</a:t>
            </a:r>
          </a:p>
          <a:p>
            <a:pPr marL="285750" lvl="0" indent="-285750">
              <a:lnSpc>
                <a:spcPts val="2300"/>
              </a:lnSpc>
              <a:spcAft>
                <a:spcPts val="500"/>
              </a:spcAft>
              <a:buFont typeface="Arial"/>
              <a:buChar char="•"/>
            </a:pPr>
            <a:r>
              <a:rPr lang="en-IN" sz="1700" dirty="0"/>
              <a:t>You rarely train your own FM, but understanding the process is key to </a:t>
            </a:r>
            <a:r>
              <a:rPr lang="en-IN" sz="1700" b="1" dirty="0"/>
              <a:t>fine-tuning and scaling decisions later.</a:t>
            </a:r>
          </a:p>
        </p:txBody>
      </p:sp>
    </p:spTree>
    <p:extLst>
      <p:ext uri="{BB962C8B-B14F-4D97-AF65-F5344CB8AC3E}">
        <p14:creationId xmlns:p14="http://schemas.microsoft.com/office/powerpoint/2010/main" val="25984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DAD1-9F92-65A9-D5A0-D940CFBC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Finding a Foundation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83D4F-CA26-3AF8-4F96-AEAA84B58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lnSpc>
                <a:spcPts val="2000"/>
              </a:lnSpc>
              <a:spcAft>
                <a:spcPts val="400"/>
              </a:spcAft>
              <a:buFont typeface="Arial"/>
              <a:buChar char="•"/>
            </a:pPr>
            <a:r>
              <a:rPr lang="en-IN" sz="1600" dirty="0"/>
              <a:t>Start every project by exploring </a:t>
            </a:r>
            <a:r>
              <a:rPr lang="en-IN" sz="1600" b="1" dirty="0"/>
              <a:t>publicly available pretrained models</a:t>
            </a:r>
            <a:r>
              <a:rPr lang="en-IN" sz="1600" dirty="0"/>
              <a:t> (e.g. Llama 2 from Meta).</a:t>
            </a:r>
          </a:p>
          <a:p>
            <a:pPr marL="285750" lvl="0" indent="-285750">
              <a:lnSpc>
                <a:spcPts val="2000"/>
              </a:lnSpc>
              <a:spcAft>
                <a:spcPts val="400"/>
              </a:spcAft>
              <a:buFont typeface="Arial"/>
              <a:buChar char="•"/>
            </a:pPr>
            <a:r>
              <a:rPr lang="en-IN" sz="1600" dirty="0"/>
              <a:t>Models capture knowledge in their parameters — called </a:t>
            </a:r>
            <a:r>
              <a:rPr lang="en-IN" sz="1600" b="1" dirty="0"/>
              <a:t>parametric memory.</a:t>
            </a:r>
          </a:p>
          <a:p>
            <a:pPr marL="285750" lvl="0" indent="-285750">
              <a:lnSpc>
                <a:spcPts val="2000"/>
              </a:lnSpc>
              <a:spcAft>
                <a:spcPts val="400"/>
              </a:spcAft>
              <a:buFont typeface="Arial"/>
              <a:buChar char="•"/>
            </a:pPr>
            <a:r>
              <a:rPr lang="en-IN" sz="1600" dirty="0"/>
              <a:t>Find them in </a:t>
            </a:r>
            <a:r>
              <a:rPr lang="en-IN" sz="1600" b="1" dirty="0"/>
              <a:t>model hubs:</a:t>
            </a:r>
            <a:r>
              <a:rPr lang="en-IN" sz="1600" dirty="0"/>
              <a:t> Hugging Face, PyTorch Hub, Amazon SageMaker JumpStart.</a:t>
            </a:r>
          </a:p>
          <a:p>
            <a:pPr marL="628650" lvl="1" indent="-285750">
              <a:lnSpc>
                <a:spcPts val="2000"/>
              </a:lnSpc>
              <a:spcAft>
                <a:spcPts val="400"/>
              </a:spcAft>
              <a:buFont typeface="Arial"/>
              <a:buChar char="–"/>
            </a:pPr>
            <a:r>
              <a:rPr lang="en-IN" sz="1600" dirty="0"/>
              <a:t>Each model ships with a </a:t>
            </a:r>
            <a:r>
              <a:rPr lang="en-IN" sz="1600" b="1" dirty="0"/>
              <a:t>model card</a:t>
            </a:r>
            <a:r>
              <a:rPr lang="en-IN" sz="1600" dirty="0"/>
              <a:t>: training details, context-window size, prompt format, limitations.</a:t>
            </a:r>
          </a:p>
          <a:p>
            <a:pPr marL="628650" lvl="1" indent="-285750">
              <a:lnSpc>
                <a:spcPts val="2000"/>
              </a:lnSpc>
              <a:spcAft>
                <a:spcPts val="400"/>
              </a:spcAft>
              <a:buFont typeface="Arial"/>
              <a:buChar char="–"/>
            </a:pPr>
            <a:r>
              <a:rPr lang="en-IN" sz="1600" dirty="0"/>
              <a:t>SageMaker JumpStart can deploy a private model copy into your AWS account in a few clicks.</a:t>
            </a:r>
          </a:p>
          <a:p>
            <a:pPr marL="285750" lvl="0" indent="-285750">
              <a:lnSpc>
                <a:spcPts val="2000"/>
              </a:lnSpc>
              <a:spcAft>
                <a:spcPts val="400"/>
              </a:spcAft>
              <a:buFont typeface="Arial"/>
              <a:buChar char="•"/>
            </a:pPr>
            <a:r>
              <a:rPr lang="en-IN" sz="1600" dirty="0"/>
              <a:t>Avoid </a:t>
            </a:r>
            <a:r>
              <a:rPr lang="en-IN" sz="1600" b="1" dirty="0"/>
              <a:t>FOMO</a:t>
            </a:r>
            <a:r>
              <a:rPr lang="en-IN" sz="1600" dirty="0"/>
              <a:t> — finish evaluating one model before chasing the latest leaderboard winner.</a:t>
            </a:r>
          </a:p>
        </p:txBody>
      </p:sp>
    </p:spTree>
    <p:extLst>
      <p:ext uri="{BB962C8B-B14F-4D97-AF65-F5344CB8AC3E}">
        <p14:creationId xmlns:p14="http://schemas.microsoft.com/office/powerpoint/2010/main" val="779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94F3C-9E90-EB64-D7F4-8EDE861E6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Tokenizers: Text to Token IDs</a:t>
            </a:r>
          </a:p>
        </p:txBody>
      </p:sp>
      <p:sp>
        <p:nvSpPr>
          <p:cNvPr id="101" name="b101"/>
          <p:cNvSpPr/>
          <p:nvPr/>
        </p:nvSpPr>
        <p:spPr>
          <a:xfrm>
            <a:off x="2286000" y="2336800"/>
            <a:ext cx="7620000" cy="6604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wrap="square" lIns="45720" tIns="18288" rIns="45720" bIns="18288" rtlCol="0" anchor="ctr">
            <a:normAutofit/>
          </a:bodyPr>
          <a:lstStyle/>
          <a:p>
            <a:pPr algn="ctr"/>
            <a:r>
              <a:rPr lang="en-IN" sz="1400" dirty="0">
                <a:solidFill>
                  <a:srgbClr val="DCE6F0"/>
                </a:solidFill>
              </a:rPr>
              <a:t>Input text:  </a:t>
            </a:r>
            <a:r>
              <a:rPr lang="en-IN" sz="1600" b="1" dirty="0">
                <a:solidFill>
                  <a:srgbClr val="FFFFFF"/>
                </a:solidFill>
              </a:rPr>
              <a:t>"The student learns from the"</a:t>
            </a:r>
          </a:p>
        </p:txBody>
      </p:sp>
      <p:sp>
        <p:nvSpPr>
          <p:cNvPr id="102" name="a102"/>
          <p:cNvSpPr/>
          <p:nvPr/>
        </p:nvSpPr>
        <p:spPr>
          <a:xfrm>
            <a:off x="5842000" y="3124200"/>
            <a:ext cx="508000" cy="584200"/>
          </a:xfrm>
          <a:prstGeom prst="downArrow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b103"/>
          <p:cNvSpPr/>
          <p:nvPr/>
        </p:nvSpPr>
        <p:spPr>
          <a:xfrm>
            <a:off x="4191000" y="3810000"/>
            <a:ext cx="3810000" cy="609600"/>
          </a:xfrm>
          <a:prstGeom prst="roundRect">
            <a:avLst/>
          </a:prstGeom>
          <a:solidFill>
            <a:srgbClr val="D97828"/>
          </a:solidFill>
          <a:ln>
            <a:noFill/>
          </a:ln>
        </p:spPr>
        <p:txBody>
          <a:bodyPr wrap="square" lIns="45720" tIns="18288" rIns="45720" bIns="18288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</a:rPr>
              <a:t>TOKENIZER</a:t>
            </a:r>
          </a:p>
        </p:txBody>
      </p:sp>
      <p:sp>
        <p:nvSpPr>
          <p:cNvPr id="104" name="a104"/>
          <p:cNvSpPr/>
          <p:nvPr/>
        </p:nvSpPr>
        <p:spPr>
          <a:xfrm>
            <a:off x="5842000" y="4521200"/>
            <a:ext cx="508000" cy="584200"/>
          </a:xfrm>
          <a:prstGeom prst="downArrow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b105"/>
          <p:cNvSpPr/>
          <p:nvPr/>
        </p:nvSpPr>
        <p:spPr>
          <a:xfrm>
            <a:off x="1270000" y="5181600"/>
            <a:ext cx="1788160" cy="558800"/>
          </a:xfrm>
          <a:prstGeom prst="roundRect">
            <a:avLst/>
          </a:prstGeom>
          <a:solidFill>
            <a:srgbClr val="83992A"/>
          </a:solidFill>
          <a:ln>
            <a:noFill/>
          </a:ln>
        </p:spPr>
        <p:txBody>
          <a:bodyPr wrap="square" lIns="45720" tIns="18288" rIns="45720" bIns="18288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</a:rPr>
              <a:t>The</a:t>
            </a:r>
          </a:p>
        </p:txBody>
      </p:sp>
      <p:sp>
        <p:nvSpPr>
          <p:cNvPr id="106" name="b106"/>
          <p:cNvSpPr/>
          <p:nvPr/>
        </p:nvSpPr>
        <p:spPr>
          <a:xfrm>
            <a:off x="1270000" y="5816600"/>
            <a:ext cx="1788160" cy="48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3992A"/>
            </a:solidFill>
          </a:ln>
        </p:spPr>
        <p:txBody>
          <a:bodyPr wrap="square" lIns="45720" tIns="18288" rIns="45720" bIns="18288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212121"/>
                </a:solidFill>
              </a:rPr>
              <a:t>464</a:t>
            </a:r>
          </a:p>
        </p:txBody>
      </p:sp>
      <p:sp>
        <p:nvSpPr>
          <p:cNvPr id="107" name="b107"/>
          <p:cNvSpPr/>
          <p:nvPr/>
        </p:nvSpPr>
        <p:spPr>
          <a:xfrm>
            <a:off x="3235960" y="5181600"/>
            <a:ext cx="1788160" cy="558800"/>
          </a:xfrm>
          <a:prstGeom prst="roundRect">
            <a:avLst/>
          </a:prstGeom>
          <a:solidFill>
            <a:srgbClr val="83992A"/>
          </a:solidFill>
          <a:ln>
            <a:noFill/>
          </a:ln>
        </p:spPr>
        <p:txBody>
          <a:bodyPr wrap="square" lIns="45720" tIns="18288" rIns="45720" bIns="18288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108" name="b108"/>
          <p:cNvSpPr/>
          <p:nvPr/>
        </p:nvSpPr>
        <p:spPr>
          <a:xfrm>
            <a:off x="3235960" y="5816600"/>
            <a:ext cx="1788160" cy="48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3992A"/>
            </a:solidFill>
          </a:ln>
        </p:spPr>
        <p:txBody>
          <a:bodyPr wrap="square" lIns="45720" tIns="18288" rIns="45720" bIns="18288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212121"/>
                </a:solidFill>
              </a:rPr>
              <a:t>1496</a:t>
            </a:r>
          </a:p>
        </p:txBody>
      </p:sp>
      <p:sp>
        <p:nvSpPr>
          <p:cNvPr id="109" name="b109"/>
          <p:cNvSpPr/>
          <p:nvPr/>
        </p:nvSpPr>
        <p:spPr>
          <a:xfrm>
            <a:off x="5201920" y="5181600"/>
            <a:ext cx="1788160" cy="558800"/>
          </a:xfrm>
          <a:prstGeom prst="roundRect">
            <a:avLst/>
          </a:prstGeom>
          <a:solidFill>
            <a:srgbClr val="83992A"/>
          </a:solidFill>
          <a:ln>
            <a:noFill/>
          </a:ln>
        </p:spPr>
        <p:txBody>
          <a:bodyPr wrap="square" lIns="45720" tIns="18288" rIns="45720" bIns="18288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</a:rPr>
              <a:t>learns</a:t>
            </a:r>
          </a:p>
        </p:txBody>
      </p:sp>
      <p:sp>
        <p:nvSpPr>
          <p:cNvPr id="110" name="b110"/>
          <p:cNvSpPr/>
          <p:nvPr/>
        </p:nvSpPr>
        <p:spPr>
          <a:xfrm>
            <a:off x="5201920" y="5816600"/>
            <a:ext cx="1788160" cy="48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3992A"/>
            </a:solidFill>
          </a:ln>
        </p:spPr>
        <p:txBody>
          <a:bodyPr wrap="square" lIns="45720" tIns="18288" rIns="45720" bIns="18288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212121"/>
                </a:solidFill>
              </a:rPr>
              <a:t>25930</a:t>
            </a:r>
          </a:p>
        </p:txBody>
      </p:sp>
      <p:sp>
        <p:nvSpPr>
          <p:cNvPr id="111" name="b111"/>
          <p:cNvSpPr/>
          <p:nvPr/>
        </p:nvSpPr>
        <p:spPr>
          <a:xfrm>
            <a:off x="7167880" y="5181600"/>
            <a:ext cx="1788160" cy="558800"/>
          </a:xfrm>
          <a:prstGeom prst="roundRect">
            <a:avLst/>
          </a:prstGeom>
          <a:solidFill>
            <a:srgbClr val="83992A"/>
          </a:solidFill>
          <a:ln>
            <a:noFill/>
          </a:ln>
        </p:spPr>
        <p:txBody>
          <a:bodyPr wrap="square" lIns="45720" tIns="18288" rIns="45720" bIns="18288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</a:rPr>
              <a:t>from</a:t>
            </a:r>
          </a:p>
        </p:txBody>
      </p:sp>
      <p:sp>
        <p:nvSpPr>
          <p:cNvPr id="112" name="b112"/>
          <p:cNvSpPr/>
          <p:nvPr/>
        </p:nvSpPr>
        <p:spPr>
          <a:xfrm>
            <a:off x="7167880" y="5816600"/>
            <a:ext cx="1788160" cy="48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3992A"/>
            </a:solidFill>
          </a:ln>
        </p:spPr>
        <p:txBody>
          <a:bodyPr wrap="square" lIns="45720" tIns="18288" rIns="45720" bIns="18288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212121"/>
                </a:solidFill>
              </a:rPr>
              <a:t>505</a:t>
            </a:r>
          </a:p>
        </p:txBody>
      </p:sp>
      <p:sp>
        <p:nvSpPr>
          <p:cNvPr id="113" name="b113"/>
          <p:cNvSpPr/>
          <p:nvPr/>
        </p:nvSpPr>
        <p:spPr>
          <a:xfrm>
            <a:off x="9133840" y="5181600"/>
            <a:ext cx="1788160" cy="558800"/>
          </a:xfrm>
          <a:prstGeom prst="roundRect">
            <a:avLst/>
          </a:prstGeom>
          <a:solidFill>
            <a:srgbClr val="83992A"/>
          </a:solidFill>
          <a:ln>
            <a:noFill/>
          </a:ln>
        </p:spPr>
        <p:txBody>
          <a:bodyPr wrap="square" lIns="45720" tIns="18288" rIns="45720" bIns="18288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</a:rPr>
              <a:t>the</a:t>
            </a:r>
          </a:p>
        </p:txBody>
      </p:sp>
      <p:sp>
        <p:nvSpPr>
          <p:cNvPr id="114" name="b114"/>
          <p:cNvSpPr/>
          <p:nvPr/>
        </p:nvSpPr>
        <p:spPr>
          <a:xfrm>
            <a:off x="9133840" y="5816600"/>
            <a:ext cx="1788160" cy="48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3992A"/>
            </a:solidFill>
          </a:ln>
        </p:spPr>
        <p:txBody>
          <a:bodyPr wrap="square" lIns="45720" tIns="18288" rIns="45720" bIns="18288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212121"/>
                </a:solidFill>
              </a:rPr>
              <a:t>262</a:t>
            </a:r>
          </a:p>
        </p:txBody>
      </p:sp>
      <p:sp>
        <p:nvSpPr>
          <p:cNvPr id="115" name="b115"/>
          <p:cNvSpPr/>
          <p:nvPr/>
        </p:nvSpPr>
        <p:spPr>
          <a:xfrm>
            <a:off x="508000" y="5207000"/>
            <a:ext cx="63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rmAutofit/>
          </a:bodyPr>
          <a:lstStyle/>
          <a:p>
            <a:pPr algn="r"/>
            <a:r>
              <a:rPr lang="en-IN" sz="1300" dirty="0">
                <a:solidFill>
                  <a:srgbClr val="5A5A5A"/>
                </a:solidFill>
              </a:rPr>
              <a:t>tokens</a:t>
            </a:r>
          </a:p>
        </p:txBody>
      </p:sp>
      <p:sp>
        <p:nvSpPr>
          <p:cNvPr id="116" name="b116"/>
          <p:cNvSpPr/>
          <p:nvPr/>
        </p:nvSpPr>
        <p:spPr>
          <a:xfrm>
            <a:off x="508000" y="5816600"/>
            <a:ext cx="63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ctr">
            <a:normAutofit lnSpcReduction="10000"/>
          </a:bodyPr>
          <a:lstStyle/>
          <a:p>
            <a:pPr algn="r"/>
            <a:r>
              <a:rPr lang="en-IN" sz="1300" dirty="0">
                <a:solidFill>
                  <a:srgbClr val="5A5A5A"/>
                </a:solidFill>
              </a:rPr>
              <a:t>token IDs</a:t>
            </a:r>
          </a:p>
        </p:txBody>
      </p:sp>
    </p:spTree>
    <p:extLst>
      <p:ext uri="{BB962C8B-B14F-4D97-AF65-F5344CB8AC3E}">
        <p14:creationId xmlns:p14="http://schemas.microsoft.com/office/powerpoint/2010/main" val="3890555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21959-E28B-C7DB-E67D-915712224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Embedding Vectors</a:t>
            </a:r>
          </a:p>
        </p:txBody>
      </p:sp>
      <p:sp>
        <p:nvSpPr>
          <p:cNvPr id="101" name="leftTxt"/>
          <p:cNvSpPr/>
          <p:nvPr/>
        </p:nvSpPr>
        <p:spPr>
          <a:xfrm>
            <a:off x="508000" y="2603500"/>
            <a:ext cx="4889500" cy="37465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68288" indent="-268288">
              <a:lnSpc>
                <a:spcPts val="2000"/>
              </a:lnSpc>
              <a:spcAft>
                <a:spcPts val="800"/>
              </a:spcAft>
              <a:buFont typeface="Arial"/>
              <a:buChar char="•"/>
            </a:pPr>
            <a:r>
              <a:rPr lang="en-IN" sz="1500" dirty="0">
                <a:solidFill>
                  <a:srgbClr val="212121"/>
                </a:solidFill>
              </a:rPr>
              <a:t>A </a:t>
            </a:r>
            <a:r>
              <a:rPr lang="en-IN" sz="1500" b="1" dirty="0">
                <a:solidFill>
                  <a:srgbClr val="212121"/>
                </a:solidFill>
              </a:rPr>
              <a:t>vectorized representation</a:t>
            </a:r>
            <a:r>
              <a:rPr lang="en-IN" sz="1500" dirty="0">
                <a:solidFill>
                  <a:srgbClr val="212121"/>
                </a:solidFill>
              </a:rPr>
              <a:t> of text, images or audio in high-dimensional space.</a:t>
            </a:r>
          </a:p>
          <a:p>
            <a:pPr marL="268288" indent="-268288">
              <a:lnSpc>
                <a:spcPts val="2000"/>
              </a:lnSpc>
              <a:spcAft>
                <a:spcPts val="800"/>
              </a:spcAft>
              <a:buFont typeface="Arial"/>
              <a:buChar char="•"/>
            </a:pPr>
            <a:r>
              <a:rPr lang="en-IN" sz="1500" dirty="0">
                <a:solidFill>
                  <a:srgbClr val="212121"/>
                </a:solidFill>
              </a:rPr>
              <a:t>Typical spaces span </a:t>
            </a:r>
            <a:r>
              <a:rPr lang="en-IN" sz="1500" b="1" dirty="0">
                <a:solidFill>
                  <a:srgbClr val="212121"/>
                </a:solidFill>
              </a:rPr>
              <a:t>512–4,096 dimensions.</a:t>
            </a:r>
          </a:p>
          <a:p>
            <a:pPr marL="268288" indent="-268288">
              <a:lnSpc>
                <a:spcPts val="2000"/>
              </a:lnSpc>
              <a:spcAft>
                <a:spcPts val="800"/>
              </a:spcAft>
              <a:buFont typeface="Arial"/>
              <a:buChar char="•"/>
            </a:pPr>
            <a:r>
              <a:rPr lang="en-IN" sz="1500" dirty="0">
                <a:solidFill>
                  <a:srgbClr val="212121"/>
                </a:solidFill>
              </a:rPr>
              <a:t>Distance encodes meaning — </a:t>
            </a:r>
            <a:r>
              <a:rPr lang="en-IN" sz="1500" b="1" dirty="0">
                <a:solidFill>
                  <a:srgbClr val="212121"/>
                </a:solidFill>
              </a:rPr>
              <a:t>closer = more semantically similar.</a:t>
            </a:r>
          </a:p>
          <a:p>
            <a:pPr marL="268288" indent="-268288">
              <a:lnSpc>
                <a:spcPts val="2000"/>
              </a:lnSpc>
              <a:spcAft>
                <a:spcPts val="800"/>
              </a:spcAft>
              <a:buFont typeface="Arial"/>
              <a:buChar char="•"/>
            </a:pPr>
            <a:r>
              <a:rPr lang="en-IN" sz="1500" dirty="0">
                <a:solidFill>
                  <a:srgbClr val="212121"/>
                </a:solidFill>
              </a:rPr>
              <a:t>Learned during </a:t>
            </a:r>
            <a:r>
              <a:rPr lang="en-IN" sz="1500" b="1" dirty="0">
                <a:solidFill>
                  <a:srgbClr val="212121"/>
                </a:solidFill>
              </a:rPr>
              <a:t>pretraining</a:t>
            </a:r>
            <a:r>
              <a:rPr lang="en-IN" sz="1500" dirty="0">
                <a:solidFill>
                  <a:srgbClr val="212121"/>
                </a:solidFill>
              </a:rPr>
              <a:t> and reused across the Transformer.</a:t>
            </a:r>
          </a:p>
        </p:txBody>
      </p:sp>
      <p:sp>
        <p:nvSpPr>
          <p:cNvPr id="102" name="s102"/>
          <p:cNvSpPr/>
          <p:nvPr/>
        </p:nvSpPr>
        <p:spPr>
          <a:xfrm>
            <a:off x="5842000" y="2489200"/>
            <a:ext cx="5842000" cy="3962400"/>
          </a:xfrm>
          <a:prstGeom prst="roundRect">
            <a:avLst/>
          </a:prstGeom>
          <a:solidFill>
            <a:srgbClr val="F4F6EC"/>
          </a:solidFill>
          <a:ln w="12700">
            <a:solidFill>
              <a:srgbClr val="C9D6A3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103" name="ln103"/>
          <p:cNvCxnSpPr/>
          <p:nvPr/>
        </p:nvCxnSpPr>
        <p:spPr>
          <a:xfrm flipV="1">
            <a:off x="6858000" y="3009900"/>
            <a:ext cx="25400" cy="2984500"/>
          </a:xfrm>
          <a:prstGeom prst="line">
            <a:avLst/>
          </a:prstGeom>
          <a:ln w="27940">
            <a:solidFill>
              <a:srgbClr val="44709D"/>
            </a:solidFill>
            <a:tailEnd type="triangle"/>
          </a:ln>
        </p:spPr>
      </p:cxnSp>
      <p:cxnSp>
        <p:nvCxnSpPr>
          <p:cNvPr id="104" name="ln104"/>
          <p:cNvCxnSpPr/>
          <p:nvPr/>
        </p:nvCxnSpPr>
        <p:spPr>
          <a:xfrm>
            <a:off x="6858000" y="5994400"/>
            <a:ext cx="4191000" cy="25400"/>
          </a:xfrm>
          <a:prstGeom prst="line">
            <a:avLst/>
          </a:prstGeom>
          <a:ln w="27940">
            <a:solidFill>
              <a:srgbClr val="44709D"/>
            </a:solidFill>
            <a:tailEnd type="triangle"/>
          </a:ln>
        </p:spPr>
      </p:cxnSp>
      <p:cxnSp>
        <p:nvCxnSpPr>
          <p:cNvPr id="105" name="ln105"/>
          <p:cNvCxnSpPr/>
          <p:nvPr/>
        </p:nvCxnSpPr>
        <p:spPr>
          <a:xfrm flipV="1">
            <a:off x="6858000" y="4660900"/>
            <a:ext cx="1905000" cy="1333500"/>
          </a:xfrm>
          <a:prstGeom prst="line">
            <a:avLst/>
          </a:prstGeom>
          <a:ln w="27940">
            <a:solidFill>
              <a:srgbClr val="44709D"/>
            </a:solidFill>
            <a:tailEnd type="triangle"/>
          </a:ln>
        </p:spPr>
      </p:cxnSp>
      <p:sp>
        <p:nvSpPr>
          <p:cNvPr id="106" name="s106"/>
          <p:cNvSpPr/>
          <p:nvPr/>
        </p:nvSpPr>
        <p:spPr>
          <a:xfrm>
            <a:off x="8140700" y="3111500"/>
            <a:ext cx="177800" cy="177800"/>
          </a:xfrm>
          <a:prstGeom prst="ellipse">
            <a:avLst/>
          </a:prstGeom>
          <a:solidFill>
            <a:srgbClr val="8399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107"/>
          <p:cNvSpPr/>
          <p:nvPr/>
        </p:nvSpPr>
        <p:spPr>
          <a:xfrm>
            <a:off x="8343900" y="2933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IN" sz="1400" b="1" dirty="0">
                <a:solidFill>
                  <a:srgbClr val="83992A"/>
                </a:solidFill>
              </a:rPr>
              <a:t>teach</a:t>
            </a:r>
          </a:p>
        </p:txBody>
      </p:sp>
      <p:sp>
        <p:nvSpPr>
          <p:cNvPr id="108" name="s108"/>
          <p:cNvSpPr/>
          <p:nvPr/>
        </p:nvSpPr>
        <p:spPr>
          <a:xfrm>
            <a:off x="8724900" y="3467100"/>
            <a:ext cx="177800" cy="177800"/>
          </a:xfrm>
          <a:prstGeom prst="ellipse">
            <a:avLst/>
          </a:prstGeom>
          <a:solidFill>
            <a:srgbClr val="8399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t109"/>
          <p:cNvSpPr/>
          <p:nvPr/>
        </p:nvSpPr>
        <p:spPr>
          <a:xfrm>
            <a:off x="8928100" y="32893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IN" sz="1400" b="1" dirty="0">
                <a:solidFill>
                  <a:srgbClr val="83992A"/>
                </a:solidFill>
              </a:rPr>
              <a:t>book</a:t>
            </a:r>
          </a:p>
        </p:txBody>
      </p:sp>
      <p:sp>
        <p:nvSpPr>
          <p:cNvPr id="110" name="s110"/>
          <p:cNvSpPr/>
          <p:nvPr/>
        </p:nvSpPr>
        <p:spPr>
          <a:xfrm>
            <a:off x="10071100" y="4635500"/>
            <a:ext cx="177800" cy="177800"/>
          </a:xfrm>
          <a:prstGeom prst="ellipse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t111"/>
          <p:cNvSpPr/>
          <p:nvPr/>
        </p:nvSpPr>
        <p:spPr>
          <a:xfrm>
            <a:off x="10274300" y="4457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IN" sz="1400" b="1" dirty="0">
                <a:solidFill>
                  <a:srgbClr val="A23C33"/>
                </a:solidFill>
              </a:rPr>
              <a:t>car</a:t>
            </a:r>
          </a:p>
        </p:txBody>
      </p:sp>
      <p:sp>
        <p:nvSpPr>
          <p:cNvPr id="112" name="s112"/>
          <p:cNvSpPr/>
          <p:nvPr/>
        </p:nvSpPr>
        <p:spPr>
          <a:xfrm>
            <a:off x="7366000" y="5651500"/>
            <a:ext cx="177800" cy="177800"/>
          </a:xfrm>
          <a:prstGeom prst="ellipse">
            <a:avLst/>
          </a:prstGeom>
          <a:solidFill>
            <a:srgbClr val="D978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113"/>
          <p:cNvSpPr/>
          <p:nvPr/>
        </p:nvSpPr>
        <p:spPr>
          <a:xfrm>
            <a:off x="7569200" y="55499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IN" sz="1400" b="1" dirty="0">
                <a:solidFill>
                  <a:srgbClr val="D97828"/>
                </a:solidFill>
              </a:rPr>
              <a:t>fire</a:t>
            </a:r>
          </a:p>
        </p:txBody>
      </p:sp>
      <p:sp>
        <p:nvSpPr>
          <p:cNvPr id="114" name="t114"/>
          <p:cNvSpPr/>
          <p:nvPr/>
        </p:nvSpPr>
        <p:spPr>
          <a:xfrm>
            <a:off x="5969000" y="6096000"/>
            <a:ext cx="5588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IN" sz="1300" i="1" dirty="0">
                <a:solidFill>
                  <a:srgbClr val="5A5A5A"/>
                </a:solidFill>
              </a:rPr>
              <a:t>Example 3-D embedding space</a:t>
            </a:r>
          </a:p>
        </p:txBody>
      </p:sp>
    </p:spTree>
    <p:extLst>
      <p:ext uri="{BB962C8B-B14F-4D97-AF65-F5344CB8AC3E}">
        <p14:creationId xmlns:p14="http://schemas.microsoft.com/office/powerpoint/2010/main" val="239678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B6FC-FFC3-73F9-842C-92DA2C65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Transformer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BDB2E-235A-6E1B-DF69-986CA3FC2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Released in 2017 — the "T" in BERT and GPT — and the engine behind virtually every modern language model.</a:t>
            </a:r>
          </a:p>
        </p:txBody>
      </p:sp>
    </p:spTree>
    <p:extLst>
      <p:ext uri="{BB962C8B-B14F-4D97-AF65-F5344CB8AC3E}">
        <p14:creationId xmlns:p14="http://schemas.microsoft.com/office/powerpoint/2010/main" val="3011772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42FA8-2D18-A140-AE5A-136EED2AE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Transformer Architecture: The Stack</a:t>
            </a:r>
          </a:p>
        </p:txBody>
      </p:sp>
      <p:sp>
        <p:nvSpPr>
          <p:cNvPr id="301" name="b301"/>
          <p:cNvSpPr/>
          <p:nvPr/>
        </p:nvSpPr>
        <p:spPr>
          <a:xfrm>
            <a:off x="889000" y="2438400"/>
            <a:ext cx="3810000" cy="482600"/>
          </a:xfrm>
          <a:prstGeom prst="roundRect">
            <a:avLst/>
          </a:prstGeom>
          <a:solidFill>
            <a:srgbClr val="DEB340"/>
          </a:solidFill>
          <a:ln>
            <a:noFill/>
          </a:ln>
        </p:spPr>
        <p:txBody>
          <a:bodyPr wrap="square" lIns="45720" tIns="6350" rIns="45720" bIns="6350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212121"/>
                </a:solidFill>
              </a:rPr>
              <a:t>Softmax Output</a:t>
            </a:r>
          </a:p>
        </p:txBody>
      </p:sp>
      <p:sp>
        <p:nvSpPr>
          <p:cNvPr id="302" name="ua302"/>
          <p:cNvSpPr/>
          <p:nvPr/>
        </p:nvSpPr>
        <p:spPr>
          <a:xfrm>
            <a:off x="2667000" y="2921000"/>
            <a:ext cx="254000" cy="177800"/>
          </a:xfrm>
          <a:prstGeom prst="upArrow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" name="b303"/>
          <p:cNvSpPr/>
          <p:nvPr/>
        </p:nvSpPr>
        <p:spPr>
          <a:xfrm>
            <a:off x="5080000" y="24384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6350" rIns="45720" bIns="6350" rtlCol="0" anchor="ctr">
            <a:normAutofit/>
          </a:bodyPr>
          <a:lstStyle/>
          <a:p>
            <a:pPr algn="l"/>
            <a:r>
              <a:rPr lang="en-IN" sz="1400" dirty="0">
                <a:solidFill>
                  <a:srgbClr val="3A3A3A"/>
                </a:solidFill>
              </a:rPr>
              <a:t>Probability distribution over the vocabulary</a:t>
            </a:r>
          </a:p>
        </p:txBody>
      </p:sp>
      <p:sp>
        <p:nvSpPr>
          <p:cNvPr id="304" name="b304"/>
          <p:cNvSpPr/>
          <p:nvPr/>
        </p:nvSpPr>
        <p:spPr>
          <a:xfrm>
            <a:off x="889000" y="3098800"/>
            <a:ext cx="3810000" cy="482600"/>
          </a:xfrm>
          <a:prstGeom prst="roundRect">
            <a:avLst/>
          </a:prstGeom>
          <a:solidFill>
            <a:srgbClr val="83992A"/>
          </a:solidFill>
          <a:ln>
            <a:noFill/>
          </a:ln>
        </p:spPr>
        <p:txBody>
          <a:bodyPr wrap="square" lIns="45720" tIns="6350" rIns="45720" bIns="6350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</a:rPr>
              <a:t>Decoder</a:t>
            </a:r>
          </a:p>
        </p:txBody>
      </p:sp>
      <p:sp>
        <p:nvSpPr>
          <p:cNvPr id="305" name="ua305"/>
          <p:cNvSpPr/>
          <p:nvPr/>
        </p:nvSpPr>
        <p:spPr>
          <a:xfrm>
            <a:off x="2667000" y="3581400"/>
            <a:ext cx="254000" cy="177800"/>
          </a:xfrm>
          <a:prstGeom prst="upArrow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6" name="b306"/>
          <p:cNvSpPr/>
          <p:nvPr/>
        </p:nvSpPr>
        <p:spPr>
          <a:xfrm>
            <a:off x="5080000" y="30988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6350" rIns="45720" bIns="6350" rtlCol="0" anchor="ctr">
            <a:normAutofit/>
          </a:bodyPr>
          <a:lstStyle/>
          <a:p>
            <a:pPr algn="l"/>
            <a:r>
              <a:rPr lang="en-IN" sz="1400" dirty="0">
                <a:solidFill>
                  <a:srgbClr val="3A3A3A"/>
                </a:solidFill>
              </a:rPr>
              <a:t>Uses context to generate the next tokens</a:t>
            </a:r>
          </a:p>
        </p:txBody>
      </p:sp>
      <p:sp>
        <p:nvSpPr>
          <p:cNvPr id="307" name="b307"/>
          <p:cNvSpPr/>
          <p:nvPr/>
        </p:nvSpPr>
        <p:spPr>
          <a:xfrm>
            <a:off x="889000" y="3759200"/>
            <a:ext cx="3810000" cy="482600"/>
          </a:xfrm>
          <a:prstGeom prst="roundRect">
            <a:avLst/>
          </a:prstGeom>
          <a:solidFill>
            <a:srgbClr val="D97828"/>
          </a:solidFill>
          <a:ln>
            <a:noFill/>
          </a:ln>
        </p:spPr>
        <p:txBody>
          <a:bodyPr wrap="square" lIns="45720" tIns="6350" rIns="45720" bIns="6350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</a:rPr>
              <a:t>Self-Attention</a:t>
            </a:r>
          </a:p>
        </p:txBody>
      </p:sp>
      <p:sp>
        <p:nvSpPr>
          <p:cNvPr id="308" name="ua308"/>
          <p:cNvSpPr/>
          <p:nvPr/>
        </p:nvSpPr>
        <p:spPr>
          <a:xfrm>
            <a:off x="2667000" y="4241800"/>
            <a:ext cx="254000" cy="177800"/>
          </a:xfrm>
          <a:prstGeom prst="upArrow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9" name="b309"/>
          <p:cNvSpPr/>
          <p:nvPr/>
        </p:nvSpPr>
        <p:spPr>
          <a:xfrm>
            <a:off x="5080000" y="37592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6350" rIns="45720" bIns="6350" rtlCol="0" anchor="ctr">
            <a:normAutofit/>
          </a:bodyPr>
          <a:lstStyle/>
          <a:p>
            <a:pPr algn="l"/>
            <a:r>
              <a:rPr lang="en-IN" sz="1400" dirty="0">
                <a:solidFill>
                  <a:srgbClr val="3A3A3A"/>
                </a:solidFill>
              </a:rPr>
              <a:t>Attends every token to all other tokens</a:t>
            </a:r>
          </a:p>
        </p:txBody>
      </p:sp>
      <p:sp>
        <p:nvSpPr>
          <p:cNvPr id="310" name="b310"/>
          <p:cNvSpPr/>
          <p:nvPr/>
        </p:nvSpPr>
        <p:spPr>
          <a:xfrm>
            <a:off x="889000" y="4419600"/>
            <a:ext cx="3810000" cy="482600"/>
          </a:xfrm>
          <a:prstGeom prst="roundRect">
            <a:avLst/>
          </a:prstGeom>
          <a:solidFill>
            <a:srgbClr val="83992A"/>
          </a:solidFill>
          <a:ln>
            <a:noFill/>
          </a:ln>
        </p:spPr>
        <p:txBody>
          <a:bodyPr wrap="square" lIns="45720" tIns="6350" rIns="45720" bIns="6350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</a:rPr>
              <a:t>Encoder</a:t>
            </a:r>
          </a:p>
        </p:txBody>
      </p:sp>
      <p:sp>
        <p:nvSpPr>
          <p:cNvPr id="311" name="ua311"/>
          <p:cNvSpPr/>
          <p:nvPr/>
        </p:nvSpPr>
        <p:spPr>
          <a:xfrm>
            <a:off x="2667000" y="4902200"/>
            <a:ext cx="254000" cy="177800"/>
          </a:xfrm>
          <a:prstGeom prst="upArrow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b312"/>
          <p:cNvSpPr/>
          <p:nvPr/>
        </p:nvSpPr>
        <p:spPr>
          <a:xfrm>
            <a:off x="5080000" y="44196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6350" rIns="45720" bIns="6350" rtlCol="0" anchor="ctr">
            <a:normAutofit/>
          </a:bodyPr>
          <a:lstStyle/>
          <a:p>
            <a:pPr algn="l"/>
            <a:r>
              <a:rPr lang="en-IN" sz="1400" dirty="0">
                <a:solidFill>
                  <a:srgbClr val="3A3A3A"/>
                </a:solidFill>
              </a:rPr>
              <a:t>Projects input into a meaning/structure space</a:t>
            </a:r>
          </a:p>
        </p:txBody>
      </p:sp>
      <p:sp>
        <p:nvSpPr>
          <p:cNvPr id="313" name="b313"/>
          <p:cNvSpPr/>
          <p:nvPr/>
        </p:nvSpPr>
        <p:spPr>
          <a:xfrm>
            <a:off x="889000" y="5080000"/>
            <a:ext cx="3810000" cy="482600"/>
          </a:xfrm>
          <a:prstGeom prst="roundRect">
            <a:avLst/>
          </a:prstGeom>
          <a:solidFill>
            <a:srgbClr val="3C9770"/>
          </a:solidFill>
          <a:ln>
            <a:noFill/>
          </a:ln>
        </p:spPr>
        <p:txBody>
          <a:bodyPr wrap="square" lIns="45720" tIns="6350" rIns="45720" bIns="6350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</a:rPr>
              <a:t>Embedding Layer</a:t>
            </a:r>
          </a:p>
        </p:txBody>
      </p:sp>
      <p:sp>
        <p:nvSpPr>
          <p:cNvPr id="314" name="ua314"/>
          <p:cNvSpPr/>
          <p:nvPr/>
        </p:nvSpPr>
        <p:spPr>
          <a:xfrm>
            <a:off x="2667000" y="5562600"/>
            <a:ext cx="254000" cy="177800"/>
          </a:xfrm>
          <a:prstGeom prst="upArrow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5" name="b315"/>
          <p:cNvSpPr/>
          <p:nvPr/>
        </p:nvSpPr>
        <p:spPr>
          <a:xfrm>
            <a:off x="5080000" y="50800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6350" rIns="45720" bIns="6350" rtlCol="0" anchor="ctr">
            <a:normAutofit/>
          </a:bodyPr>
          <a:lstStyle/>
          <a:p>
            <a:pPr algn="l"/>
            <a:r>
              <a:rPr lang="en-IN" sz="1400" dirty="0">
                <a:solidFill>
                  <a:srgbClr val="3A3A3A"/>
                </a:solidFill>
              </a:rPr>
              <a:t>Each token mapped to an embedding vector</a:t>
            </a:r>
          </a:p>
        </p:txBody>
      </p:sp>
      <p:sp>
        <p:nvSpPr>
          <p:cNvPr id="316" name="b316"/>
          <p:cNvSpPr/>
          <p:nvPr/>
        </p:nvSpPr>
        <p:spPr>
          <a:xfrm>
            <a:off x="889000" y="5740400"/>
            <a:ext cx="3810000" cy="4826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wrap="square" lIns="45720" tIns="6350" rIns="45720" bIns="6350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</a:rPr>
              <a:t>Input Context Window</a:t>
            </a:r>
          </a:p>
        </p:txBody>
      </p:sp>
      <p:sp>
        <p:nvSpPr>
          <p:cNvPr id="317" name="b317"/>
          <p:cNvSpPr/>
          <p:nvPr/>
        </p:nvSpPr>
        <p:spPr>
          <a:xfrm>
            <a:off x="5080000" y="57404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6350" rIns="45720" bIns="6350" rtlCol="0" anchor="ctr">
            <a:normAutofit/>
          </a:bodyPr>
          <a:lstStyle/>
          <a:p>
            <a:pPr algn="l"/>
            <a:r>
              <a:rPr lang="en-IN" sz="1400" dirty="0">
                <a:solidFill>
                  <a:srgbClr val="3A3A3A"/>
                </a:solidFill>
              </a:rPr>
              <a:t>Prompt tokens stored here (e.g. max 4,096)</a:t>
            </a:r>
          </a:p>
        </p:txBody>
      </p:sp>
      <p:sp>
        <p:nvSpPr>
          <p:cNvPr id="318" name="b318"/>
          <p:cNvSpPr/>
          <p:nvPr/>
        </p:nvSpPr>
        <p:spPr>
          <a:xfrm>
            <a:off x="889000" y="63246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6350" rIns="45720" bIns="6350" rtlCol="0" anchor="ctr">
            <a:normAutofit/>
          </a:bodyPr>
          <a:lstStyle/>
          <a:p>
            <a:pPr algn="ctr"/>
            <a:r>
              <a:rPr lang="en-IN" sz="1300" i="1" dirty="0">
                <a:solidFill>
                  <a:srgbClr val="7A7A7A"/>
                </a:solidFill>
              </a:rPr>
              <a:t>Information flows bottom → top</a:t>
            </a:r>
          </a:p>
        </p:txBody>
      </p:sp>
    </p:spTree>
    <p:extLst>
      <p:ext uri="{BB962C8B-B14F-4D97-AF65-F5344CB8AC3E}">
        <p14:creationId xmlns:p14="http://schemas.microsoft.com/office/powerpoint/2010/main" val="2338217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41CE-A387-1731-ECB4-AA31D990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Self-Attention</a:t>
            </a:r>
          </a:p>
        </p:txBody>
      </p:sp>
      <p:sp>
        <p:nvSpPr>
          <p:cNvPr id="401" name="c401"/>
          <p:cNvSpPr/>
          <p:nvPr/>
        </p:nvSpPr>
        <p:spPr>
          <a:xfrm>
            <a:off x="762000" y="3175000"/>
            <a:ext cx="736600" cy="508000"/>
          </a:xfrm>
          <a:prstGeom prst="roundRect">
            <a:avLst/>
          </a:prstGeom>
          <a:solidFill>
            <a:srgbClr val="EFEFE6"/>
          </a:solidFill>
          <a:ln>
            <a:noFill/>
          </a:ln>
        </p:spPr>
        <p:txBody>
          <a:bodyPr wrap="square" lIns="18288" tIns="6350" rIns="18288" bIns="6350" anchor="ctr"/>
          <a:lstStyle/>
          <a:p>
            <a:pPr algn="ctr"/>
            <a:r>
              <a:rPr lang="en-IN" sz="1600" dirty="0">
                <a:solidFill>
                  <a:srgbClr val="212121"/>
                </a:solidFill>
              </a:rPr>
              <a:t>The</a:t>
            </a:r>
          </a:p>
        </p:txBody>
      </p:sp>
      <p:sp>
        <p:nvSpPr>
          <p:cNvPr id="402" name="c402"/>
          <p:cNvSpPr/>
          <p:nvPr/>
        </p:nvSpPr>
        <p:spPr>
          <a:xfrm>
            <a:off x="1600200" y="3175000"/>
            <a:ext cx="1562100" cy="508000"/>
          </a:xfrm>
          <a:prstGeom prst="roundRect">
            <a:avLst/>
          </a:prstGeom>
          <a:solidFill>
            <a:srgbClr val="83992A"/>
          </a:solidFill>
          <a:ln>
            <a:noFill/>
          </a:ln>
        </p:spPr>
        <p:txBody>
          <a:bodyPr wrap="square" lIns="18288" tIns="6350" rIns="18288" bIns="6350" anchor="ctr"/>
          <a:lstStyle/>
          <a:p>
            <a:pPr algn="ctr"/>
            <a:r>
              <a:rPr lang="en-IN" sz="1600" b="1" dirty="0">
                <a:solidFill>
                  <a:srgbClr val="FFFFFF"/>
                </a:solidFill>
              </a:rPr>
              <a:t>professor</a:t>
            </a:r>
          </a:p>
        </p:txBody>
      </p:sp>
      <p:sp>
        <p:nvSpPr>
          <p:cNvPr id="403" name="c403"/>
          <p:cNvSpPr/>
          <p:nvPr/>
        </p:nvSpPr>
        <p:spPr>
          <a:xfrm>
            <a:off x="3263900" y="3175000"/>
            <a:ext cx="863600" cy="508000"/>
          </a:xfrm>
          <a:prstGeom prst="roundRect">
            <a:avLst/>
          </a:prstGeom>
          <a:solidFill>
            <a:srgbClr val="EFEFE6"/>
          </a:solidFill>
          <a:ln>
            <a:noFill/>
          </a:ln>
        </p:spPr>
        <p:txBody>
          <a:bodyPr wrap="square" lIns="18288" tIns="6350" rIns="18288" bIns="6350" anchor="ctr"/>
          <a:lstStyle/>
          <a:p>
            <a:pPr algn="ctr"/>
            <a:r>
              <a:rPr lang="en-IN" sz="1600" dirty="0">
                <a:solidFill>
                  <a:srgbClr val="212121"/>
                </a:solidFill>
              </a:rPr>
              <a:t>told</a:t>
            </a:r>
          </a:p>
        </p:txBody>
      </p:sp>
      <p:sp>
        <p:nvSpPr>
          <p:cNvPr id="404" name="c404"/>
          <p:cNvSpPr/>
          <p:nvPr/>
        </p:nvSpPr>
        <p:spPr>
          <a:xfrm>
            <a:off x="4229100" y="3175000"/>
            <a:ext cx="736600" cy="508000"/>
          </a:xfrm>
          <a:prstGeom prst="roundRect">
            <a:avLst/>
          </a:prstGeom>
          <a:solidFill>
            <a:srgbClr val="A23C33"/>
          </a:solidFill>
          <a:ln>
            <a:noFill/>
          </a:ln>
        </p:spPr>
        <p:txBody>
          <a:bodyPr wrap="square" lIns="18288" tIns="6350" rIns="18288" bIns="6350" anchor="ctr"/>
          <a:lstStyle/>
          <a:p>
            <a:pPr algn="ctr"/>
            <a:r>
              <a:rPr lang="en-IN" sz="1600" b="1" dirty="0">
                <a:solidFill>
                  <a:srgbClr val="FFFFFF"/>
                </a:solidFill>
              </a:rPr>
              <a:t>her</a:t>
            </a:r>
          </a:p>
        </p:txBody>
      </p:sp>
      <p:sp>
        <p:nvSpPr>
          <p:cNvPr id="405" name="c405"/>
          <p:cNvSpPr/>
          <p:nvPr/>
        </p:nvSpPr>
        <p:spPr>
          <a:xfrm>
            <a:off x="5067300" y="3175000"/>
            <a:ext cx="1422400" cy="508000"/>
          </a:xfrm>
          <a:prstGeom prst="roundRect">
            <a:avLst/>
          </a:prstGeom>
          <a:solidFill>
            <a:srgbClr val="EFEFE6"/>
          </a:solidFill>
          <a:ln>
            <a:noFill/>
          </a:ln>
        </p:spPr>
        <p:txBody>
          <a:bodyPr wrap="square" lIns="18288" tIns="6350" rIns="18288" bIns="6350" anchor="ctr"/>
          <a:lstStyle/>
          <a:p>
            <a:pPr algn="ctr"/>
            <a:r>
              <a:rPr lang="en-IN" sz="1600" dirty="0">
                <a:solidFill>
                  <a:srgbClr val="212121"/>
                </a:solidFill>
              </a:rPr>
              <a:t>students</a:t>
            </a:r>
          </a:p>
        </p:txBody>
      </p:sp>
      <p:sp>
        <p:nvSpPr>
          <p:cNvPr id="406" name="c406"/>
          <p:cNvSpPr/>
          <p:nvPr/>
        </p:nvSpPr>
        <p:spPr>
          <a:xfrm>
            <a:off x="6591300" y="3175000"/>
            <a:ext cx="736600" cy="508000"/>
          </a:xfrm>
          <a:prstGeom prst="roundRect">
            <a:avLst/>
          </a:prstGeom>
          <a:solidFill>
            <a:srgbClr val="EFEFE6"/>
          </a:solidFill>
          <a:ln>
            <a:noFill/>
          </a:ln>
        </p:spPr>
        <p:txBody>
          <a:bodyPr wrap="square" lIns="18288" tIns="6350" rIns="18288" bIns="6350" anchor="ctr"/>
          <a:lstStyle/>
          <a:p>
            <a:pPr algn="ctr"/>
            <a:r>
              <a:rPr lang="en-IN" sz="1600" dirty="0">
                <a:solidFill>
                  <a:srgbClr val="212121"/>
                </a:solidFill>
              </a:rPr>
              <a:t>to</a:t>
            </a:r>
          </a:p>
        </p:txBody>
      </p:sp>
      <p:sp>
        <p:nvSpPr>
          <p:cNvPr id="407" name="c407"/>
          <p:cNvSpPr/>
          <p:nvPr/>
        </p:nvSpPr>
        <p:spPr>
          <a:xfrm>
            <a:off x="7429500" y="3175000"/>
            <a:ext cx="863600" cy="508000"/>
          </a:xfrm>
          <a:prstGeom prst="roundRect">
            <a:avLst/>
          </a:prstGeom>
          <a:solidFill>
            <a:srgbClr val="EFEFE6"/>
          </a:solidFill>
          <a:ln>
            <a:noFill/>
          </a:ln>
        </p:spPr>
        <p:txBody>
          <a:bodyPr wrap="square" lIns="18288" tIns="6350" rIns="18288" bIns="6350" anchor="ctr"/>
          <a:lstStyle/>
          <a:p>
            <a:pPr algn="ctr"/>
            <a:r>
              <a:rPr lang="en-IN" sz="1600" dirty="0">
                <a:solidFill>
                  <a:srgbClr val="212121"/>
                </a:solidFill>
              </a:rPr>
              <a:t>read</a:t>
            </a:r>
          </a:p>
        </p:txBody>
      </p:sp>
      <p:sp>
        <p:nvSpPr>
          <p:cNvPr id="408" name="c408"/>
          <p:cNvSpPr/>
          <p:nvPr/>
        </p:nvSpPr>
        <p:spPr>
          <a:xfrm>
            <a:off x="8394700" y="3175000"/>
            <a:ext cx="1143000" cy="508000"/>
          </a:xfrm>
          <a:prstGeom prst="roundRect">
            <a:avLst/>
          </a:prstGeom>
          <a:solidFill>
            <a:srgbClr val="EFEFE6"/>
          </a:solidFill>
          <a:ln>
            <a:noFill/>
          </a:ln>
        </p:spPr>
        <p:txBody>
          <a:bodyPr wrap="square" lIns="18288" tIns="6350" rIns="18288" bIns="6350" anchor="ctr"/>
          <a:lstStyle/>
          <a:p>
            <a:pPr algn="ctr"/>
            <a:r>
              <a:rPr lang="en-IN" sz="1600" dirty="0">
                <a:solidFill>
                  <a:srgbClr val="212121"/>
                </a:solidFill>
              </a:rPr>
              <a:t>before</a:t>
            </a:r>
          </a:p>
        </p:txBody>
      </p:sp>
      <p:sp>
        <p:nvSpPr>
          <p:cNvPr id="409" name="c409"/>
          <p:cNvSpPr/>
          <p:nvPr/>
        </p:nvSpPr>
        <p:spPr>
          <a:xfrm>
            <a:off x="9639300" y="3175000"/>
            <a:ext cx="1422400" cy="508000"/>
          </a:xfrm>
          <a:prstGeom prst="roundRect">
            <a:avLst/>
          </a:prstGeom>
          <a:solidFill>
            <a:srgbClr val="3C9770"/>
          </a:solidFill>
          <a:ln>
            <a:noFill/>
          </a:ln>
        </p:spPr>
        <p:txBody>
          <a:bodyPr wrap="square" lIns="18288" tIns="6350" rIns="18288" bIns="6350" anchor="ctr"/>
          <a:lstStyle/>
          <a:p>
            <a:pPr algn="ctr"/>
            <a:r>
              <a:rPr lang="en-IN" sz="1600" b="1" dirty="0">
                <a:solidFill>
                  <a:srgbClr val="FFFFFF"/>
                </a:solidFill>
              </a:rPr>
              <a:t>lectures</a:t>
            </a:r>
          </a:p>
        </p:txBody>
      </p:sp>
      <p:sp>
        <p:nvSpPr>
          <p:cNvPr id="412" name="t412"/>
          <p:cNvSpPr/>
          <p:nvPr/>
        </p:nvSpPr>
        <p:spPr>
          <a:xfrm>
            <a:off x="990600" y="59690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IN" sz="1400" i="1" dirty="0">
                <a:solidFill>
                  <a:srgbClr val="333333"/>
                </a:solidFill>
              </a:rPr>
              <a:t>"her" attends strongly to "professor" (thick arc) and — to a lesser degree — "lectures" (thin arc)</a:t>
            </a:r>
          </a:p>
        </p:txBody>
      </p:sp>
      <p:sp>
        <p:nvSpPr>
          <p:cNvPr id="413" name="t413"/>
          <p:cNvSpPr/>
          <p:nvPr/>
        </p:nvSpPr>
        <p:spPr>
          <a:xfrm>
            <a:off x="762000" y="4191000"/>
            <a:ext cx="10668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68288" indent="-268288">
              <a:lnSpc>
                <a:spcPts val="2000"/>
              </a:lnSpc>
              <a:spcAft>
                <a:spcPts val="700"/>
              </a:spcAft>
              <a:buFont typeface="Arial"/>
              <a:buChar char="•"/>
            </a:pPr>
            <a:r>
              <a:rPr lang="en-IN" sz="1600" dirty="0">
                <a:solidFill>
                  <a:srgbClr val="212121"/>
                </a:solidFill>
              </a:rPr>
              <a:t>Self-attention </a:t>
            </a:r>
            <a:r>
              <a:rPr lang="en-IN" sz="1600" b="1" dirty="0">
                <a:solidFill>
                  <a:srgbClr val="212121"/>
                </a:solidFill>
              </a:rPr>
              <a:t>attends every token to all other tokens</a:t>
            </a:r>
            <a:r>
              <a:rPr lang="en-IN" sz="1600" dirty="0">
                <a:solidFill>
                  <a:srgbClr val="212121"/>
                </a:solidFill>
              </a:rPr>
              <a:t>, learning contextual dependencies across the whole input.</a:t>
            </a:r>
          </a:p>
          <a:p>
            <a:pPr marL="268288" indent="-268288">
              <a:lnSpc>
                <a:spcPts val="2000"/>
              </a:lnSpc>
              <a:spcAft>
                <a:spcPts val="700"/>
              </a:spcAft>
              <a:buFont typeface="Arial"/>
              <a:buChar char="•"/>
            </a:pPr>
            <a:r>
              <a:rPr lang="en-IN" sz="1600" b="1" dirty="0">
                <a:solidFill>
                  <a:srgbClr val="212121"/>
                </a:solidFill>
              </a:rPr>
              <a:t>Multi-headed attention</a:t>
            </a:r>
            <a:r>
              <a:rPr lang="en-IN" sz="1600" dirty="0">
                <a:solidFill>
                  <a:srgbClr val="212121"/>
                </a:solidFill>
              </a:rPr>
              <a:t> runs many heads in parallel — typically </a:t>
            </a:r>
            <a:r>
              <a:rPr lang="en-IN" sz="1600" b="1" dirty="0">
                <a:solidFill>
                  <a:srgbClr val="212121"/>
                </a:solidFill>
              </a:rPr>
              <a:t>12–100 heads</a:t>
            </a:r>
            <a:r>
              <a:rPr lang="en-IN" sz="1600" dirty="0">
                <a:solidFill>
                  <a:srgbClr val="212121"/>
                </a:solidFill>
              </a:rPr>
              <a:t> — each learning different language aspects.</a:t>
            </a:r>
          </a:p>
          <a:p>
            <a:pPr marL="268288" indent="-268288">
              <a:lnSpc>
                <a:spcPts val="2000"/>
              </a:lnSpc>
              <a:spcAft>
                <a:spcPts val="700"/>
              </a:spcAft>
              <a:buFont typeface="Arial"/>
              <a:buChar char="•"/>
            </a:pPr>
            <a:r>
              <a:rPr lang="en-IN" sz="1600" dirty="0">
                <a:solidFill>
                  <a:srgbClr val="212121"/>
                </a:solidFill>
              </a:rPr>
              <a:t>Cost is </a:t>
            </a:r>
            <a:r>
              <a:rPr lang="en-IN" sz="1600" b="1" dirty="0">
                <a:solidFill>
                  <a:srgbClr val="212121"/>
                </a:solidFill>
              </a:rPr>
              <a:t>n²</a:t>
            </a:r>
            <a:r>
              <a:rPr lang="en-IN" sz="1600" dirty="0">
                <a:solidFill>
                  <a:srgbClr val="212121"/>
                </a:solidFill>
              </a:rPr>
              <a:t> — every token scored against every other; optimised by </a:t>
            </a:r>
            <a:r>
              <a:rPr lang="en-IN" sz="1600" b="1" dirty="0">
                <a:solidFill>
                  <a:srgbClr val="212121"/>
                </a:solidFill>
              </a:rPr>
              <a:t>FlashAttention</a:t>
            </a:r>
            <a:r>
              <a:rPr lang="en-IN" sz="1600" dirty="0">
                <a:solidFill>
                  <a:srgbClr val="212121"/>
                </a:solidFill>
              </a:rPr>
              <a:t> and </a:t>
            </a:r>
            <a:r>
              <a:rPr lang="en-IN" sz="1600" b="1" dirty="0">
                <a:solidFill>
                  <a:srgbClr val="212121"/>
                </a:solidFill>
              </a:rPr>
              <a:t>grouped-query attention (GQA).</a:t>
            </a:r>
          </a:p>
        </p:txBody>
      </p:sp>
      <p:cxnSp>
        <p:nvCxnSpPr>
          <p:cNvPr id="501" name="arc501"/>
          <p:cNvCxnSpPr/>
          <p:nvPr/>
        </p:nvCxnSpPr>
        <p:spPr>
          <a:xfrm flipH="1">
            <a:off x="2387600" y="2692400"/>
            <a:ext cx="2209800" cy="482600"/>
          </a:xfrm>
          <a:prstGeom prst="curvedConnector2">
            <a:avLst/>
          </a:prstGeom>
          <a:ln w="35560">
            <a:solidFill>
              <a:srgbClr val="83992A"/>
            </a:solidFill>
            <a:tailEnd type="triangle"/>
          </a:ln>
        </p:spPr>
      </p:cxnSp>
      <p:cxnSp>
        <p:nvCxnSpPr>
          <p:cNvPr id="502" name="arc502"/>
          <p:cNvCxnSpPr/>
          <p:nvPr/>
        </p:nvCxnSpPr>
        <p:spPr>
          <a:xfrm>
            <a:off x="4597400" y="2692400"/>
            <a:ext cx="5753100" cy="482600"/>
          </a:xfrm>
          <a:prstGeom prst="curvedConnector2">
            <a:avLst/>
          </a:prstGeom>
          <a:ln w="20320">
            <a:solidFill>
              <a:srgbClr val="3C9770"/>
            </a:solidFill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809278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AF95A-EF2A-668F-A918-41DA5D5A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Query, Key &amp; Softmax: Computing Attention Weights</a:t>
            </a:r>
          </a:p>
        </p:txBody>
      </p:sp>
      <p:sp>
        <p:nvSpPr>
          <p:cNvPr id="601" name="b601"/>
          <p:cNvSpPr/>
          <p:nvPr/>
        </p:nvSpPr>
        <p:spPr>
          <a:xfrm>
            <a:off x="762000" y="2540000"/>
            <a:ext cx="1905000" cy="6604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wrap="square" lIns="45720" tIns="9525" rIns="45720" bIns="9525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</a:rPr>
              <a:t>Query vector  q</a:t>
            </a:r>
          </a:p>
        </p:txBody>
      </p:sp>
      <p:sp>
        <p:nvSpPr>
          <p:cNvPr id="602" name="b602"/>
          <p:cNvSpPr/>
          <p:nvPr/>
        </p:nvSpPr>
        <p:spPr>
          <a:xfrm>
            <a:off x="762000" y="3327400"/>
            <a:ext cx="1905000" cy="660400"/>
          </a:xfrm>
          <a:prstGeom prst="roundRect">
            <a:avLst/>
          </a:prstGeom>
          <a:solidFill>
            <a:srgbClr val="3C9770"/>
          </a:solidFill>
          <a:ln>
            <a:noFill/>
          </a:ln>
        </p:spPr>
        <p:txBody>
          <a:bodyPr wrap="square" lIns="45720" tIns="9525" rIns="45720" bIns="9525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</a:rPr>
              <a:t>Key vector  k</a:t>
            </a:r>
          </a:p>
        </p:txBody>
      </p:sp>
      <p:sp>
        <p:nvSpPr>
          <p:cNvPr id="603" name="ra603"/>
          <p:cNvSpPr/>
          <p:nvPr/>
        </p:nvSpPr>
        <p:spPr>
          <a:xfrm>
            <a:off x="2768600" y="2946400"/>
            <a:ext cx="584200" cy="660400"/>
          </a:xfrm>
          <a:prstGeom prst="rightArrow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b604"/>
          <p:cNvSpPr/>
          <p:nvPr/>
        </p:nvSpPr>
        <p:spPr>
          <a:xfrm>
            <a:off x="3454400" y="2603500"/>
            <a:ext cx="2032000" cy="1371600"/>
          </a:xfrm>
          <a:prstGeom prst="roundRect">
            <a:avLst/>
          </a:prstGeom>
          <a:solidFill>
            <a:srgbClr val="EFEFE6"/>
          </a:solidFill>
          <a:ln w="19050">
            <a:solidFill>
              <a:srgbClr val="D97828"/>
            </a:solidFill>
          </a:ln>
        </p:spPr>
        <p:txBody>
          <a:bodyPr wrap="square" lIns="45720" tIns="9525" rIns="45720" bIns="9525" rtlCol="0" anchor="ctr">
            <a:normAutofit/>
          </a:bodyPr>
          <a:lstStyle/>
          <a:p>
            <a:pPr algn="ctr"/>
            <a:r>
              <a:rPr lang="en-IN" sz="1500" b="1" dirty="0">
                <a:solidFill>
                  <a:srgbClr val="212121"/>
                </a:solidFill>
              </a:rPr>
              <a:t>Dot product</a:t>
            </a:r>
          </a:p>
          <a:p>
            <a:pPr algn="ctr"/>
            <a:r>
              <a:rPr lang="en-IN" sz="1900" b="1" dirty="0">
                <a:solidFill>
                  <a:srgbClr val="A23C33"/>
                </a:solidFill>
              </a:rPr>
              <a:t>q · k</a:t>
            </a:r>
          </a:p>
        </p:txBody>
      </p:sp>
      <p:sp>
        <p:nvSpPr>
          <p:cNvPr id="605" name="ra605"/>
          <p:cNvSpPr/>
          <p:nvPr/>
        </p:nvSpPr>
        <p:spPr>
          <a:xfrm>
            <a:off x="5588000" y="2946400"/>
            <a:ext cx="584200" cy="660400"/>
          </a:xfrm>
          <a:prstGeom prst="rightArrow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b606"/>
          <p:cNvSpPr/>
          <p:nvPr/>
        </p:nvSpPr>
        <p:spPr>
          <a:xfrm>
            <a:off x="6273800" y="2603500"/>
            <a:ext cx="1905000" cy="1371600"/>
          </a:xfrm>
          <a:prstGeom prst="roundRect">
            <a:avLst/>
          </a:prstGeom>
          <a:solidFill>
            <a:srgbClr val="D97828"/>
          </a:solidFill>
          <a:ln>
            <a:noFill/>
          </a:ln>
        </p:spPr>
        <p:txBody>
          <a:bodyPr wrap="square" lIns="45720" tIns="9525" rIns="45720" bIns="9525" rtlCol="0" anchor="ctr">
            <a:normAutofit/>
          </a:bodyPr>
          <a:lstStyle/>
          <a:p>
            <a:pPr algn="ctr"/>
            <a:r>
              <a:rPr lang="en-IN" sz="1600" b="1" dirty="0">
                <a:solidFill>
                  <a:srgbClr val="FFFFFF"/>
                </a:solidFill>
              </a:rPr>
              <a:t>Softmax</a:t>
            </a:r>
          </a:p>
          <a:p>
            <a:pPr algn="ctr"/>
            <a:r>
              <a:rPr lang="en-IN" sz="1300" dirty="0">
                <a:solidFill>
                  <a:srgbClr val="FFFFFF"/>
                </a:solidFill>
              </a:rPr>
              <a:t>normalise scores</a:t>
            </a:r>
          </a:p>
        </p:txBody>
      </p:sp>
      <p:sp>
        <p:nvSpPr>
          <p:cNvPr id="607" name="ra607"/>
          <p:cNvSpPr/>
          <p:nvPr/>
        </p:nvSpPr>
        <p:spPr>
          <a:xfrm>
            <a:off x="8280400" y="2946400"/>
            <a:ext cx="584200" cy="660400"/>
          </a:xfrm>
          <a:prstGeom prst="rightArrow">
            <a:avLst/>
          </a:prstGeom>
          <a:solidFill>
            <a:srgbClr val="A23C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b608"/>
          <p:cNvSpPr/>
          <p:nvPr/>
        </p:nvSpPr>
        <p:spPr>
          <a:xfrm>
            <a:off x="8966200" y="2603500"/>
            <a:ext cx="2032000" cy="1371600"/>
          </a:xfrm>
          <a:prstGeom prst="roundRect">
            <a:avLst/>
          </a:prstGeom>
          <a:solidFill>
            <a:srgbClr val="83992A"/>
          </a:solidFill>
          <a:ln>
            <a:noFill/>
          </a:ln>
        </p:spPr>
        <p:txBody>
          <a:bodyPr wrap="square" lIns="45720" tIns="9525" rIns="45720" bIns="9525" rtlCol="0" anchor="ctr">
            <a:normAutofit/>
          </a:bodyPr>
          <a:lstStyle/>
          <a:p>
            <a:pPr algn="ctr"/>
            <a:r>
              <a:rPr lang="en-IN" sz="1600" b="1" dirty="0">
                <a:solidFill>
                  <a:srgbClr val="FFFFFF"/>
                </a:solidFill>
              </a:rPr>
              <a:t>Attention</a:t>
            </a:r>
          </a:p>
          <a:p>
            <a:pPr algn="ctr"/>
            <a:r>
              <a:rPr lang="en-IN" sz="1600" b="1" dirty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609" name="steps"/>
          <p:cNvSpPr/>
          <p:nvPr/>
        </p:nvSpPr>
        <p:spPr>
          <a:xfrm>
            <a:off x="762000" y="4381500"/>
            <a:ext cx="10668000" cy="20955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350000" indent="-350000">
              <a:lnSpc>
                <a:spcPts val="2000"/>
              </a:lnSpc>
              <a:spcAft>
                <a:spcPts val="700"/>
              </a:spcAft>
              <a:buFont typeface="Arial"/>
              <a:buAutoNum type="arabicPeriod"/>
            </a:pPr>
            <a:r>
              <a:rPr lang="en-IN" sz="1600" dirty="0">
                <a:solidFill>
                  <a:srgbClr val="212121"/>
                </a:solidFill>
              </a:rPr>
              <a:t>The model creates a </a:t>
            </a:r>
            <a:r>
              <a:rPr lang="en-IN" sz="1600" b="1" dirty="0">
                <a:solidFill>
                  <a:srgbClr val="212121"/>
                </a:solidFill>
              </a:rPr>
              <a:t>query (q)</a:t>
            </a:r>
            <a:r>
              <a:rPr lang="en-IN" sz="1600" dirty="0">
                <a:solidFill>
                  <a:srgbClr val="212121"/>
                </a:solidFill>
              </a:rPr>
              <a:t> vector for the attending word and a </a:t>
            </a:r>
            <a:r>
              <a:rPr lang="en-IN" sz="1600" b="1" dirty="0">
                <a:solidFill>
                  <a:srgbClr val="212121"/>
                </a:solidFill>
              </a:rPr>
              <a:t>key (k)</a:t>
            </a:r>
            <a:r>
              <a:rPr lang="en-IN" sz="1600" dirty="0">
                <a:solidFill>
                  <a:srgbClr val="212121"/>
                </a:solidFill>
              </a:rPr>
              <a:t> vector for the word being attended to — both are linear transformations of the input.</a:t>
            </a:r>
          </a:p>
          <a:p>
            <a:pPr marL="350000" indent="-350000">
              <a:lnSpc>
                <a:spcPts val="2000"/>
              </a:lnSpc>
              <a:spcAft>
                <a:spcPts val="700"/>
              </a:spcAft>
              <a:buFont typeface="Arial"/>
              <a:buAutoNum type="arabicPeriod"/>
            </a:pPr>
            <a:r>
              <a:rPr lang="en-IN" sz="1600" dirty="0">
                <a:solidFill>
                  <a:srgbClr val="212121"/>
                </a:solidFill>
              </a:rPr>
              <a:t>The </a:t>
            </a:r>
            <a:r>
              <a:rPr lang="en-IN" sz="1600" b="1" dirty="0">
                <a:solidFill>
                  <a:srgbClr val="212121"/>
                </a:solidFill>
              </a:rPr>
              <a:t>compatibility score</a:t>
            </a:r>
            <a:r>
              <a:rPr lang="en-IN" sz="1600" dirty="0">
                <a:solidFill>
                  <a:srgbClr val="212121"/>
                </a:solidFill>
              </a:rPr>
              <a:t> is the dot product q · k — how strongly the two words attend to each other.</a:t>
            </a:r>
          </a:p>
          <a:p>
            <a:pPr marL="350000" indent="-350000">
              <a:lnSpc>
                <a:spcPts val="2000"/>
              </a:lnSpc>
              <a:spcAft>
                <a:spcPts val="700"/>
              </a:spcAft>
              <a:buFont typeface="Arial"/>
              <a:buAutoNum type="arabicPeriod"/>
            </a:pPr>
            <a:r>
              <a:rPr lang="en-IN" sz="1600" dirty="0">
                <a:solidFill>
                  <a:srgbClr val="212121"/>
                </a:solidFill>
              </a:rPr>
              <a:t>Applying </a:t>
            </a:r>
            <a:r>
              <a:rPr lang="en-IN" sz="1600" b="1" dirty="0">
                <a:solidFill>
                  <a:srgbClr val="212121"/>
                </a:solidFill>
              </a:rPr>
              <a:t>softmax</a:t>
            </a:r>
            <a:r>
              <a:rPr lang="en-IN" sz="1600" dirty="0">
                <a:solidFill>
                  <a:srgbClr val="212121"/>
                </a:solidFill>
              </a:rPr>
              <a:t> normalises the scores into the final </a:t>
            </a:r>
            <a:r>
              <a:rPr lang="en-IN" sz="1600" b="1" dirty="0">
                <a:solidFill>
                  <a:srgbClr val="212121"/>
                </a:solidFill>
              </a:rPr>
              <a:t>attention weights.</a:t>
            </a:r>
          </a:p>
        </p:txBody>
      </p:sp>
    </p:spTree>
    <p:extLst>
      <p:ext uri="{BB962C8B-B14F-4D97-AF65-F5344CB8AC3E}">
        <p14:creationId xmlns:p14="http://schemas.microsoft.com/office/powerpoint/2010/main" val="2966185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2BE2-6977-9863-9D1F-405188EE0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Transformer-Based Foundation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A9BA8-B1CC-09BC-C234-7BF5586FE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Three variants — each with a distinct training objective and set of tasks</a:t>
            </a:r>
          </a:p>
        </p:txBody>
      </p:sp>
    </p:spTree>
    <p:extLst>
      <p:ext uri="{BB962C8B-B14F-4D97-AF65-F5344CB8AC3E}">
        <p14:creationId xmlns:p14="http://schemas.microsoft.com/office/powerpoint/2010/main" val="1387584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F9F98-316B-2A1F-1546-8EC82E755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Three Transformer Variants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E64351-C488-4935-959B-C9E031482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337352"/>
              </p:ext>
            </p:extLst>
          </p:nvPr>
        </p:nvGraphicFramePr>
        <p:xfrm>
          <a:off x="508000" y="2476500"/>
          <a:ext cx="11176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726798818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268117102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869142659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06579476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endParaRPr lang="en-IN"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5A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Encoder-only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Decoder-only</a:t>
                      </a:r>
                    </a:p>
                  </a:txBody>
                  <a:tcPr anchor="ctr">
                    <a:solidFill>
                      <a:srgbClr val="A23C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Encoder-decoder</a:t>
                      </a:r>
                    </a:p>
                  </a:txBody>
                  <a:tcPr anchor="ctr">
                    <a:solidFill>
                      <a:srgbClr val="3C9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246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3A3A2A"/>
                          </a:solidFill>
                        </a:rPr>
                        <a:t>Also called</a:t>
                      </a:r>
                    </a:p>
                  </a:txBody>
                  <a:tcPr anchor="ctr">
                    <a:solidFill>
                      <a:srgbClr val="ED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Autoencoder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Autoregressive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Sequence-to-sequence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79224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3A3A2A"/>
                          </a:solidFill>
                        </a:rPr>
                        <a:t>Training objective</a:t>
                      </a:r>
                    </a:p>
                  </a:txBody>
                  <a:tcPr anchor="ctr">
                    <a:solidFill>
                      <a:srgbClr val="ED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Masked LM (MLM) — denoising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Causal LM (CLM) — next token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Span corruption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2437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3A3A2A"/>
                          </a:solidFill>
                        </a:rPr>
                        <a:t>Context</a:t>
                      </a:r>
                    </a:p>
                  </a:txBody>
                  <a:tcPr anchor="ctr">
                    <a:solidFill>
                      <a:srgbClr val="ED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Bidirectional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Unidirectional (causal)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Encoder + decoder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09055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3A3A2A"/>
                          </a:solidFill>
                        </a:rPr>
                        <a:t>Best for</a:t>
                      </a:r>
                    </a:p>
                  </a:txBody>
                  <a:tcPr anchor="ctr">
                    <a:solidFill>
                      <a:srgbClr val="ED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Classification, semantic search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Generative tasks, Q&amp;A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Translation, summarization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19789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3A3A2A"/>
                          </a:solidFill>
                        </a:rPr>
                        <a:t>Examples</a:t>
                      </a:r>
                    </a:p>
                  </a:txBody>
                  <a:tcPr anchor="ctr">
                    <a:solidFill>
                      <a:srgbClr val="ED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BERT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GPT-3, Falcon, LLaMA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T5, FLAN-T5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2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710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6EA97-C68D-EC2B-8499-284317079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Pretraining Datasets</a:t>
            </a:r>
          </a:p>
        </p:txBody>
      </p:sp>
      <p:sp>
        <p:nvSpPr>
          <p:cNvPr id="701" name="c701"/>
          <p:cNvSpPr/>
          <p:nvPr/>
        </p:nvSpPr>
        <p:spPr>
          <a:xfrm>
            <a:off x="508000" y="2489200"/>
            <a:ext cx="11176000" cy="584200"/>
          </a:xfrm>
          <a:prstGeom prst="roundRect">
            <a:avLst/>
          </a:prstGeom>
          <a:solidFill>
            <a:srgbClr val="EDEFE2"/>
          </a:solidFill>
          <a:ln>
            <a:noFill/>
          </a:ln>
        </p:spPr>
        <p:txBody>
          <a:bodyPr wrap="square" lIns="64008" tIns="45720" rIns="64008" bIns="45720" rtlCol="0" anchor="ctr">
            <a:normAutofit/>
          </a:bodyPr>
          <a:lstStyle/>
          <a:p>
            <a:pPr algn="l"/>
            <a:r>
              <a:rPr lang="en-IN" sz="1500" dirty="0">
                <a:solidFill>
                  <a:srgbClr val="212121"/>
                </a:solidFill>
              </a:rPr>
              <a:t>Models learn during pretraining from terabytes–petabytes of text — mostly public internet data, sometimes private S3 data.</a:t>
            </a:r>
          </a:p>
        </p:txBody>
      </p:sp>
      <p:sp>
        <p:nvSpPr>
          <p:cNvPr id="702" name="c702"/>
          <p:cNvSpPr/>
          <p:nvPr/>
        </p:nvSpPr>
        <p:spPr>
          <a:xfrm>
            <a:off x="508000" y="3276600"/>
            <a:ext cx="209296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8C5"/>
            </a:solidFill>
          </a:ln>
        </p:spPr>
        <p:txBody>
          <a:bodyPr wrap="square" lIns="64008" tIns="45720" rIns="64008" bIns="45720" rtlCol="0" anchor="ctr">
            <a:normAutofit/>
          </a:bodyPr>
          <a:lstStyle/>
          <a:p>
            <a:endParaRPr lang="en-IN"/>
          </a:p>
        </p:txBody>
      </p:sp>
      <p:sp>
        <p:nvSpPr>
          <p:cNvPr id="703" name="c703"/>
          <p:cNvSpPr/>
          <p:nvPr/>
        </p:nvSpPr>
        <p:spPr>
          <a:xfrm>
            <a:off x="508000" y="3276600"/>
            <a:ext cx="2092960" cy="5588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wrap="square" lIns="64008" tIns="45720" rIns="64008" bIns="45720" rtlCol="0" anchor="ctr">
            <a:normAutofit/>
          </a:bodyPr>
          <a:lstStyle/>
          <a:p>
            <a:pPr algn="ctr"/>
            <a:r>
              <a:rPr lang="en-IN" sz="1450" b="1" dirty="0">
                <a:solidFill>
                  <a:srgbClr val="FFFFFF"/>
                </a:solidFill>
              </a:rPr>
              <a:t>Wikipedia</a:t>
            </a:r>
          </a:p>
        </p:txBody>
      </p:sp>
      <p:sp>
        <p:nvSpPr>
          <p:cNvPr id="704" name="c704"/>
          <p:cNvSpPr/>
          <p:nvPr/>
        </p:nvSpPr>
        <p:spPr>
          <a:xfrm>
            <a:off x="508000" y="3911600"/>
            <a:ext cx="2092960" cy="149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rtlCol="0" anchor="ctr">
            <a:normAutofit/>
          </a:bodyPr>
          <a:lstStyle/>
          <a:p>
            <a:pPr algn="ctr"/>
            <a:r>
              <a:rPr lang="en-IN" sz="1350" dirty="0">
                <a:solidFill>
                  <a:srgbClr val="212121"/>
                </a:solidFill>
              </a:rPr>
              <a:t>Multilingual extract of its contents (2022).</a:t>
            </a:r>
          </a:p>
        </p:txBody>
      </p:sp>
      <p:sp>
        <p:nvSpPr>
          <p:cNvPr id="705" name="c705"/>
          <p:cNvSpPr/>
          <p:nvPr/>
        </p:nvSpPr>
        <p:spPr>
          <a:xfrm>
            <a:off x="2778760" y="3276600"/>
            <a:ext cx="209296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8C5"/>
            </a:solidFill>
          </a:ln>
        </p:spPr>
        <p:txBody>
          <a:bodyPr wrap="square" lIns="64008" tIns="45720" rIns="64008" bIns="45720" rtlCol="0" anchor="ctr">
            <a:normAutofit/>
          </a:bodyPr>
          <a:lstStyle/>
          <a:p>
            <a:endParaRPr lang="en-IN"/>
          </a:p>
        </p:txBody>
      </p:sp>
      <p:sp>
        <p:nvSpPr>
          <p:cNvPr id="706" name="c706"/>
          <p:cNvSpPr/>
          <p:nvPr/>
        </p:nvSpPr>
        <p:spPr>
          <a:xfrm>
            <a:off x="2778760" y="3276600"/>
            <a:ext cx="2092960" cy="558800"/>
          </a:xfrm>
          <a:prstGeom prst="roundRect">
            <a:avLst/>
          </a:prstGeom>
          <a:solidFill>
            <a:srgbClr val="3C9770"/>
          </a:solidFill>
          <a:ln>
            <a:noFill/>
          </a:ln>
        </p:spPr>
        <p:txBody>
          <a:bodyPr wrap="square" lIns="64008" tIns="45720" rIns="64008" bIns="45720" rtlCol="0" anchor="ctr">
            <a:normAutofit/>
          </a:bodyPr>
          <a:lstStyle/>
          <a:p>
            <a:pPr algn="ctr"/>
            <a:r>
              <a:rPr lang="en-IN" sz="1450" b="1" dirty="0">
                <a:solidFill>
                  <a:srgbClr val="FFFFFF"/>
                </a:solidFill>
              </a:rPr>
              <a:t>Common Crawl</a:t>
            </a:r>
          </a:p>
        </p:txBody>
      </p:sp>
      <p:sp>
        <p:nvSpPr>
          <p:cNvPr id="707" name="c707"/>
          <p:cNvSpPr/>
          <p:nvPr/>
        </p:nvSpPr>
        <p:spPr>
          <a:xfrm>
            <a:off x="2778760" y="3911600"/>
            <a:ext cx="2092960" cy="149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rtlCol="0" anchor="ctr">
            <a:normAutofit/>
          </a:bodyPr>
          <a:lstStyle/>
          <a:p>
            <a:pPr algn="ctr"/>
            <a:r>
              <a:rPr lang="en-IN" sz="1350" dirty="0">
                <a:solidFill>
                  <a:srgbClr val="212121"/>
                </a:solidFill>
              </a:rPr>
              <a:t>Monthly dump of text from the whole internet.</a:t>
            </a:r>
          </a:p>
        </p:txBody>
      </p:sp>
      <p:sp>
        <p:nvSpPr>
          <p:cNvPr id="708" name="c708"/>
          <p:cNvSpPr/>
          <p:nvPr/>
        </p:nvSpPr>
        <p:spPr>
          <a:xfrm>
            <a:off x="5049520" y="3276600"/>
            <a:ext cx="209296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8C5"/>
            </a:solidFill>
          </a:ln>
        </p:spPr>
        <p:txBody>
          <a:bodyPr wrap="square" lIns="64008" tIns="45720" rIns="64008" bIns="45720" rtlCol="0" anchor="ctr">
            <a:normAutofit/>
          </a:bodyPr>
          <a:lstStyle/>
          <a:p>
            <a:endParaRPr lang="en-IN"/>
          </a:p>
        </p:txBody>
      </p:sp>
      <p:sp>
        <p:nvSpPr>
          <p:cNvPr id="709" name="c709"/>
          <p:cNvSpPr/>
          <p:nvPr/>
        </p:nvSpPr>
        <p:spPr>
          <a:xfrm>
            <a:off x="5049520" y="3276600"/>
            <a:ext cx="2092960" cy="558800"/>
          </a:xfrm>
          <a:prstGeom prst="roundRect">
            <a:avLst/>
          </a:prstGeom>
          <a:solidFill>
            <a:srgbClr val="D97828"/>
          </a:solidFill>
          <a:ln>
            <a:noFill/>
          </a:ln>
        </p:spPr>
        <p:txBody>
          <a:bodyPr wrap="square" lIns="64008" tIns="45720" rIns="64008" bIns="45720" rtlCol="0" anchor="ctr">
            <a:normAutofit/>
          </a:bodyPr>
          <a:lstStyle/>
          <a:p>
            <a:pPr algn="ctr"/>
            <a:r>
              <a:rPr lang="en-IN" sz="1450" b="1" dirty="0">
                <a:solidFill>
                  <a:srgbClr val="FFFFFF"/>
                </a:solidFill>
              </a:rPr>
              <a:t>C4</a:t>
            </a:r>
          </a:p>
        </p:txBody>
      </p:sp>
      <p:sp>
        <p:nvSpPr>
          <p:cNvPr id="710" name="c710"/>
          <p:cNvSpPr/>
          <p:nvPr/>
        </p:nvSpPr>
        <p:spPr>
          <a:xfrm>
            <a:off x="5049520" y="3911600"/>
            <a:ext cx="2092960" cy="149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rtlCol="0" anchor="ctr">
            <a:normAutofit/>
          </a:bodyPr>
          <a:lstStyle/>
          <a:p>
            <a:pPr algn="ctr"/>
            <a:r>
              <a:rPr lang="en-IN" sz="1350" dirty="0">
                <a:solidFill>
                  <a:srgbClr val="212121"/>
                </a:solidFill>
              </a:rPr>
              <a:t>Colossal Clean Crawled Corpus — cleaned web text.</a:t>
            </a:r>
          </a:p>
        </p:txBody>
      </p:sp>
      <p:sp>
        <p:nvSpPr>
          <p:cNvPr id="711" name="c711"/>
          <p:cNvSpPr/>
          <p:nvPr/>
        </p:nvSpPr>
        <p:spPr>
          <a:xfrm>
            <a:off x="7320280" y="3276600"/>
            <a:ext cx="209296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8C5"/>
            </a:solidFill>
          </a:ln>
        </p:spPr>
        <p:txBody>
          <a:bodyPr wrap="square" lIns="64008" tIns="45720" rIns="64008" bIns="45720" rtlCol="0" anchor="ctr">
            <a:normAutofit/>
          </a:bodyPr>
          <a:lstStyle/>
          <a:p>
            <a:endParaRPr lang="en-IN"/>
          </a:p>
        </p:txBody>
      </p:sp>
      <p:sp>
        <p:nvSpPr>
          <p:cNvPr id="712" name="c712"/>
          <p:cNvSpPr/>
          <p:nvPr/>
        </p:nvSpPr>
        <p:spPr>
          <a:xfrm>
            <a:off x="7320280" y="3276600"/>
            <a:ext cx="2092960" cy="558800"/>
          </a:xfrm>
          <a:prstGeom prst="roundRect">
            <a:avLst/>
          </a:prstGeom>
          <a:solidFill>
            <a:srgbClr val="A23C33"/>
          </a:solidFill>
          <a:ln>
            <a:noFill/>
          </a:ln>
        </p:spPr>
        <p:txBody>
          <a:bodyPr wrap="square" lIns="64008" tIns="45720" rIns="64008" bIns="45720" rtlCol="0" anchor="ctr">
            <a:normAutofit/>
          </a:bodyPr>
          <a:lstStyle/>
          <a:p>
            <a:pPr algn="ctr"/>
            <a:r>
              <a:rPr lang="en-IN" sz="1450" b="1" dirty="0">
                <a:solidFill>
                  <a:srgbClr val="FFFFFF"/>
                </a:solidFill>
              </a:rPr>
              <a:t>The Pile</a:t>
            </a:r>
          </a:p>
        </p:txBody>
      </p:sp>
      <p:sp>
        <p:nvSpPr>
          <p:cNvPr id="713" name="c713"/>
          <p:cNvSpPr/>
          <p:nvPr/>
        </p:nvSpPr>
        <p:spPr>
          <a:xfrm>
            <a:off x="7320280" y="3911600"/>
            <a:ext cx="2092960" cy="149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rtlCol="0" anchor="ctr">
            <a:normAutofit/>
          </a:bodyPr>
          <a:lstStyle/>
          <a:p>
            <a:pPr algn="ctr"/>
            <a:r>
              <a:rPr lang="en-IN" sz="1350" dirty="0">
                <a:solidFill>
                  <a:srgbClr val="212121"/>
                </a:solidFill>
              </a:rPr>
              <a:t>800 GB of diverse, curated text sources.</a:t>
            </a:r>
          </a:p>
        </p:txBody>
      </p:sp>
      <p:sp>
        <p:nvSpPr>
          <p:cNvPr id="714" name="c714"/>
          <p:cNvSpPr/>
          <p:nvPr/>
        </p:nvSpPr>
        <p:spPr>
          <a:xfrm>
            <a:off x="9591040" y="3276600"/>
            <a:ext cx="209296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8C5"/>
            </a:solidFill>
          </a:ln>
        </p:spPr>
        <p:txBody>
          <a:bodyPr wrap="square" lIns="64008" tIns="45720" rIns="64008" bIns="45720" rtlCol="0" anchor="ctr">
            <a:normAutofit/>
          </a:bodyPr>
          <a:lstStyle/>
          <a:p>
            <a:endParaRPr lang="en-IN"/>
          </a:p>
        </p:txBody>
      </p:sp>
      <p:sp>
        <p:nvSpPr>
          <p:cNvPr id="715" name="c715"/>
          <p:cNvSpPr/>
          <p:nvPr/>
        </p:nvSpPr>
        <p:spPr>
          <a:xfrm>
            <a:off x="9591040" y="3276600"/>
            <a:ext cx="2092960" cy="558800"/>
          </a:xfrm>
          <a:prstGeom prst="roundRect">
            <a:avLst/>
          </a:prstGeom>
          <a:solidFill>
            <a:srgbClr val="83992A"/>
          </a:solidFill>
          <a:ln>
            <a:noFill/>
          </a:ln>
        </p:spPr>
        <p:txBody>
          <a:bodyPr wrap="square" lIns="64008" tIns="45720" rIns="64008" bIns="45720" rtlCol="0" anchor="ctr">
            <a:normAutofit/>
          </a:bodyPr>
          <a:lstStyle/>
          <a:p>
            <a:pPr algn="ctr"/>
            <a:r>
              <a:rPr lang="en-IN" sz="1450" b="1" dirty="0">
                <a:solidFill>
                  <a:srgbClr val="FFFFFF"/>
                </a:solidFill>
              </a:rPr>
              <a:t>RefinedWeb</a:t>
            </a:r>
          </a:p>
        </p:txBody>
      </p:sp>
      <p:sp>
        <p:nvSpPr>
          <p:cNvPr id="716" name="c716"/>
          <p:cNvSpPr/>
          <p:nvPr/>
        </p:nvSpPr>
        <p:spPr>
          <a:xfrm>
            <a:off x="9591040" y="3911600"/>
            <a:ext cx="2092960" cy="149860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rtlCol="0" anchor="ctr">
            <a:normAutofit/>
          </a:bodyPr>
          <a:lstStyle/>
          <a:p>
            <a:pPr algn="ctr"/>
            <a:r>
              <a:rPr lang="en-IN" sz="1350" dirty="0">
                <a:solidFill>
                  <a:srgbClr val="212121"/>
                </a:solidFill>
              </a:rPr>
              <a:t>Filters out machine-generated text statistically.</a:t>
            </a:r>
          </a:p>
        </p:txBody>
      </p:sp>
      <p:sp>
        <p:nvSpPr>
          <p:cNvPr id="717" name="c717"/>
          <p:cNvSpPr/>
          <p:nvPr/>
        </p:nvSpPr>
        <p:spPr>
          <a:xfrm>
            <a:off x="508000" y="57404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rtlCol="0" anchor="ctr">
            <a:normAutofit/>
          </a:bodyPr>
          <a:lstStyle/>
          <a:p>
            <a:pPr algn="l"/>
            <a:r>
              <a:rPr lang="en-IN" sz="1300" dirty="0">
                <a:solidFill>
                  <a:srgbClr val="5A6B2F"/>
                </a:solidFill>
              </a:rPr>
              <a:t>The Falcon family was trained on 1.5 trillion tokens of RefinedWeb — processed on 257 SageMaker instances (18,504 CPUs, 37 TB RAM).</a:t>
            </a:r>
          </a:p>
        </p:txBody>
      </p:sp>
    </p:spTree>
    <p:extLst>
      <p:ext uri="{BB962C8B-B14F-4D97-AF65-F5344CB8AC3E}">
        <p14:creationId xmlns:p14="http://schemas.microsoft.com/office/powerpoint/2010/main" val="1615672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70FD4-2DAF-55CD-9576-9D76EF80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Scaling Laws</a:t>
            </a:r>
          </a:p>
        </p:txBody>
      </p:sp>
      <p:sp>
        <p:nvSpPr>
          <p:cNvPr id="751" name="bullets"/>
          <p:cNvSpPr/>
          <p:nvPr/>
        </p:nvSpPr>
        <p:spPr>
          <a:xfrm>
            <a:off x="584200" y="2540000"/>
            <a:ext cx="5334000" cy="368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>
              <a:lnSpc>
                <a:spcPts val="2000"/>
              </a:lnSpc>
              <a:spcAft>
                <a:spcPts val="800"/>
              </a:spcAft>
              <a:buFont typeface="Arial"/>
              <a:buChar char="•"/>
            </a:pPr>
            <a:r>
              <a:rPr lang="en-IN" sz="1600" dirty="0">
                <a:solidFill>
                  <a:srgbClr val="212121"/>
                </a:solidFill>
              </a:rPr>
              <a:t>Scaling laws describe the trade-off between </a:t>
            </a:r>
            <a:r>
              <a:rPr lang="en-IN" sz="1600" b="1" dirty="0">
                <a:solidFill>
                  <a:srgbClr val="212121"/>
                </a:solidFill>
              </a:rPr>
              <a:t>model size, dataset size, and compute budget</a:t>
            </a:r>
            <a:r>
              <a:rPr lang="en-IN" sz="1600" dirty="0">
                <a:solidFill>
                  <a:srgbClr val="212121"/>
                </a:solidFill>
              </a:rPr>
              <a:t> (GPU hours / FLOPs).</a:t>
            </a:r>
          </a:p>
          <a:p>
            <a:pPr marL="285750" indent="-285750">
              <a:lnSpc>
                <a:spcPts val="2000"/>
              </a:lnSpc>
              <a:spcAft>
                <a:spcPts val="800"/>
              </a:spcAft>
              <a:buFont typeface="Arial"/>
              <a:buChar char="•"/>
            </a:pPr>
            <a:r>
              <a:rPr lang="en-IN" sz="1600" dirty="0">
                <a:solidFill>
                  <a:srgbClr val="212121"/>
                </a:solidFill>
              </a:rPr>
              <a:t>You can improve performance by increasing </a:t>
            </a:r>
            <a:r>
              <a:rPr lang="en-IN" sz="1600" b="1" dirty="0">
                <a:solidFill>
                  <a:srgbClr val="212121"/>
                </a:solidFill>
              </a:rPr>
              <a:t>either</a:t>
            </a:r>
            <a:r>
              <a:rPr lang="en-IN" sz="1600" dirty="0">
                <a:solidFill>
                  <a:srgbClr val="212121"/>
                </a:solidFill>
              </a:rPr>
              <a:t> the number of tokens </a:t>
            </a:r>
            <a:r>
              <a:rPr lang="en-IN" sz="1600" b="1" dirty="0">
                <a:solidFill>
                  <a:srgbClr val="212121"/>
                </a:solidFill>
              </a:rPr>
              <a:t>or</a:t>
            </a:r>
            <a:r>
              <a:rPr lang="en-IN" sz="1600" dirty="0">
                <a:solidFill>
                  <a:srgbClr val="212121"/>
                </a:solidFill>
              </a:rPr>
              <a:t> the number of parameters.</a:t>
            </a:r>
          </a:p>
          <a:p>
            <a:pPr marL="285750" indent="-285750">
              <a:lnSpc>
                <a:spcPts val="2000"/>
              </a:lnSpc>
              <a:spcAft>
                <a:spcPts val="800"/>
              </a:spcAft>
              <a:buFont typeface="Arial"/>
              <a:buChar char="•"/>
            </a:pPr>
            <a:r>
              <a:rPr lang="en-IN" sz="1600" dirty="0">
                <a:solidFill>
                  <a:srgbClr val="212121"/>
                </a:solidFill>
              </a:rPr>
              <a:t>Compute is measured in </a:t>
            </a:r>
            <a:r>
              <a:rPr lang="en-IN" sz="1600" b="1" dirty="0">
                <a:solidFill>
                  <a:srgbClr val="212121"/>
                </a:solidFill>
              </a:rPr>
              <a:t>petaflop-days</a:t>
            </a:r>
            <a:r>
              <a:rPr lang="en-IN" sz="1600" dirty="0">
                <a:solidFill>
                  <a:srgbClr val="212121"/>
                </a:solidFill>
              </a:rPr>
              <a:t> — larger models need far larger budgets (note the log scale).</a:t>
            </a:r>
          </a:p>
          <a:p>
            <a:pPr marL="285750" indent="-285750">
              <a:lnSpc>
                <a:spcPts val="2000"/>
              </a:lnSpc>
              <a:spcAft>
                <a:spcPts val="800"/>
              </a:spcAft>
              <a:buFont typeface="Arial"/>
              <a:buChar char="•"/>
            </a:pPr>
            <a:r>
              <a:rPr lang="en-IN" sz="1600" dirty="0">
                <a:solidFill>
                  <a:srgbClr val="212121"/>
                </a:solidFill>
              </a:rPr>
              <a:t>GPT-3 (175B) outperforms T5 and BERT on generative tasks, but at much higher compute cost.</a:t>
            </a:r>
          </a:p>
        </p:txBody>
      </p:sp>
      <p:graphicFrame>
        <p:nvGraphicFramePr>
          <p:cNvPr id="201" name="Chart 1"/>
          <p:cNvGraphicFramePr/>
          <p:nvPr/>
        </p:nvGraphicFramePr>
        <p:xfrm>
          <a:off x="6096000" y="2476500"/>
          <a:ext cx="5588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74065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EA5A-AE19-22E5-B43F-EC0B79AF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Compute-Optimal Models: Chinchilla</a:t>
            </a:r>
          </a:p>
        </p:txBody>
      </p:sp>
      <p:sp>
        <p:nvSpPr>
          <p:cNvPr id="760" name="intro"/>
          <p:cNvSpPr/>
          <p:nvPr/>
        </p:nvSpPr>
        <p:spPr>
          <a:xfrm>
            <a:off x="508000" y="2489200"/>
            <a:ext cx="11176000" cy="660400"/>
          </a:xfrm>
          <a:prstGeom prst="roundRect">
            <a:avLst/>
          </a:prstGeom>
          <a:solidFill>
            <a:srgbClr val="EDEFE2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n-IN" sz="1500" dirty="0">
                <a:solidFill>
                  <a:srgbClr val="212121"/>
                </a:solidFill>
              </a:rPr>
              <a:t>The Chinchilla paper (2022) found the optimal training dataset is </a:t>
            </a:r>
            <a:r>
              <a:rPr lang="en-IN" sz="1500" b="1" dirty="0">
                <a:solidFill>
                  <a:srgbClr val="A23C33"/>
                </a:solidFill>
              </a:rPr>
              <a:t>20× the number of model parameters</a:t>
            </a:r>
            <a:r>
              <a:rPr lang="en-IN" sz="1500" dirty="0">
                <a:solidFill>
                  <a:srgbClr val="212121"/>
                </a:solidFill>
              </a:rPr>
              <a:t>. Below that ratio, a model is overparameterized and undertrained.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F1BAD2-AA1E-452C-B199-BFA8D47EC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118273"/>
              </p:ext>
            </p:extLst>
          </p:nvPr>
        </p:nvGraphicFramePr>
        <p:xfrm>
          <a:off x="508000" y="3327400"/>
          <a:ext cx="11176000" cy="2921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63189985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57276584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1569277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6430922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979964228"/>
                    </a:ext>
                  </a:extLst>
                </a:gridCol>
              </a:tblGrid>
              <a:tr h="41728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5A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Parameters</a:t>
                      </a:r>
                    </a:p>
                  </a:txBody>
                  <a:tcPr anchor="ctr">
                    <a:solidFill>
                      <a:srgbClr val="5A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Optimal dataset (20×)</a:t>
                      </a:r>
                    </a:p>
                  </a:txBody>
                  <a:tcPr anchor="ctr">
                    <a:solidFill>
                      <a:srgbClr val="5A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Actual dataset</a:t>
                      </a:r>
                    </a:p>
                  </a:txBody>
                  <a:tcPr anchor="ctr">
                    <a:solidFill>
                      <a:srgbClr val="5A6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 anchor="ctr">
                    <a:solidFill>
                      <a:srgbClr val="5A6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226557"/>
                  </a:ext>
                </a:extLst>
              </a:tr>
              <a:tr h="41728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3A3A2A"/>
                          </a:solidFill>
                        </a:rPr>
                        <a:t>Chinchilla</a:t>
                      </a:r>
                    </a:p>
                  </a:txBody>
                  <a:tcPr anchor="ctr">
                    <a:solidFill>
                      <a:srgbClr val="ED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70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1.4 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1.4 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Compute-optimal</a:t>
                      </a:r>
                    </a:p>
                  </a:txBody>
                  <a:tcPr anchor="ctr">
                    <a:solidFill>
                      <a:srgbClr val="3C9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10097"/>
                  </a:ext>
                </a:extLst>
              </a:tr>
              <a:tr h="41728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3A3A2A"/>
                          </a:solidFill>
                        </a:rPr>
                        <a:t>LLaMA-65B</a:t>
                      </a:r>
                    </a:p>
                  </a:txBody>
                  <a:tcPr anchor="ctr">
                    <a:solidFill>
                      <a:srgbClr val="ED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65 B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1.3 T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1.4 T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Compute-optimal</a:t>
                      </a:r>
                    </a:p>
                  </a:txBody>
                  <a:tcPr anchor="ctr">
                    <a:solidFill>
                      <a:srgbClr val="3C9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77353"/>
                  </a:ext>
                </a:extLst>
              </a:tr>
              <a:tr h="41728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3A3A2A"/>
                          </a:solidFill>
                        </a:rPr>
                        <a:t>GPT-3</a:t>
                      </a:r>
                    </a:p>
                  </a:txBody>
                  <a:tcPr anchor="ctr">
                    <a:solidFill>
                      <a:srgbClr val="ED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175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3.5 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300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Overparameterized</a:t>
                      </a:r>
                    </a:p>
                  </a:txBody>
                  <a:tcPr anchor="ctr">
                    <a:solidFill>
                      <a:srgbClr val="A23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813923"/>
                  </a:ext>
                </a:extLst>
              </a:tr>
              <a:tr h="41728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3A3A2A"/>
                          </a:solidFill>
                        </a:rPr>
                        <a:t>OPT-175B</a:t>
                      </a:r>
                    </a:p>
                  </a:txBody>
                  <a:tcPr anchor="ctr">
                    <a:solidFill>
                      <a:srgbClr val="ED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175 B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3.5 T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180 B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Overparameterized</a:t>
                      </a:r>
                    </a:p>
                  </a:txBody>
                  <a:tcPr anchor="ctr">
                    <a:solidFill>
                      <a:srgbClr val="A23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984175"/>
                  </a:ext>
                </a:extLst>
              </a:tr>
              <a:tr h="41728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3A3A2A"/>
                          </a:solidFill>
                        </a:rPr>
                        <a:t>BLOOM</a:t>
                      </a:r>
                    </a:p>
                  </a:txBody>
                  <a:tcPr anchor="ctr">
                    <a:solidFill>
                      <a:srgbClr val="ED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176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3.5 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350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Overparameterized</a:t>
                      </a:r>
                    </a:p>
                  </a:txBody>
                  <a:tcPr anchor="ctr">
                    <a:solidFill>
                      <a:srgbClr val="A23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807418"/>
                  </a:ext>
                </a:extLst>
              </a:tr>
              <a:tr h="417286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3A3A2A"/>
                          </a:solidFill>
                        </a:rPr>
                        <a:t>Llama 2-70B</a:t>
                      </a:r>
                    </a:p>
                  </a:txBody>
                  <a:tcPr anchor="ctr">
                    <a:solidFill>
                      <a:srgbClr val="ED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70 B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1.4 T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>
                          <a:solidFill>
                            <a:srgbClr val="212121"/>
                          </a:solidFill>
                        </a:rPr>
                        <a:t>2.0 T</a:t>
                      </a:r>
                    </a:p>
                  </a:txBody>
                  <a:tcPr anchor="ctr"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Better than 20×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191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943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DFA9-5A0C-988D-3EBD-CF77DB68B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 &amp; What's Next</a:t>
            </a:r>
          </a:p>
        </p:txBody>
      </p:sp>
      <p:sp>
        <p:nvSpPr>
          <p:cNvPr id="801" name="h"/>
          <p:cNvSpPr/>
          <p:nvPr/>
        </p:nvSpPr>
        <p:spPr>
          <a:xfrm>
            <a:off x="508000" y="2540000"/>
            <a:ext cx="5562600" cy="482600"/>
          </a:xfrm>
          <a:prstGeom prst="roundRect">
            <a:avLst/>
          </a:prstGeom>
          <a:solidFill>
            <a:srgbClr val="5A6B2F"/>
          </a:solidFill>
          <a:ln>
            <a:noFill/>
          </a:ln>
        </p:spPr>
        <p:txBody>
          <a:bodyPr lIns="91440" tIns="0" rIns="91440" bIns="0" anchor="ctr"/>
          <a:lstStyle/>
          <a:p>
            <a:pPr algn="l"/>
            <a:r>
              <a:rPr lang="en-IN" sz="1600" b="1" dirty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802" name="b"/>
          <p:cNvSpPr/>
          <p:nvPr/>
        </p:nvSpPr>
        <p:spPr>
          <a:xfrm>
            <a:off x="508000" y="3124200"/>
            <a:ext cx="5562600" cy="3124200"/>
          </a:xfrm>
          <a:prstGeom prst="roundRect">
            <a:avLst/>
          </a:prstGeom>
          <a:solidFill>
            <a:srgbClr val="F7F8F1"/>
          </a:solidFill>
          <a:ln w="9525">
            <a:solidFill>
              <a:srgbClr val="DDE2CC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marL="228600" indent="-228600">
              <a:lnSpc>
                <a:spcPts val="1900"/>
              </a:lnSpc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solidFill>
                  <a:srgbClr val="212121"/>
                </a:solidFill>
              </a:rPr>
              <a:t>Pretraining</a:t>
            </a:r>
            <a:r>
              <a:rPr lang="en-IN" sz="1500" dirty="0">
                <a:solidFill>
                  <a:srgbClr val="212121"/>
                </a:solidFill>
              </a:rPr>
              <a:t> builds a model's understanding of language using vast text — millions of GPU hours.</a:t>
            </a:r>
          </a:p>
          <a:p>
            <a:pPr marL="228600" indent="-228600">
              <a:lnSpc>
                <a:spcPts val="1900"/>
              </a:lnSpc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solidFill>
                  <a:srgbClr val="212121"/>
                </a:solidFill>
              </a:rPr>
              <a:t>Tokenizers → embeddings → self-attention</a:t>
            </a:r>
            <a:r>
              <a:rPr lang="en-IN" sz="1500" dirty="0">
                <a:solidFill>
                  <a:srgbClr val="212121"/>
                </a:solidFill>
              </a:rPr>
              <a:t> form the Transformer's core processing pipeline.</a:t>
            </a:r>
          </a:p>
          <a:p>
            <a:pPr marL="228600" indent="-228600">
              <a:lnSpc>
                <a:spcPts val="1900"/>
              </a:lnSpc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solidFill>
                  <a:srgbClr val="212121"/>
                </a:solidFill>
              </a:rPr>
              <a:t>Three model types:</a:t>
            </a:r>
            <a:r>
              <a:rPr lang="en-IN" sz="1500" dirty="0">
                <a:solidFill>
                  <a:srgbClr val="212121"/>
                </a:solidFill>
              </a:rPr>
              <a:t> encoder-only, decoder-only, and encoder-decoder — each suits different tasks.</a:t>
            </a:r>
          </a:p>
          <a:p>
            <a:pPr marL="228600" indent="-228600">
              <a:lnSpc>
                <a:spcPts val="1900"/>
              </a:lnSpc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solidFill>
                  <a:srgbClr val="212121"/>
                </a:solidFill>
              </a:rPr>
              <a:t>Scaling laws</a:t>
            </a:r>
            <a:r>
              <a:rPr lang="en-IN" sz="1500" dirty="0">
                <a:solidFill>
                  <a:srgbClr val="212121"/>
                </a:solidFill>
              </a:rPr>
              <a:t> trade off model size, dataset size, and compute; Chinchilla's 20× ratio guides optimal sizing.</a:t>
            </a:r>
          </a:p>
        </p:txBody>
      </p:sp>
      <p:sp>
        <p:nvSpPr>
          <p:cNvPr id="803" name="h"/>
          <p:cNvSpPr/>
          <p:nvPr/>
        </p:nvSpPr>
        <p:spPr>
          <a:xfrm>
            <a:off x="6121400" y="2540000"/>
            <a:ext cx="5562600" cy="482600"/>
          </a:xfrm>
          <a:prstGeom prst="roundRect">
            <a:avLst/>
          </a:prstGeom>
          <a:solidFill>
            <a:srgbClr val="44709D"/>
          </a:solidFill>
          <a:ln>
            <a:noFill/>
          </a:ln>
        </p:spPr>
        <p:txBody>
          <a:bodyPr lIns="91440" tIns="0" rIns="91440" bIns="0" anchor="ctr"/>
          <a:lstStyle/>
          <a:p>
            <a:pPr algn="l"/>
            <a:r>
              <a:rPr lang="en-IN" sz="1600" b="1" dirty="0">
                <a:solidFill>
                  <a:srgbClr val="FFFFFF"/>
                </a:solidFill>
              </a:rPr>
              <a:t>Coming Up in Chapter 4</a:t>
            </a:r>
          </a:p>
        </p:txBody>
      </p:sp>
      <p:sp>
        <p:nvSpPr>
          <p:cNvPr id="804" name="b"/>
          <p:cNvSpPr/>
          <p:nvPr/>
        </p:nvSpPr>
        <p:spPr>
          <a:xfrm>
            <a:off x="6121400" y="3124200"/>
            <a:ext cx="5562600" cy="3124200"/>
          </a:xfrm>
          <a:prstGeom prst="roundRect">
            <a:avLst/>
          </a:prstGeom>
          <a:solidFill>
            <a:srgbClr val="EEF2F6"/>
          </a:solidFill>
          <a:ln w="9525">
            <a:solidFill>
              <a:srgbClr val="C9D6E3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marL="228600" indent="-228600">
              <a:lnSpc>
                <a:spcPts val="1900"/>
              </a:lnSpc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solidFill>
                  <a:srgbClr val="212121"/>
                </a:solidFill>
              </a:rPr>
              <a:t>Quantization</a:t>
            </a:r>
            <a:r>
              <a:rPr lang="en-IN" sz="1500" dirty="0">
                <a:solidFill>
                  <a:srgbClr val="212121"/>
                </a:solidFill>
              </a:rPr>
              <a:t> — reduce GPU memory needs for training and inference.</a:t>
            </a:r>
          </a:p>
          <a:p>
            <a:pPr marL="228600" indent="-228600">
              <a:lnSpc>
                <a:spcPts val="1900"/>
              </a:lnSpc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solidFill>
                  <a:srgbClr val="212121"/>
                </a:solidFill>
              </a:rPr>
              <a:t>Distributed computing</a:t>
            </a:r>
            <a:r>
              <a:rPr lang="en-IN" sz="1500" dirty="0">
                <a:solidFill>
                  <a:srgbClr val="212121"/>
                </a:solidFill>
              </a:rPr>
              <a:t> — scale training across many GPUs.</a:t>
            </a:r>
          </a:p>
          <a:p>
            <a:pPr marL="228600" indent="-228600">
              <a:lnSpc>
                <a:spcPts val="1900"/>
              </a:lnSpc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solidFill>
                  <a:srgbClr val="212121"/>
                </a:solidFill>
              </a:rPr>
              <a:t>Fully Sharded Data Parallel (FSDP)</a:t>
            </a:r>
            <a:r>
              <a:rPr lang="en-IN" sz="1500" dirty="0">
                <a:solidFill>
                  <a:srgbClr val="212121"/>
                </a:solidFill>
              </a:rPr>
              <a:t> and AWS-specific optimizations.</a:t>
            </a:r>
          </a:p>
          <a:p>
            <a:pPr marL="228600" indent="-228600">
              <a:lnSpc>
                <a:spcPts val="1900"/>
              </a:lnSpc>
              <a:spcAft>
                <a:spcPts val="600"/>
              </a:spcAft>
              <a:buFont typeface="Arial"/>
              <a:buChar char="•"/>
            </a:pPr>
            <a:r>
              <a:rPr lang="en-IN" sz="1500" dirty="0">
                <a:solidFill>
                  <a:srgbClr val="212121"/>
                </a:solidFill>
              </a:rPr>
              <a:t>Why pretraining is rare — most teams </a:t>
            </a:r>
            <a:r>
              <a:rPr lang="en-IN" sz="1500" b="1" dirty="0">
                <a:solidFill>
                  <a:srgbClr val="212121"/>
                </a:solidFill>
              </a:rPr>
              <a:t>fine-tune</a:t>
            </a:r>
            <a:r>
              <a:rPr lang="en-IN" sz="1500" dirty="0">
                <a:solidFill>
                  <a:srgbClr val="212121"/>
                </a:solidFill>
              </a:rPr>
              <a:t> instead (next chapters).</a:t>
            </a:r>
          </a:p>
        </p:txBody>
      </p:sp>
    </p:spTree>
    <p:extLst>
      <p:ext uri="{BB962C8B-B14F-4D97-AF65-F5344CB8AC3E}">
        <p14:creationId xmlns:p14="http://schemas.microsoft.com/office/powerpoint/2010/main" val="14057396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393F1E-3545-4D1C-8CD7-16D5208BA6B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5ffe51f-6728-4777-8315-684eef359fa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67</TotalTime>
  <Words>1113</Words>
  <Application>Microsoft Office PowerPoint</Application>
  <PresentationFormat>Widescreen</PresentationFormat>
  <Paragraphs>182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Garamond</vt:lpstr>
      <vt:lpstr>Organic</vt:lpstr>
      <vt:lpstr>Advance Generative AI (Lecture 2)</vt:lpstr>
      <vt:lpstr>Objectives of Lecture 2</vt:lpstr>
      <vt:lpstr>Chapter Overview: Foundation Models</vt:lpstr>
      <vt:lpstr>Finding a Foundation Model</vt:lpstr>
      <vt:lpstr>Tokenizers: Text to Token IDs</vt:lpstr>
      <vt:lpstr>Embedding Vectors</vt:lpstr>
      <vt:lpstr>The Transformer Architecture</vt:lpstr>
      <vt:lpstr>Transformer Architecture: The Stack</vt:lpstr>
      <vt:lpstr>Self-Attention</vt:lpstr>
      <vt:lpstr>Query, Key &amp; Softmax: Computing Attention Weights</vt:lpstr>
      <vt:lpstr>Types of Transformer-Based Foundation Models</vt:lpstr>
      <vt:lpstr>Three Transformer Variants</vt:lpstr>
      <vt:lpstr>Pretraining Datasets</vt:lpstr>
      <vt:lpstr>Scaling Laws</vt:lpstr>
      <vt:lpstr>Compute-Optimal Models: Chinchilla</vt:lpstr>
      <vt:lpstr>Summary &amp; What's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dishant gupta</dc:creator>
  <cp:lastModifiedBy>dishant gupta</cp:lastModifiedBy>
  <cp:revision>1</cp:revision>
  <dcterms:created xsi:type="dcterms:W3CDTF">2026-05-31T16:46:23Z</dcterms:created>
  <dcterms:modified xsi:type="dcterms:W3CDTF">2026-05-31T17:53:47Z</dcterms:modified>
</cp:coreProperties>
</file>