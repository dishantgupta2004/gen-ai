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8" r:id="rId3"/>
    <p:sldId id="259" r:id="rId4"/>
    <p:sldId id="260" r:id="rId5"/>
    <p:sldId id="262" r:id="rId6"/>
    <p:sldId id="263" r:id="rId7"/>
    <p:sldId id="280" r:id="rId8"/>
    <p:sldId id="264" r:id="rId9"/>
    <p:sldId id="265" r:id="rId10"/>
    <p:sldId id="283" r:id="rId11"/>
    <p:sldId id="286" r:id="rId12"/>
    <p:sldId id="289" r:id="rId13"/>
    <p:sldId id="292" r:id="rId14"/>
    <p:sldId id="267" r:id="rId15"/>
    <p:sldId id="269" r:id="rId16"/>
    <p:sldId id="270" r:id="rId17"/>
    <p:sldId id="272" r:id="rId18"/>
    <p:sldId id="293" r:id="rId19"/>
    <p:sldId id="294" r:id="rId20"/>
    <p:sldId id="273" r:id="rId21"/>
    <p:sldId id="295" r:id="rId22"/>
    <p:sldId id="275" r:id="rId23"/>
    <p:sldId id="298" r:id="rId24"/>
    <p:sldId id="301" r:id="rId25"/>
    <p:sldId id="304" r:id="rId26"/>
    <p:sldId id="277" r:id="rId2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66" d="100"/>
          <a:sy n="66" d="100"/>
        </p:scale>
        <p:origin x="437" y="31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0680C858-6F51-4810-924C-6F794DA3540C}" type="datetimeFigureOut">
              <a:rPr lang="en-IN" smtClean="0"/>
              <a:t>01-06-2026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30DA7293-F15F-4C25-B81F-B40324BFE2C0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01264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0C858-6F51-4810-924C-6F794DA3540C}" type="datetimeFigureOut">
              <a:rPr lang="en-IN" smtClean="0"/>
              <a:t>01-06-2026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A7293-F15F-4C25-B81F-B40324BFE2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58738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0C858-6F51-4810-924C-6F794DA3540C}" type="datetimeFigureOut">
              <a:rPr lang="en-IN" smtClean="0"/>
              <a:t>01-06-2026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A7293-F15F-4C25-B81F-B40324BFE2C0}" type="slidenum">
              <a:rPr lang="en-IN" smtClean="0"/>
              <a:t>‹#›</a:t>
            </a:fld>
            <a:endParaRPr lang="en-IN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777635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0C858-6F51-4810-924C-6F794DA3540C}" type="datetimeFigureOut">
              <a:rPr lang="en-IN" smtClean="0"/>
              <a:t>01-06-2026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A7293-F15F-4C25-B81F-B40324BFE2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35222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0C858-6F51-4810-924C-6F794DA3540C}" type="datetimeFigureOut">
              <a:rPr lang="en-IN" smtClean="0"/>
              <a:t>01-06-2026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A7293-F15F-4C25-B81F-B40324BFE2C0}" type="slidenum">
              <a:rPr lang="en-IN" smtClean="0"/>
              <a:t>‹#›</a:t>
            </a:fld>
            <a:endParaRPr lang="en-IN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714269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0C858-6F51-4810-924C-6F794DA3540C}" type="datetimeFigureOut">
              <a:rPr lang="en-IN" smtClean="0"/>
              <a:t>01-06-2026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A7293-F15F-4C25-B81F-B40324BFE2C0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005955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0C858-6F51-4810-924C-6F794DA3540C}" type="datetimeFigureOut">
              <a:rPr lang="en-IN" smtClean="0"/>
              <a:t>01-06-2026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A7293-F15F-4C25-B81F-B40324BFE2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777551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0C858-6F51-4810-924C-6F794DA3540C}" type="datetimeFigureOut">
              <a:rPr lang="en-IN" smtClean="0"/>
              <a:t>01-06-2026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A7293-F15F-4C25-B81F-B40324BFE2C0}" type="slidenum">
              <a:rPr lang="en-IN" smtClean="0"/>
              <a:t>‹#›</a:t>
            </a:fld>
            <a:endParaRPr lang="en-IN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486917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0C858-6F51-4810-924C-6F794DA3540C}" type="datetimeFigureOut">
              <a:rPr lang="en-IN" smtClean="0"/>
              <a:t>01-06-2026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A7293-F15F-4C25-B81F-B40324BFE2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125506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0C858-6F51-4810-924C-6F794DA3540C}" type="datetimeFigureOut">
              <a:rPr lang="en-IN" smtClean="0"/>
              <a:t>01-06-2026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A7293-F15F-4C25-B81F-B40324BFE2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46078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0C858-6F51-4810-924C-6F794DA3540C}" type="datetimeFigureOut">
              <a:rPr lang="en-IN" smtClean="0"/>
              <a:t>01-06-2026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A7293-F15F-4C25-B81F-B40324BFE2C0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320024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0C858-6F51-4810-924C-6F794DA3540C}" type="datetimeFigureOut">
              <a:rPr lang="en-IN" smtClean="0"/>
              <a:t>01-06-2026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A7293-F15F-4C25-B81F-B40324BFE2C0}" type="slidenum">
              <a:rPr lang="en-IN" smtClean="0"/>
              <a:t>‹#›</a:t>
            </a:fld>
            <a:endParaRPr lang="en-IN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750905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0C858-6F51-4810-924C-6F794DA3540C}" type="datetimeFigureOut">
              <a:rPr lang="en-IN" smtClean="0"/>
              <a:t>01-06-2026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A7293-F15F-4C25-B81F-B40324BFE2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2797214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0C858-6F51-4810-924C-6F794DA3540C}" type="datetimeFigureOut">
              <a:rPr lang="en-IN" smtClean="0"/>
              <a:t>01-06-2026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A7293-F15F-4C25-B81F-B40324BFE2C0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0208648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0C858-6F51-4810-924C-6F794DA3540C}" type="datetimeFigureOut">
              <a:rPr lang="en-IN" smtClean="0"/>
              <a:t>01-06-2026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A7293-F15F-4C25-B81F-B40324BFE2C0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6015344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0C858-6F51-4810-924C-6F794DA3540C}" type="datetimeFigureOut">
              <a:rPr lang="en-IN" smtClean="0"/>
              <a:t>01-06-2026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A7293-F15F-4C25-B81F-B40324BFE2C0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4055188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0C858-6F51-4810-924C-6F794DA3540C}" type="datetimeFigureOut">
              <a:rPr lang="en-IN" smtClean="0"/>
              <a:t>01-06-2026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A7293-F15F-4C25-B81F-B40324BFE2C0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657448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0680C858-6F51-4810-924C-6F794DA3540C}" type="datetimeFigureOut">
              <a:rPr lang="en-IN" smtClean="0"/>
              <a:t>01-06-2026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30DA7293-F15F-4C25-B81F-B40324BFE2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94958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  <p:sldLayoutId id="2147483689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57D031-2FFA-CFD3-C1BC-69BBFE99723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b="1" dirty="0"/>
              <a:t>Lecture 3 (Advanced Generative AI)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AC88A6D-0ACB-BA88-3BCC-EB4EE0734EA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/>
              <a:t>Unisole empower</a:t>
            </a:r>
          </a:p>
        </p:txBody>
      </p:sp>
    </p:spTree>
    <p:extLst>
      <p:ext uri="{BB962C8B-B14F-4D97-AF65-F5344CB8AC3E}">
        <p14:creationId xmlns:p14="http://schemas.microsoft.com/office/powerpoint/2010/main" val="30417851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F21B01-2527-2395-DF8E-41C09A1F44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Objectives of Lecture 3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35C821-5BA3-1F9B-8473-5B58495B42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>
              <a:buFont typeface="Arial"/>
              <a:buChar char="•"/>
            </a:pPr>
            <a:r>
              <a:rPr lang="en-IN" sz="2000" dirty="0"/>
              <a:t>Understand why training large foundation models runs into GPU memory limits</a:t>
            </a:r>
          </a:p>
          <a:p>
            <a:pPr marL="285750" indent="-285750">
              <a:buFont typeface="Arial"/>
              <a:buChar char="•"/>
            </a:pPr>
            <a:r>
              <a:rPr lang="en-IN" sz="2000" dirty="0"/>
              <a:t>Apply </a:t>
            </a:r>
            <a:r>
              <a:rPr lang="en-IN" sz="2000" b="1" dirty="0"/>
              <a:t>quantization</a:t>
            </a:r>
            <a:r>
              <a:rPr lang="en-IN" sz="2000" dirty="0"/>
              <a:t> to reduce required GPU RAM using lower-precision data types</a:t>
            </a:r>
          </a:p>
          <a:p>
            <a:pPr marL="285750" indent="-285750">
              <a:buFont typeface="Arial"/>
              <a:buChar char="•"/>
            </a:pPr>
            <a:r>
              <a:rPr lang="en-IN" sz="2000" dirty="0"/>
              <a:t>Optimize the self-attention layers with </a:t>
            </a:r>
            <a:r>
              <a:rPr lang="en-IN" sz="2000" b="1" dirty="0"/>
              <a:t>FlashAttention</a:t>
            </a:r>
            <a:r>
              <a:rPr lang="en-IN" sz="2000" dirty="0"/>
              <a:t> and </a:t>
            </a:r>
            <a:r>
              <a:rPr lang="en-IN" sz="2000" b="1" dirty="0"/>
              <a:t>grouped-query attention</a:t>
            </a:r>
          </a:p>
          <a:p>
            <a:pPr marL="285750" indent="-285750">
              <a:buFont typeface="Arial"/>
              <a:buChar char="•"/>
            </a:pPr>
            <a:r>
              <a:rPr lang="en-IN" sz="2000" dirty="0"/>
              <a:t>Scale training across many GPUs with </a:t>
            </a:r>
            <a:r>
              <a:rPr lang="en-IN" sz="2000" b="1" dirty="0"/>
              <a:t>DDP</a:t>
            </a:r>
            <a:r>
              <a:rPr lang="en-IN" sz="2000" dirty="0"/>
              <a:t> and </a:t>
            </a:r>
            <a:r>
              <a:rPr lang="en-IN" sz="2000" b="1" dirty="0"/>
              <a:t>FSDP</a:t>
            </a:r>
            <a:r>
              <a:rPr lang="en-IN" sz="2000" dirty="0"/>
              <a:t> distributed strategies</a:t>
            </a:r>
          </a:p>
          <a:p>
            <a:pPr marL="285750" indent="-285750">
              <a:buFont typeface="Arial"/>
              <a:buChar char="•"/>
            </a:pPr>
            <a:r>
              <a:rPr lang="en-IN" sz="2000" dirty="0"/>
              <a:t>Run distributed training on AWS with Amazon SageMaker, the Neuron SDK and AWS Trainium</a:t>
            </a:r>
          </a:p>
        </p:txBody>
      </p:sp>
    </p:spTree>
    <p:extLst>
      <p:ext uri="{BB962C8B-B14F-4D97-AF65-F5344CB8AC3E}">
        <p14:creationId xmlns:p14="http://schemas.microsoft.com/office/powerpoint/2010/main" val="25302817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DAF60D-D586-BD69-0DEA-CE9BD11BBE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The Memory Challenge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D5E9E5-CD81-599F-DA61-6D7279A96B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Why large foundation models run out of GPU memory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25883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3722DC-5401-679E-14D9-68FC0867BA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Why Models Run Out of Memory</a:t>
            </a:r>
            <a:endParaRPr lang="en-IN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954859DB-2385-44FE-9BD0-A0945446105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55804932"/>
              </p:ext>
            </p:extLst>
          </p:nvPr>
        </p:nvGraphicFramePr>
        <p:xfrm>
          <a:off x="1295400" y="3149600"/>
          <a:ext cx="5461000" cy="25399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30500">
                  <a:extLst>
                    <a:ext uri="{9D8B030D-6E8A-4147-A177-3AD203B41FA5}">
                      <a16:colId xmlns:a16="http://schemas.microsoft.com/office/drawing/2014/main" val="3497337248"/>
                    </a:ext>
                  </a:extLst>
                </a:gridCol>
                <a:gridCol w="2730500">
                  <a:extLst>
                    <a:ext uri="{9D8B030D-6E8A-4147-A177-3AD203B41FA5}">
                      <a16:colId xmlns:a16="http://schemas.microsoft.com/office/drawing/2014/main" val="196755809"/>
                    </a:ext>
                  </a:extLst>
                </a:gridCol>
              </a:tblGrid>
              <a:tr h="423333">
                <a:tc>
                  <a:txBody>
                    <a:bodyPr/>
                    <a:lstStyle/>
                    <a:p>
                      <a:pPr algn="l"/>
                      <a:r>
                        <a:rPr lang="en-IN" sz="1400" b="1">
                          <a:solidFill>
                            <a:srgbClr val="FFFFFF"/>
                          </a:solidFill>
                        </a:rPr>
                        <a:t>Memory state (per parameter)</a:t>
                      </a:r>
                    </a:p>
                  </a:txBody>
                  <a:tcPr anchor="ctr">
                    <a:solidFill>
                      <a:srgbClr val="44709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>
                          <a:solidFill>
                            <a:srgbClr val="FFFFFF"/>
                          </a:solidFill>
                        </a:rPr>
                        <a:t>Bytes</a:t>
                      </a:r>
                    </a:p>
                  </a:txBody>
                  <a:tcPr anchor="ctr">
                    <a:solidFill>
                      <a:srgbClr val="44709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9922858"/>
                  </a:ext>
                </a:extLst>
              </a:tr>
              <a:tr h="423333">
                <a:tc>
                  <a:txBody>
                    <a:bodyPr/>
                    <a:lstStyle/>
                    <a:p>
                      <a:pPr algn="l"/>
                      <a:r>
                        <a:rPr lang="en-IN" sz="1400"/>
                        <a:t>Model parameters (weights)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/>
                        <a:t>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22212568"/>
                  </a:ext>
                </a:extLst>
              </a:tr>
              <a:tr h="423333">
                <a:tc>
                  <a:txBody>
                    <a:bodyPr/>
                    <a:lstStyle/>
                    <a:p>
                      <a:pPr algn="l"/>
                      <a:r>
                        <a:rPr lang="en-IN" sz="1400"/>
                        <a:t>Adam optimizer (2 states)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/>
                        <a:t>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27666552"/>
                  </a:ext>
                </a:extLst>
              </a:tr>
              <a:tr h="423333">
                <a:tc>
                  <a:txBody>
                    <a:bodyPr/>
                    <a:lstStyle/>
                    <a:p>
                      <a:pPr algn="l"/>
                      <a:r>
                        <a:rPr lang="en-IN" sz="1400"/>
                        <a:t>Gradients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/>
                        <a:t>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22981217"/>
                  </a:ext>
                </a:extLst>
              </a:tr>
              <a:tr h="423333">
                <a:tc>
                  <a:txBody>
                    <a:bodyPr/>
                    <a:lstStyle/>
                    <a:p>
                      <a:pPr algn="l"/>
                      <a:r>
                        <a:rPr lang="en-IN" sz="1400"/>
                        <a:t>Activations + temp memory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/>
                        <a:t>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45534049"/>
                  </a:ext>
                </a:extLst>
              </a:tr>
              <a:tr h="423333">
                <a:tc>
                  <a:txBody>
                    <a:bodyPr/>
                    <a:lstStyle/>
                    <a:p>
                      <a:pPr algn="l"/>
                      <a:r>
                        <a:rPr lang="en-IN" sz="1400" b="1"/>
                        <a:t>TOTAL to train</a:t>
                      </a:r>
                    </a:p>
                  </a:txBody>
                  <a:tcPr anchor="ctr">
                    <a:solidFill>
                      <a:srgbClr val="DEB3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/>
                        <a:t>24</a:t>
                      </a:r>
                    </a:p>
                  </a:txBody>
                  <a:tcPr anchor="ctr">
                    <a:solidFill>
                      <a:srgbClr val="DEB3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7492868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E6630D0F-D962-413E-A613-F49B413906F5}"/>
              </a:ext>
            </a:extLst>
          </p:cNvPr>
          <p:cNvSpPr txBox="1"/>
          <p:nvPr/>
        </p:nvSpPr>
        <p:spPr>
          <a:xfrm>
            <a:off x="7112000" y="2870200"/>
            <a:ext cx="3810000" cy="558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IN" sz="1400" b="1">
                <a:solidFill>
                  <a:srgbClr val="44709D"/>
                </a:solidFill>
              </a:rPr>
              <a:t>GPU RAM for a 1B-param model (FP32)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AA28232-1A7C-4952-88EE-423470319464}"/>
              </a:ext>
            </a:extLst>
          </p:cNvPr>
          <p:cNvSpPr txBox="1"/>
          <p:nvPr/>
        </p:nvSpPr>
        <p:spPr>
          <a:xfrm>
            <a:off x="7429500" y="5892800"/>
            <a:ext cx="1524000" cy="304800"/>
          </a:xfrm>
          <a:prstGeom prst="rect">
            <a:avLst/>
          </a:prstGeom>
          <a:noFill/>
        </p:spPr>
        <p:txBody>
          <a:bodyPr vertOverflow="overflow" vert="horz" wrap="none" rtlCol="0" anchor="t">
            <a:spAutoFit/>
          </a:bodyPr>
          <a:lstStyle/>
          <a:p>
            <a:pPr algn="l"/>
            <a:r>
              <a:rPr lang="en-IN" sz="1400"/>
              <a:t>Load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E1D927D-90AF-47DB-87B6-E61A9BDEEA96}"/>
              </a:ext>
            </a:extLst>
          </p:cNvPr>
          <p:cNvSpPr txBox="1"/>
          <p:nvPr/>
        </p:nvSpPr>
        <p:spPr>
          <a:xfrm>
            <a:off x="9207500" y="5892800"/>
            <a:ext cx="1524000" cy="304800"/>
          </a:xfrm>
          <a:prstGeom prst="rect">
            <a:avLst/>
          </a:prstGeom>
          <a:noFill/>
        </p:spPr>
        <p:txBody>
          <a:bodyPr vertOverflow="overflow" vert="horz" wrap="none" rtlCol="0" anchor="t">
            <a:spAutoFit/>
          </a:bodyPr>
          <a:lstStyle/>
          <a:p>
            <a:pPr algn="l"/>
            <a:r>
              <a:rPr lang="en-IN" sz="1400"/>
              <a:t>Load + Train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CE09BB0-CCE3-487F-914F-A6458AD977E6}"/>
              </a:ext>
            </a:extLst>
          </p:cNvPr>
          <p:cNvSpPr/>
          <p:nvPr/>
        </p:nvSpPr>
        <p:spPr>
          <a:xfrm>
            <a:off x="7620000" y="5651500"/>
            <a:ext cx="1143000" cy="317500"/>
          </a:xfrm>
          <a:prstGeom prst="rect">
            <a:avLst/>
          </a:prstGeom>
          <a:solidFill>
            <a:srgbClr val="2E7558"/>
          </a:solidFill>
          <a:ln w="1587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76C2CBE-64BA-4510-B8E6-C661A565AE71}"/>
              </a:ext>
            </a:extLst>
          </p:cNvPr>
          <p:cNvSpPr txBox="1"/>
          <p:nvPr/>
        </p:nvSpPr>
        <p:spPr>
          <a:xfrm>
            <a:off x="7429500" y="5321300"/>
            <a:ext cx="1524000" cy="304800"/>
          </a:xfrm>
          <a:prstGeom prst="rect">
            <a:avLst/>
          </a:prstGeom>
          <a:noFill/>
        </p:spPr>
        <p:txBody>
          <a:bodyPr vertOverflow="overflow" vert="horz" wrap="none" rtlCol="0" anchor="t">
            <a:spAutoFit/>
          </a:bodyPr>
          <a:lstStyle/>
          <a:p>
            <a:pPr algn="l"/>
            <a:r>
              <a:rPr lang="en-IN" sz="1400" b="1">
                <a:solidFill>
                  <a:srgbClr val="3C9770"/>
                </a:solidFill>
              </a:rPr>
              <a:t>4 GB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69F483E-E0B5-4082-A606-7585D706E3DD}"/>
              </a:ext>
            </a:extLst>
          </p:cNvPr>
          <p:cNvSpPr/>
          <p:nvPr/>
        </p:nvSpPr>
        <p:spPr>
          <a:xfrm>
            <a:off x="9398000" y="4064000"/>
            <a:ext cx="1143000" cy="1905000"/>
          </a:xfrm>
          <a:prstGeom prst="rect">
            <a:avLst/>
          </a:prstGeom>
          <a:solidFill>
            <a:srgbClr val="A23C33"/>
          </a:solidFill>
          <a:ln w="1587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8C683F4-BDBF-4FED-8BD8-5E079F876400}"/>
              </a:ext>
            </a:extLst>
          </p:cNvPr>
          <p:cNvSpPr txBox="1"/>
          <p:nvPr/>
        </p:nvSpPr>
        <p:spPr>
          <a:xfrm>
            <a:off x="9207500" y="3733800"/>
            <a:ext cx="1524000" cy="304800"/>
          </a:xfrm>
          <a:prstGeom prst="rect">
            <a:avLst/>
          </a:prstGeom>
          <a:noFill/>
        </p:spPr>
        <p:txBody>
          <a:bodyPr vertOverflow="overflow" vert="horz" wrap="none" rtlCol="0" anchor="t">
            <a:spAutoFit/>
          </a:bodyPr>
          <a:lstStyle/>
          <a:p>
            <a:pPr algn="l"/>
            <a:r>
              <a:rPr lang="en-IN" sz="1400" b="1">
                <a:solidFill>
                  <a:srgbClr val="A23C33"/>
                </a:solidFill>
              </a:rPr>
              <a:t>24 GB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A4CD53E-8B3A-4805-BA14-A93C066A1FFB}"/>
              </a:ext>
            </a:extLst>
          </p:cNvPr>
          <p:cNvSpPr txBox="1"/>
          <p:nvPr/>
        </p:nvSpPr>
        <p:spPr>
          <a:xfrm>
            <a:off x="8318500" y="4572000"/>
            <a:ext cx="1524000" cy="381000"/>
          </a:xfrm>
          <a:prstGeom prst="rect">
            <a:avLst/>
          </a:prstGeom>
          <a:noFill/>
        </p:spPr>
        <p:txBody>
          <a:bodyPr vertOverflow="overflow" vert="horz" wrap="none" rtlCol="0" anchor="t">
            <a:spAutoFit/>
          </a:bodyPr>
          <a:lstStyle/>
          <a:p>
            <a:pPr algn="l"/>
            <a:r>
              <a:rPr lang="en-IN" sz="1500" b="1">
                <a:solidFill>
                  <a:srgbClr val="D97828"/>
                </a:solidFill>
              </a:rPr>
              <a:t>≈ 6× more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7639AD7-07AD-48F4-9FE2-724882E6F990}"/>
              </a:ext>
            </a:extLst>
          </p:cNvPr>
          <p:cNvSpPr txBox="1"/>
          <p:nvPr/>
        </p:nvSpPr>
        <p:spPr>
          <a:xfrm>
            <a:off x="1295400" y="2489200"/>
            <a:ext cx="5461000" cy="558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500" i="1">
                <a:solidFill>
                  <a:srgbClr val="3C9770"/>
                </a:solidFill>
              </a:rPr>
              <a:t>A single FP32 parameter = 4 bytes. Loading a 1B-parameter model needs 4 GB — but training it needs ~6× more.</a:t>
            </a:r>
            <a:endParaRPr lang="en-IN" sz="1500" i="1">
              <a:solidFill>
                <a:srgbClr val="3C977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355608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068925-66D9-C866-9669-5A8CAB29B5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AWS Trainium — Purpose-Built ML Accelerators</a:t>
            </a:r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19144E6-A407-4384-9315-CCAFD9E2E6D9}"/>
              </a:ext>
            </a:extLst>
          </p:cNvPr>
          <p:cNvSpPr txBox="1"/>
          <p:nvPr/>
        </p:nvSpPr>
        <p:spPr>
          <a:xfrm>
            <a:off x="1295400" y="2540000"/>
            <a:ext cx="5461000" cy="1923604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IN" sz="1700" dirty="0"/>
              <a:t>NVIDIA A100 / H100 GPUs support only up to </a:t>
            </a:r>
            <a:r>
              <a:rPr lang="en-IN" sz="1700" b="1" dirty="0"/>
              <a:t>80 GB</a:t>
            </a:r>
            <a:r>
              <a:rPr lang="en-IN" sz="1700" dirty="0"/>
              <a:t> of GPU RAM — a hard ceiling for very large models</a:t>
            </a:r>
          </a:p>
          <a:p>
            <a:pPr marL="285750" indent="-285750">
              <a:buFont typeface="Arial"/>
              <a:buChar char="•"/>
            </a:pPr>
            <a:r>
              <a:rPr lang="en-IN" sz="1700" dirty="0"/>
              <a:t>AWS </a:t>
            </a:r>
            <a:r>
              <a:rPr lang="en-IN" sz="1700" b="1" dirty="0"/>
              <a:t>Trainium</a:t>
            </a:r>
            <a:r>
              <a:rPr lang="en-IN" sz="1700" dirty="0"/>
              <a:t> is a purpose-built accelerator for cost-efficient training of 100B+ parameter models</a:t>
            </a:r>
          </a:p>
          <a:p>
            <a:pPr marL="285750" indent="-285750">
              <a:buFont typeface="Arial"/>
              <a:buChar char="•"/>
            </a:pPr>
            <a:r>
              <a:rPr lang="en-IN" sz="1700" dirty="0"/>
              <a:t>Accessed through the </a:t>
            </a:r>
            <a:r>
              <a:rPr lang="en-IN" sz="1700" b="1" dirty="0"/>
              <a:t>Trn</a:t>
            </a:r>
            <a:r>
              <a:rPr lang="en-IN" sz="1700" dirty="0"/>
              <a:t> instance family</a:t>
            </a:r>
          </a:p>
          <a:p>
            <a:pPr marL="285750" indent="-285750">
              <a:buFont typeface="Arial"/>
              <a:buChar char="•"/>
            </a:pPr>
            <a:r>
              <a:rPr lang="en-IN" sz="1700" dirty="0"/>
              <a:t>Optimized for </a:t>
            </a:r>
            <a:r>
              <a:rPr lang="en-IN" sz="1700" b="1" dirty="0"/>
              <a:t>quantization</a:t>
            </a:r>
            <a:r>
              <a:rPr lang="en-IN" sz="1700" dirty="0"/>
              <a:t> and </a:t>
            </a:r>
            <a:r>
              <a:rPr lang="en-IN" sz="1700" b="1" dirty="0"/>
              <a:t>distributed training</a:t>
            </a:r>
            <a:r>
              <a:rPr lang="en-IN" sz="1700" dirty="0"/>
              <a:t>, with broad data-type support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1B529E4B-CECB-440C-BF0C-258A9E1E638A}"/>
              </a:ext>
            </a:extLst>
          </p:cNvPr>
          <p:cNvSpPr/>
          <p:nvPr/>
        </p:nvSpPr>
        <p:spPr>
          <a:xfrm>
            <a:off x="7239000" y="2667000"/>
            <a:ext cx="3683000" cy="2921000"/>
          </a:xfrm>
          <a:prstGeom prst="roundRect">
            <a:avLst/>
          </a:prstGeom>
          <a:solidFill>
            <a:srgbClr val="2E7558"/>
          </a:solidFill>
          <a:ln w="1587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D931128-CEE7-4295-81DD-BD436986702A}"/>
              </a:ext>
            </a:extLst>
          </p:cNvPr>
          <p:cNvSpPr txBox="1"/>
          <p:nvPr/>
        </p:nvSpPr>
        <p:spPr>
          <a:xfrm>
            <a:off x="7429500" y="2870200"/>
            <a:ext cx="3302000" cy="431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IN" sz="1600" b="1">
                <a:solidFill>
                  <a:srgbClr val="FFFFFF"/>
                </a:solidFill>
              </a:rPr>
              <a:t>Largest Trn instance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6A9EBE1-0C2F-4514-AC89-0555680E9244}"/>
              </a:ext>
            </a:extLst>
          </p:cNvPr>
          <p:cNvSpPr txBox="1"/>
          <p:nvPr/>
        </p:nvSpPr>
        <p:spPr>
          <a:xfrm>
            <a:off x="7429500" y="3403600"/>
            <a:ext cx="3302000" cy="584200"/>
          </a:xfrm>
          <a:prstGeom prst="rect">
            <a:avLst/>
          </a:prstGeom>
          <a:noFill/>
        </p:spPr>
        <p:txBody>
          <a:bodyPr vertOverflow="overflow" vert="horz" wrap="none" rtlCol="0" anchor="t">
            <a:spAutoFit/>
          </a:bodyPr>
          <a:lstStyle/>
          <a:p>
            <a:pPr algn="l"/>
            <a:r>
              <a:rPr lang="en-IN" sz="3400" b="1">
                <a:solidFill>
                  <a:srgbClr val="FFFFFF"/>
                </a:solidFill>
              </a:rPr>
              <a:t>16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AD23A1B-CD01-4817-A1CE-E59E443FB5CB}"/>
              </a:ext>
            </a:extLst>
          </p:cNvPr>
          <p:cNvSpPr txBox="1"/>
          <p:nvPr/>
        </p:nvSpPr>
        <p:spPr>
          <a:xfrm>
            <a:off x="7429500" y="3962400"/>
            <a:ext cx="3302000" cy="304800"/>
          </a:xfrm>
          <a:prstGeom prst="rect">
            <a:avLst/>
          </a:prstGeom>
          <a:noFill/>
        </p:spPr>
        <p:txBody>
          <a:bodyPr vertOverflow="overflow" vert="horz" wrap="none" rtlCol="0" anchor="t">
            <a:spAutoFit/>
          </a:bodyPr>
          <a:lstStyle/>
          <a:p>
            <a:pPr algn="l"/>
            <a:r>
              <a:rPr lang="en-IN" sz="1400">
                <a:solidFill>
                  <a:srgbClr val="EAF5EF"/>
                </a:solidFill>
              </a:rPr>
              <a:t>AWS Trainium chips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67D0074-241D-47C9-AFDF-5730CE7AAF66}"/>
              </a:ext>
            </a:extLst>
          </p:cNvPr>
          <p:cNvSpPr txBox="1"/>
          <p:nvPr/>
        </p:nvSpPr>
        <p:spPr>
          <a:xfrm>
            <a:off x="7429500" y="4445000"/>
            <a:ext cx="3302000" cy="584200"/>
          </a:xfrm>
          <a:prstGeom prst="rect">
            <a:avLst/>
          </a:prstGeom>
          <a:noFill/>
        </p:spPr>
        <p:txBody>
          <a:bodyPr vertOverflow="overflow" vert="horz" wrap="none" rtlCol="0" anchor="t">
            <a:spAutoFit/>
          </a:bodyPr>
          <a:lstStyle/>
          <a:p>
            <a:pPr algn="l"/>
            <a:r>
              <a:rPr lang="en-IN" sz="3400" b="1">
                <a:solidFill>
                  <a:srgbClr val="FFFFFF"/>
                </a:solidFill>
              </a:rPr>
              <a:t>512 GB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2C394FE-07BA-4E23-A739-F8C0482ADCCA}"/>
              </a:ext>
            </a:extLst>
          </p:cNvPr>
          <p:cNvSpPr txBox="1"/>
          <p:nvPr/>
        </p:nvSpPr>
        <p:spPr>
          <a:xfrm>
            <a:off x="7429500" y="5003800"/>
            <a:ext cx="3302000" cy="304800"/>
          </a:xfrm>
          <a:prstGeom prst="rect">
            <a:avLst/>
          </a:prstGeom>
          <a:noFill/>
        </p:spPr>
        <p:txBody>
          <a:bodyPr vertOverflow="overflow" vert="horz" wrap="none" rtlCol="0" anchor="t">
            <a:spAutoFit/>
          </a:bodyPr>
          <a:lstStyle/>
          <a:p>
            <a:pPr algn="l"/>
            <a:r>
              <a:rPr lang="en-IN" sz="1400">
                <a:solidFill>
                  <a:srgbClr val="EAF5EF"/>
                </a:solidFill>
              </a:rPr>
              <a:t>shared accelerator memory</a:t>
            </a:r>
          </a:p>
        </p:txBody>
      </p:sp>
    </p:spTree>
    <p:extLst>
      <p:ext uri="{BB962C8B-B14F-4D97-AF65-F5344CB8AC3E}">
        <p14:creationId xmlns:p14="http://schemas.microsoft.com/office/powerpoint/2010/main" val="20441474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A3D137-0AF7-7EE7-CD8C-9C1999FB25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Data Types &amp; Numerical Precision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F32623-5CED-4206-D347-9A7FE52BD3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How numbers are stored — and why precision is the key to saving memory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567923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9DB06C-CFCB-BF15-C918-DA3AE044D1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How Numbers Are Stored in Memory</a:t>
            </a:r>
          </a:p>
        </p:txBody>
      </p:sp>
      <p:sp>
        <p:nvSpPr>
          <p:cNvPr id="101" name="t101"/>
          <p:cNvSpPr txBox="1"/>
          <p:nvPr/>
        </p:nvSpPr>
        <p:spPr>
          <a:xfrm>
            <a:off x="1143000" y="2413000"/>
            <a:ext cx="9906000" cy="4318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lang="en-US" sz="1500" dirty="0"/>
              <a:t>A floating-point number is just a string of bits. </a:t>
            </a:r>
            <a:r>
              <a:rPr lang="en-US" sz="1500" b="1" dirty="0">
                <a:solidFill>
                  <a:srgbClr val="83992A"/>
                </a:solidFill>
              </a:rPr>
              <a:t>FP32 (full precision) uses 32 bits = 4 bytes</a:t>
            </a:r>
            <a:r>
              <a:rPr lang="en-US" sz="1500" dirty="0"/>
              <a:t>, split into three parts:</a:t>
            </a:r>
          </a:p>
        </p:txBody>
      </p:sp>
      <p:sp>
        <p:nvSpPr>
          <p:cNvPr id="102" name="r102"/>
          <p:cNvSpPr/>
          <p:nvPr/>
        </p:nvSpPr>
        <p:spPr>
          <a:xfrm>
            <a:off x="1143000" y="3124200"/>
            <a:ext cx="309563" cy="736600"/>
          </a:xfrm>
          <a:prstGeom prst="rect">
            <a:avLst/>
          </a:prstGeom>
          <a:solidFill>
            <a:srgbClr val="A23C3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3" name="r103"/>
          <p:cNvSpPr/>
          <p:nvPr/>
        </p:nvSpPr>
        <p:spPr>
          <a:xfrm>
            <a:off x="1452563" y="3124200"/>
            <a:ext cx="2476500" cy="736600"/>
          </a:xfrm>
          <a:prstGeom prst="rect">
            <a:avLst/>
          </a:prstGeom>
          <a:solidFill>
            <a:srgbClr val="D9782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4" name="r104"/>
          <p:cNvSpPr/>
          <p:nvPr/>
        </p:nvSpPr>
        <p:spPr>
          <a:xfrm>
            <a:off x="3929063" y="3124200"/>
            <a:ext cx="7119938" cy="736600"/>
          </a:xfrm>
          <a:prstGeom prst="rect">
            <a:avLst/>
          </a:prstGeom>
          <a:solidFill>
            <a:srgbClr val="83992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5" name="t105"/>
          <p:cNvSpPr txBox="1"/>
          <p:nvPr/>
        </p:nvSpPr>
        <p:spPr>
          <a:xfrm>
            <a:off x="1143000" y="3124200"/>
            <a:ext cx="309563" cy="7366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lang="en-US" sz="1600" b="1" dirty="0">
                <a:solidFill>
                  <a:srgbClr val="FFFFFF"/>
                </a:solidFill>
              </a:rPr>
              <a:t>S</a:t>
            </a:r>
          </a:p>
        </p:txBody>
      </p:sp>
      <p:sp>
        <p:nvSpPr>
          <p:cNvPr id="106" name="t106"/>
          <p:cNvSpPr txBox="1"/>
          <p:nvPr/>
        </p:nvSpPr>
        <p:spPr>
          <a:xfrm>
            <a:off x="1452563" y="3124200"/>
            <a:ext cx="2476500" cy="7366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lang="en-US" sz="1500" b="1" dirty="0">
                <a:solidFill>
                  <a:srgbClr val="FFFFFF"/>
                </a:solidFill>
              </a:rPr>
              <a:t>EXPONENT</a:t>
            </a:r>
          </a:p>
        </p:txBody>
      </p:sp>
      <p:sp>
        <p:nvSpPr>
          <p:cNvPr id="107" name="t107"/>
          <p:cNvSpPr txBox="1"/>
          <p:nvPr/>
        </p:nvSpPr>
        <p:spPr>
          <a:xfrm>
            <a:off x="3929063" y="3124200"/>
            <a:ext cx="7119938" cy="7366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lang="en-US" sz="1500" b="1" dirty="0">
                <a:solidFill>
                  <a:srgbClr val="FFFFFF"/>
                </a:solidFill>
              </a:rPr>
              <a:t>MANTISSA  (FRACTION / SIGNIFICAND)</a:t>
            </a:r>
          </a:p>
        </p:txBody>
      </p:sp>
      <p:sp>
        <p:nvSpPr>
          <p:cNvPr id="108" name="t108"/>
          <p:cNvSpPr txBox="1"/>
          <p:nvPr/>
        </p:nvSpPr>
        <p:spPr>
          <a:xfrm>
            <a:off x="1143000" y="3911600"/>
            <a:ext cx="309563" cy="304800"/>
          </a:xfrm>
          <a:prstGeom prst="rect">
            <a:avLst/>
          </a:prstGeom>
          <a:noFill/>
        </p:spPr>
        <p:txBody>
          <a:bodyPr wrap="square" anchor="t">
            <a:normAutofit fontScale="62500" lnSpcReduction="20000"/>
          </a:bodyPr>
          <a:lstStyle/>
          <a:p>
            <a:pPr algn="ctr"/>
            <a:r>
              <a:rPr lang="en-US" sz="1300" b="1" dirty="0">
                <a:solidFill>
                  <a:srgbClr val="A23C33"/>
                </a:solidFill>
              </a:rPr>
              <a:t>1 bit</a:t>
            </a:r>
          </a:p>
        </p:txBody>
      </p:sp>
      <p:sp>
        <p:nvSpPr>
          <p:cNvPr id="109" name="t109"/>
          <p:cNvSpPr txBox="1"/>
          <p:nvPr/>
        </p:nvSpPr>
        <p:spPr>
          <a:xfrm>
            <a:off x="1452563" y="3911600"/>
            <a:ext cx="2476500" cy="3048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ctr"/>
            <a:r>
              <a:rPr lang="en-US" sz="1300" b="1" dirty="0">
                <a:solidFill>
                  <a:srgbClr val="D97828"/>
                </a:solidFill>
              </a:rPr>
              <a:t>8 bits</a:t>
            </a:r>
          </a:p>
        </p:txBody>
      </p:sp>
      <p:sp>
        <p:nvSpPr>
          <p:cNvPr id="110" name="t110"/>
          <p:cNvSpPr txBox="1"/>
          <p:nvPr/>
        </p:nvSpPr>
        <p:spPr>
          <a:xfrm>
            <a:off x="3929063" y="3911600"/>
            <a:ext cx="7119938" cy="3048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ctr"/>
            <a:r>
              <a:rPr lang="en-US" sz="1300" b="1" dirty="0">
                <a:solidFill>
                  <a:srgbClr val="83992A"/>
                </a:solidFill>
              </a:rPr>
              <a:t>23 bits</a:t>
            </a:r>
          </a:p>
        </p:txBody>
      </p:sp>
      <p:sp>
        <p:nvSpPr>
          <p:cNvPr id="111" name="t111"/>
          <p:cNvSpPr txBox="1"/>
          <p:nvPr/>
        </p:nvSpPr>
        <p:spPr>
          <a:xfrm>
            <a:off x="1143000" y="4445000"/>
            <a:ext cx="3124200" cy="1016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lang="en-US" sz="1500" b="1" dirty="0">
                <a:solidFill>
                  <a:srgbClr val="A23C33"/>
                </a:solidFill>
              </a:rPr>
              <a:t>Sign
</a:t>
            </a:r>
            <a:r>
              <a:rPr lang="en-US" sz="1400" dirty="0"/>
              <a:t>0 = positive, 1 = negative</a:t>
            </a:r>
          </a:p>
        </p:txBody>
      </p:sp>
      <p:sp>
        <p:nvSpPr>
          <p:cNvPr id="112" name="t112"/>
          <p:cNvSpPr txBox="1"/>
          <p:nvPr/>
        </p:nvSpPr>
        <p:spPr>
          <a:xfrm>
            <a:off x="4572000" y="4445000"/>
            <a:ext cx="3124200" cy="1016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lang="en-US" sz="1500" b="1" dirty="0">
                <a:solidFill>
                  <a:srgbClr val="D97828"/>
                </a:solidFill>
              </a:rPr>
              <a:t>Exponent
</a:t>
            </a:r>
            <a:r>
              <a:rPr lang="en-US" sz="1400" dirty="0"/>
              <a:t>Sets the dynamic range (±3×10³⁸)</a:t>
            </a:r>
          </a:p>
        </p:txBody>
      </p:sp>
      <p:sp>
        <p:nvSpPr>
          <p:cNvPr id="113" name="t113"/>
          <p:cNvSpPr txBox="1"/>
          <p:nvPr/>
        </p:nvSpPr>
        <p:spPr>
          <a:xfrm>
            <a:off x="8001000" y="4445000"/>
            <a:ext cx="3048000" cy="1016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lang="en-US" sz="1500" b="1" dirty="0">
                <a:solidFill>
                  <a:srgbClr val="83992A"/>
                </a:solidFill>
              </a:rPr>
              <a:t>Mantissa
</a:t>
            </a:r>
            <a:r>
              <a:rPr lang="en-US" sz="1400" dirty="0"/>
              <a:t>Sets the precision (how many digits)</a:t>
            </a:r>
          </a:p>
        </p:txBody>
      </p:sp>
      <p:sp>
        <p:nvSpPr>
          <p:cNvPr id="114" name="r114"/>
          <p:cNvSpPr/>
          <p:nvPr/>
        </p:nvSpPr>
        <p:spPr>
          <a:xfrm>
            <a:off x="1143000" y="5486400"/>
            <a:ext cx="9906000" cy="990600"/>
          </a:xfrm>
          <a:prstGeom prst="rect">
            <a:avLst/>
          </a:prstGeom>
          <a:solidFill>
            <a:srgbClr val="F2F4E8"/>
          </a:solidFill>
          <a:ln w="9525">
            <a:solidFill>
              <a:srgbClr val="DADAD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5" name="t115"/>
          <p:cNvSpPr txBox="1"/>
          <p:nvPr/>
        </p:nvSpPr>
        <p:spPr>
          <a:xfrm>
            <a:off x="1320800" y="5588000"/>
            <a:ext cx="9550400" cy="7874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lang="en-US" sz="1500" b="1" dirty="0">
                <a:solidFill>
                  <a:srgbClr val="44709D"/>
                </a:solidFill>
              </a:rPr>
              <a:t>Example  </a:t>
            </a:r>
            <a:r>
              <a:rPr lang="en-US" sz="1500" b="1" dirty="0"/>
              <a:t>π in FP32 → </a:t>
            </a:r>
            <a:r>
              <a:rPr lang="en-US" sz="1500" dirty="0">
                <a:solidFill>
                  <a:srgbClr val="212121"/>
                </a:solidFill>
                <a:latin typeface="Consolas"/>
              </a:rPr>
              <a:t>3.1415927410125732</a:t>
            </a:r>
            <a:r>
              <a:rPr lang="en-US" sz="1400" dirty="0"/>
              <a:t>  (real π = 3.14159265358979...). The 23-bit mantissa rounds after ~7 digits.
</a:t>
            </a:r>
            <a:r>
              <a:rPr lang="en-US" sz="1500" b="1" dirty="0">
                <a:solidFill>
                  <a:srgbClr val="44709D"/>
                </a:solidFill>
              </a:rPr>
              <a:t>GPU RAM vs CPU RAM:  </a:t>
            </a:r>
            <a:r>
              <a:rPr lang="en-US" sz="1400" dirty="0"/>
              <a:t>the bit layout is identical — a 1-billion-parameter model needs 1B × 4 bytes = 4 GB just to load at FP32.</a:t>
            </a:r>
          </a:p>
        </p:txBody>
      </p:sp>
    </p:spTree>
    <p:extLst>
      <p:ext uri="{BB962C8B-B14F-4D97-AF65-F5344CB8AC3E}">
        <p14:creationId xmlns:p14="http://schemas.microsoft.com/office/powerpoint/2010/main" val="21220810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05BEB8-D587-1FF4-32CB-63A0ED8890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Comparing Data Types for Quantization</a:t>
            </a:r>
            <a:endParaRPr lang="en-IN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DB9D6D1-8728-44BF-82CE-BF688EF3059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4823415"/>
              </p:ext>
            </p:extLst>
          </p:nvPr>
        </p:nvGraphicFramePr>
        <p:xfrm>
          <a:off x="1143000" y="2540000"/>
          <a:ext cx="9906000" cy="29209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1000">
                  <a:extLst>
                    <a:ext uri="{9D8B030D-6E8A-4147-A177-3AD203B41FA5}">
                      <a16:colId xmlns:a16="http://schemas.microsoft.com/office/drawing/2014/main" val="3672216806"/>
                    </a:ext>
                  </a:extLst>
                </a:gridCol>
                <a:gridCol w="1651000">
                  <a:extLst>
                    <a:ext uri="{9D8B030D-6E8A-4147-A177-3AD203B41FA5}">
                      <a16:colId xmlns:a16="http://schemas.microsoft.com/office/drawing/2014/main" val="3147740504"/>
                    </a:ext>
                  </a:extLst>
                </a:gridCol>
                <a:gridCol w="1651000">
                  <a:extLst>
                    <a:ext uri="{9D8B030D-6E8A-4147-A177-3AD203B41FA5}">
                      <a16:colId xmlns:a16="http://schemas.microsoft.com/office/drawing/2014/main" val="119760243"/>
                    </a:ext>
                  </a:extLst>
                </a:gridCol>
                <a:gridCol w="1651000">
                  <a:extLst>
                    <a:ext uri="{9D8B030D-6E8A-4147-A177-3AD203B41FA5}">
                      <a16:colId xmlns:a16="http://schemas.microsoft.com/office/drawing/2014/main" val="4254783140"/>
                    </a:ext>
                  </a:extLst>
                </a:gridCol>
                <a:gridCol w="1651000">
                  <a:extLst>
                    <a:ext uri="{9D8B030D-6E8A-4147-A177-3AD203B41FA5}">
                      <a16:colId xmlns:a16="http://schemas.microsoft.com/office/drawing/2014/main" val="529896354"/>
                    </a:ext>
                  </a:extLst>
                </a:gridCol>
                <a:gridCol w="1651000">
                  <a:extLst>
                    <a:ext uri="{9D8B030D-6E8A-4147-A177-3AD203B41FA5}">
                      <a16:colId xmlns:a16="http://schemas.microsoft.com/office/drawing/2014/main" val="2259235044"/>
                    </a:ext>
                  </a:extLst>
                </a:gridCol>
              </a:tblGrid>
              <a:tr h="486833">
                <a:tc>
                  <a:txBody>
                    <a:bodyPr/>
                    <a:lstStyle/>
                    <a:p>
                      <a:pPr algn="l"/>
                      <a:r>
                        <a:rPr lang="en-IN" sz="1400" b="1">
                          <a:solidFill>
                            <a:srgbClr val="FFFFFF"/>
                          </a:solidFill>
                        </a:rPr>
                        <a:t>Data type</a:t>
                      </a:r>
                    </a:p>
                  </a:txBody>
                  <a:tcPr anchor="ctr">
                    <a:solidFill>
                      <a:srgbClr val="44709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>
                          <a:solidFill>
                            <a:srgbClr val="FFFFFF"/>
                          </a:solidFill>
                        </a:rPr>
                        <a:t>Total bits</a:t>
                      </a:r>
                    </a:p>
                  </a:txBody>
                  <a:tcPr anchor="ctr">
                    <a:solidFill>
                      <a:srgbClr val="44709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>
                          <a:solidFill>
                            <a:srgbClr val="FFFFFF"/>
                          </a:solidFill>
                        </a:rPr>
                        <a:t>Sign</a:t>
                      </a:r>
                    </a:p>
                  </a:txBody>
                  <a:tcPr anchor="ctr">
                    <a:solidFill>
                      <a:srgbClr val="44709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>
                          <a:solidFill>
                            <a:srgbClr val="FFFFFF"/>
                          </a:solidFill>
                        </a:rPr>
                        <a:t>Exponent</a:t>
                      </a:r>
                    </a:p>
                  </a:txBody>
                  <a:tcPr anchor="ctr">
                    <a:solidFill>
                      <a:srgbClr val="44709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>
                          <a:solidFill>
                            <a:srgbClr val="FFFFFF"/>
                          </a:solidFill>
                        </a:rPr>
                        <a:t>Fraction</a:t>
                      </a:r>
                    </a:p>
                  </a:txBody>
                  <a:tcPr anchor="ctr">
                    <a:solidFill>
                      <a:srgbClr val="44709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>
                          <a:solidFill>
                            <a:srgbClr val="FFFFFF"/>
                          </a:solidFill>
                        </a:rPr>
                        <a:t>Bytes</a:t>
                      </a:r>
                    </a:p>
                  </a:txBody>
                  <a:tcPr anchor="ctr">
                    <a:solidFill>
                      <a:srgbClr val="44709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5426679"/>
                  </a:ext>
                </a:extLst>
              </a:tr>
              <a:tr h="486833">
                <a:tc>
                  <a:txBody>
                    <a:bodyPr/>
                    <a:lstStyle/>
                    <a:p>
                      <a:pPr algn="l"/>
                      <a:r>
                        <a:rPr lang="en-IN" sz="1400" b="1"/>
                        <a:t>FP32  (full)</a:t>
                      </a:r>
                    </a:p>
                  </a:txBody>
                  <a:tcPr anchor="ctr">
                    <a:solidFill>
                      <a:srgbClr val="EFF3E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/>
                        <a:t>32</a:t>
                      </a:r>
                    </a:p>
                  </a:txBody>
                  <a:tcPr anchor="ctr">
                    <a:solidFill>
                      <a:srgbClr val="EFF3E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/>
                        <a:t>1</a:t>
                      </a:r>
                    </a:p>
                  </a:txBody>
                  <a:tcPr anchor="ctr">
                    <a:solidFill>
                      <a:srgbClr val="EFF3E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/>
                        <a:t>8</a:t>
                      </a:r>
                    </a:p>
                  </a:txBody>
                  <a:tcPr anchor="ctr">
                    <a:solidFill>
                      <a:srgbClr val="EFF3E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/>
                        <a:t>23</a:t>
                      </a:r>
                    </a:p>
                  </a:txBody>
                  <a:tcPr anchor="ctr">
                    <a:solidFill>
                      <a:srgbClr val="EFF3E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/>
                        <a:t>4</a:t>
                      </a:r>
                    </a:p>
                  </a:txBody>
                  <a:tcPr anchor="ctr">
                    <a:solidFill>
                      <a:srgbClr val="EFF3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8002431"/>
                  </a:ext>
                </a:extLst>
              </a:tr>
              <a:tr h="486833">
                <a:tc>
                  <a:txBody>
                    <a:bodyPr/>
                    <a:lstStyle/>
                    <a:p>
                      <a:pPr algn="l"/>
                      <a:r>
                        <a:rPr lang="en-IN" sz="1400" b="1"/>
                        <a:t>FP16  (half)</a:t>
                      </a:r>
                    </a:p>
                  </a:txBody>
                  <a:tcPr anchor="ctr">
                    <a:solidFill>
                      <a:srgbClr val="E7F2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/>
                        <a:t>16</a:t>
                      </a:r>
                    </a:p>
                  </a:txBody>
                  <a:tcPr anchor="ctr">
                    <a:solidFill>
                      <a:srgbClr val="E7F2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/>
                        <a:t>1</a:t>
                      </a:r>
                    </a:p>
                  </a:txBody>
                  <a:tcPr anchor="ctr">
                    <a:solidFill>
                      <a:srgbClr val="E7F2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/>
                        <a:t>5</a:t>
                      </a:r>
                    </a:p>
                  </a:txBody>
                  <a:tcPr anchor="ctr">
                    <a:solidFill>
                      <a:srgbClr val="E7F2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/>
                        <a:t>10</a:t>
                      </a:r>
                    </a:p>
                  </a:txBody>
                  <a:tcPr anchor="ctr">
                    <a:solidFill>
                      <a:srgbClr val="E7F2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/>
                        <a:t>2</a:t>
                      </a:r>
                    </a:p>
                  </a:txBody>
                  <a:tcPr anchor="ctr">
                    <a:solidFill>
                      <a:srgbClr val="E7F2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3988510"/>
                  </a:ext>
                </a:extLst>
              </a:tr>
              <a:tr h="486833">
                <a:tc>
                  <a:txBody>
                    <a:bodyPr/>
                    <a:lstStyle/>
                    <a:p>
                      <a:pPr algn="l"/>
                      <a:r>
                        <a:rPr lang="en-IN" sz="1400" b="1"/>
                        <a:t>BF16  (bfloat16)</a:t>
                      </a:r>
                    </a:p>
                  </a:txBody>
                  <a:tcPr anchor="ctr">
                    <a:solidFill>
                      <a:srgbClr val="E7F2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/>
                        <a:t>16</a:t>
                      </a:r>
                    </a:p>
                  </a:txBody>
                  <a:tcPr anchor="ctr">
                    <a:solidFill>
                      <a:srgbClr val="E7F2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/>
                        <a:t>1</a:t>
                      </a:r>
                    </a:p>
                  </a:txBody>
                  <a:tcPr anchor="ctr">
                    <a:solidFill>
                      <a:srgbClr val="E7F2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/>
                        <a:t>8</a:t>
                      </a:r>
                    </a:p>
                  </a:txBody>
                  <a:tcPr anchor="ctr">
                    <a:solidFill>
                      <a:srgbClr val="E7F2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/>
                        <a:t>7</a:t>
                      </a:r>
                    </a:p>
                  </a:txBody>
                  <a:tcPr anchor="ctr">
                    <a:solidFill>
                      <a:srgbClr val="E7F2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/>
                        <a:t>2</a:t>
                      </a:r>
                    </a:p>
                  </a:txBody>
                  <a:tcPr anchor="ctr">
                    <a:solidFill>
                      <a:srgbClr val="E7F2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4017767"/>
                  </a:ext>
                </a:extLst>
              </a:tr>
              <a:tr h="486833">
                <a:tc>
                  <a:txBody>
                    <a:bodyPr/>
                    <a:lstStyle/>
                    <a:p>
                      <a:pPr algn="l"/>
                      <a:r>
                        <a:rPr lang="en-IN" sz="1400" b="1"/>
                        <a:t>FP8</a:t>
                      </a:r>
                    </a:p>
                  </a:txBody>
                  <a:tcPr anchor="ctr">
                    <a:solidFill>
                      <a:srgbClr val="FBEDD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/>
                        <a:t>8</a:t>
                      </a:r>
                    </a:p>
                  </a:txBody>
                  <a:tcPr anchor="ctr">
                    <a:solidFill>
                      <a:srgbClr val="FBEDD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/>
                        <a:t>1</a:t>
                      </a:r>
                    </a:p>
                  </a:txBody>
                  <a:tcPr anchor="ctr">
                    <a:solidFill>
                      <a:srgbClr val="FBEDD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/>
                        <a:t>7 (configurable)</a:t>
                      </a:r>
                    </a:p>
                  </a:txBody>
                  <a:tcPr anchor="ctr">
                    <a:solidFill>
                      <a:srgbClr val="FBEDD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/>
                        <a:t>—</a:t>
                      </a:r>
                    </a:p>
                  </a:txBody>
                  <a:tcPr anchor="ctr">
                    <a:solidFill>
                      <a:srgbClr val="FBEDD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/>
                        <a:t>1</a:t>
                      </a:r>
                    </a:p>
                  </a:txBody>
                  <a:tcPr anchor="ctr">
                    <a:solidFill>
                      <a:srgbClr val="FBED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276397"/>
                  </a:ext>
                </a:extLst>
              </a:tr>
              <a:tr h="486833">
                <a:tc>
                  <a:txBody>
                    <a:bodyPr/>
                    <a:lstStyle/>
                    <a:p>
                      <a:pPr algn="l"/>
                      <a:r>
                        <a:rPr lang="en-IN" sz="1400" b="1"/>
                        <a:t>INT8</a:t>
                      </a:r>
                    </a:p>
                  </a:txBody>
                  <a:tcPr anchor="ctr">
                    <a:solidFill>
                      <a:srgbClr val="F6E5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/>
                        <a:t>8</a:t>
                      </a:r>
                    </a:p>
                  </a:txBody>
                  <a:tcPr anchor="ctr">
                    <a:solidFill>
                      <a:srgbClr val="F6E5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/>
                        <a:t>1</a:t>
                      </a:r>
                    </a:p>
                  </a:txBody>
                  <a:tcPr anchor="ctr">
                    <a:solidFill>
                      <a:srgbClr val="F6E5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/>
                        <a:t>—</a:t>
                      </a:r>
                    </a:p>
                  </a:txBody>
                  <a:tcPr anchor="ctr">
                    <a:solidFill>
                      <a:srgbClr val="F6E5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/>
                        <a:t>7</a:t>
                      </a:r>
                    </a:p>
                  </a:txBody>
                  <a:tcPr anchor="ctr">
                    <a:solidFill>
                      <a:srgbClr val="F6E5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/>
                        <a:t>1</a:t>
                      </a:r>
                    </a:p>
                  </a:txBody>
                  <a:tcPr anchor="ctr">
                    <a:solidFill>
                      <a:srgbClr val="F6E5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9230017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A0A2FA59-1803-432E-A5AD-81997F2CE4C2}"/>
              </a:ext>
            </a:extLst>
          </p:cNvPr>
          <p:cNvSpPr txBox="1"/>
          <p:nvPr/>
        </p:nvSpPr>
        <p:spPr>
          <a:xfrm>
            <a:off x="1143000" y="5651500"/>
            <a:ext cx="9906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500" i="1">
                <a:solidFill>
                  <a:srgbClr val="44709D"/>
                </a:solidFill>
              </a:rPr>
              <a:t>Fewer bits → less memory. BF16 keeps FP32's 8-bit exponent (same dynamic range) — that's why it's preferred over FP16 for training.</a:t>
            </a:r>
            <a:endParaRPr lang="en-IN" sz="1500" i="1">
              <a:solidFill>
                <a:srgbClr val="44709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096293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ACA69F-20EC-C3A4-27CF-C875237B9C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Quantization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F7F2B1-A4E4-55E9-EB79-730278153C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Reducing precision to shrink the memory footprint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024411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237F4C-D736-DEDC-CC80-F8A2DB5324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FP16 — Half Precision</a:t>
            </a:r>
          </a:p>
        </p:txBody>
      </p:sp>
      <p:sp>
        <p:nvSpPr>
          <p:cNvPr id="201" name="t201"/>
          <p:cNvSpPr txBox="1"/>
          <p:nvPr/>
        </p:nvSpPr>
        <p:spPr>
          <a:xfrm>
            <a:off x="1143000" y="2489200"/>
            <a:ext cx="5588000" cy="279400"/>
          </a:xfrm>
          <a:prstGeom prst="rect">
            <a:avLst/>
          </a:prstGeom>
          <a:noFill/>
        </p:spPr>
        <p:txBody>
          <a:bodyPr wrap="square" anchor="t">
            <a:normAutofit fontScale="92500" lnSpcReduction="10000"/>
          </a:bodyPr>
          <a:lstStyle/>
          <a:p>
            <a:pPr algn="l">
              <a:buNone/>
            </a:pPr>
            <a:r>
              <a:rPr lang="en-US" sz="1400" b="1" dirty="0">
                <a:solidFill>
                  <a:srgbClr val="888888"/>
                </a:solidFill>
              </a:rPr>
              <a:t>FP32  (4 bytes)</a:t>
            </a:r>
          </a:p>
        </p:txBody>
      </p:sp>
      <p:sp>
        <p:nvSpPr>
          <p:cNvPr id="202" name="r202"/>
          <p:cNvSpPr/>
          <p:nvPr/>
        </p:nvSpPr>
        <p:spPr>
          <a:xfrm>
            <a:off x="1143000" y="2794000"/>
            <a:ext cx="174625" cy="558800"/>
          </a:xfrm>
          <a:prstGeom prst="rect">
            <a:avLst/>
          </a:prstGeom>
          <a:solidFill>
            <a:srgbClr val="C9B3B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3" name="r203"/>
          <p:cNvSpPr/>
          <p:nvPr/>
        </p:nvSpPr>
        <p:spPr>
          <a:xfrm>
            <a:off x="1317625" y="2794000"/>
            <a:ext cx="1397000" cy="558800"/>
          </a:xfrm>
          <a:prstGeom prst="rect">
            <a:avLst/>
          </a:prstGeom>
          <a:solidFill>
            <a:srgbClr val="E0B89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4" name="r204"/>
          <p:cNvSpPr/>
          <p:nvPr/>
        </p:nvSpPr>
        <p:spPr>
          <a:xfrm>
            <a:off x="2714625" y="2794000"/>
            <a:ext cx="4016375" cy="558800"/>
          </a:xfrm>
          <a:prstGeom prst="rect">
            <a:avLst/>
          </a:prstGeom>
          <a:solidFill>
            <a:srgbClr val="BFCF9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5" name="t205"/>
          <p:cNvSpPr txBox="1"/>
          <p:nvPr/>
        </p:nvSpPr>
        <p:spPr>
          <a:xfrm>
            <a:off x="1143000" y="2794000"/>
            <a:ext cx="174625" cy="5588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06" name="t206"/>
          <p:cNvSpPr txBox="1"/>
          <p:nvPr/>
        </p:nvSpPr>
        <p:spPr>
          <a:xfrm>
            <a:off x="1317625" y="2794000"/>
            <a:ext cx="1397000" cy="5588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8 exp</a:t>
            </a:r>
          </a:p>
        </p:txBody>
      </p:sp>
      <p:sp>
        <p:nvSpPr>
          <p:cNvPr id="207" name="t207"/>
          <p:cNvSpPr txBox="1"/>
          <p:nvPr/>
        </p:nvSpPr>
        <p:spPr>
          <a:xfrm>
            <a:off x="2714625" y="2794000"/>
            <a:ext cx="4016375" cy="5588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23 mantissa</a:t>
            </a:r>
          </a:p>
        </p:txBody>
      </p:sp>
      <p:sp>
        <p:nvSpPr>
          <p:cNvPr id="208" name="t208"/>
          <p:cNvSpPr txBox="1"/>
          <p:nvPr/>
        </p:nvSpPr>
        <p:spPr>
          <a:xfrm>
            <a:off x="1143000" y="3759200"/>
            <a:ext cx="5588000" cy="279400"/>
          </a:xfrm>
          <a:prstGeom prst="rect">
            <a:avLst/>
          </a:prstGeom>
          <a:noFill/>
        </p:spPr>
        <p:txBody>
          <a:bodyPr wrap="square" anchor="t">
            <a:normAutofit fontScale="92500" lnSpcReduction="10000"/>
          </a:bodyPr>
          <a:lstStyle/>
          <a:p>
            <a:pPr algn="l">
              <a:buNone/>
            </a:pPr>
            <a:r>
              <a:rPr lang="en-US" sz="1400" b="1" dirty="0">
                <a:solidFill>
                  <a:srgbClr val="83992A"/>
                </a:solidFill>
              </a:rPr>
              <a:t>FP16  (2 bytes)</a:t>
            </a:r>
          </a:p>
        </p:txBody>
      </p:sp>
      <p:sp>
        <p:nvSpPr>
          <p:cNvPr id="209" name="r209"/>
          <p:cNvSpPr/>
          <p:nvPr/>
        </p:nvSpPr>
        <p:spPr>
          <a:xfrm>
            <a:off x="1143000" y="4064000"/>
            <a:ext cx="349250" cy="558800"/>
          </a:xfrm>
          <a:prstGeom prst="rect">
            <a:avLst/>
          </a:prstGeom>
          <a:solidFill>
            <a:srgbClr val="A23C3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10" name="r210"/>
          <p:cNvSpPr/>
          <p:nvPr/>
        </p:nvSpPr>
        <p:spPr>
          <a:xfrm>
            <a:off x="1492250" y="4064000"/>
            <a:ext cx="1746250" cy="558800"/>
          </a:xfrm>
          <a:prstGeom prst="rect">
            <a:avLst/>
          </a:prstGeom>
          <a:solidFill>
            <a:srgbClr val="D9782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11" name="r211"/>
          <p:cNvSpPr/>
          <p:nvPr/>
        </p:nvSpPr>
        <p:spPr>
          <a:xfrm>
            <a:off x="3238500" y="4064000"/>
            <a:ext cx="3492500" cy="558800"/>
          </a:xfrm>
          <a:prstGeom prst="rect">
            <a:avLst/>
          </a:prstGeom>
          <a:solidFill>
            <a:srgbClr val="83992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12" name="t212"/>
          <p:cNvSpPr txBox="1"/>
          <p:nvPr/>
        </p:nvSpPr>
        <p:spPr>
          <a:xfrm>
            <a:off x="1143000" y="4064000"/>
            <a:ext cx="349250" cy="5588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S</a:t>
            </a:r>
          </a:p>
        </p:txBody>
      </p:sp>
      <p:sp>
        <p:nvSpPr>
          <p:cNvPr id="213" name="t213"/>
          <p:cNvSpPr txBox="1"/>
          <p:nvPr/>
        </p:nvSpPr>
        <p:spPr>
          <a:xfrm>
            <a:off x="1492250" y="4064000"/>
            <a:ext cx="1746250" cy="5588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5 exp</a:t>
            </a:r>
          </a:p>
        </p:txBody>
      </p:sp>
      <p:sp>
        <p:nvSpPr>
          <p:cNvPr id="214" name="t214"/>
          <p:cNvSpPr txBox="1"/>
          <p:nvPr/>
        </p:nvSpPr>
        <p:spPr>
          <a:xfrm>
            <a:off x="3238500" y="4064000"/>
            <a:ext cx="3492500" cy="5588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10 mantissa</a:t>
            </a:r>
          </a:p>
        </p:txBody>
      </p:sp>
      <p:sp>
        <p:nvSpPr>
          <p:cNvPr id="215" name="t215"/>
          <p:cNvSpPr txBox="1"/>
          <p:nvPr/>
        </p:nvSpPr>
        <p:spPr>
          <a:xfrm>
            <a:off x="1143000" y="4699000"/>
            <a:ext cx="5588000" cy="508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buNone/>
            </a:pPr>
            <a:r>
              <a:rPr lang="en-US" sz="1400" i="1" dirty="0">
                <a:solidFill>
                  <a:srgbClr val="44709D"/>
                </a:solidFill>
              </a:rPr>
              <a:t>Fewer exponent bits → narrow range: only ±65,504. Values outside overflow to NaN.</a:t>
            </a:r>
          </a:p>
        </p:txBody>
      </p:sp>
      <p:sp>
        <p:nvSpPr>
          <p:cNvPr id="216" name="t216"/>
          <p:cNvSpPr txBox="1"/>
          <p:nvPr/>
        </p:nvSpPr>
        <p:spPr>
          <a:xfrm>
            <a:off x="7112000" y="2489200"/>
            <a:ext cx="3937000" cy="1397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buNone/>
            </a:pPr>
            <a:r>
              <a:rPr lang="en-US" sz="1500" b="1" dirty="0">
                <a:solidFill>
                  <a:srgbClr val="212121"/>
                </a:solidFill>
              </a:rPr>
              <a:t>Key facts</a:t>
            </a:r>
          </a:p>
          <a:p>
            <a:pPr marL="200000" indent="-200000" algn="l">
              <a:spcBef>
                <a:spcPts val="400"/>
              </a:spcBef>
              <a:buFont typeface="Arial"/>
              <a:buChar char="•"/>
            </a:pPr>
            <a:r>
              <a:rPr lang="en-US" sz="1400" dirty="0"/>
              <a:t>1 sign + 5 exponent + 10 mantissa bits</a:t>
            </a:r>
          </a:p>
          <a:p>
            <a:pPr marL="200000" indent="-200000" algn="l">
              <a:spcBef>
                <a:spcPts val="400"/>
              </a:spcBef>
              <a:buFont typeface="Arial"/>
              <a:buChar char="•"/>
            </a:pPr>
            <a:r>
              <a:rPr lang="en-US" sz="1400" dirty="0"/>
              <a:t>Range ±65,504 (much narrower than FP32)</a:t>
            </a:r>
          </a:p>
          <a:p>
            <a:pPr marL="200000" indent="-200000" algn="l">
              <a:spcBef>
                <a:spcPts val="400"/>
              </a:spcBef>
              <a:buFont typeface="Arial"/>
              <a:buChar char="•"/>
            </a:pPr>
            <a:r>
              <a:rPr lang="en-US" sz="1400" dirty="0"/>
              <a:t>Halves memory: 2 bytes per parameter</a:t>
            </a:r>
          </a:p>
        </p:txBody>
      </p:sp>
      <p:sp>
        <p:nvSpPr>
          <p:cNvPr id="217" name="r217"/>
          <p:cNvSpPr/>
          <p:nvPr/>
        </p:nvSpPr>
        <p:spPr>
          <a:xfrm>
            <a:off x="7112000" y="4038600"/>
            <a:ext cx="3937000" cy="965200"/>
          </a:xfrm>
          <a:prstGeom prst="roundRect">
            <a:avLst/>
          </a:prstGeom>
          <a:solidFill>
            <a:srgbClr val="EAF1F6"/>
          </a:solidFill>
          <a:ln w="9525">
            <a:solidFill>
              <a:srgbClr val="44709D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8" name="t218"/>
          <p:cNvSpPr txBox="1"/>
          <p:nvPr/>
        </p:nvSpPr>
        <p:spPr>
          <a:xfrm>
            <a:off x="7289800" y="4140200"/>
            <a:ext cx="3581400" cy="7620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>
              <a:buNone/>
            </a:pPr>
            <a:r>
              <a:rPr lang="en-US" sz="1400" b="1" dirty="0">
                <a:solidFill>
                  <a:srgbClr val="44709D"/>
                </a:solidFill>
              </a:rPr>
              <a:t>Trade-off  </a:t>
            </a:r>
            <a:r>
              <a:rPr lang="en-US" sz="1400" dirty="0"/>
              <a:t>Good precision, but prone to overflow in training — which is why BF16 (next) is usually preferred.</a:t>
            </a:r>
          </a:p>
        </p:txBody>
      </p:sp>
      <p:sp>
        <p:nvSpPr>
          <p:cNvPr id="219" name="r219"/>
          <p:cNvSpPr/>
          <p:nvPr/>
        </p:nvSpPr>
        <p:spPr>
          <a:xfrm>
            <a:off x="1143000" y="5486400"/>
            <a:ext cx="9906000" cy="990600"/>
          </a:xfrm>
          <a:prstGeom prst="rect">
            <a:avLst/>
          </a:prstGeom>
          <a:solidFill>
            <a:srgbClr val="F2F4E8"/>
          </a:solidFill>
          <a:ln w="9525">
            <a:solidFill>
              <a:srgbClr val="83992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20" name="t220"/>
          <p:cNvSpPr txBox="1"/>
          <p:nvPr/>
        </p:nvSpPr>
        <p:spPr>
          <a:xfrm>
            <a:off x="1320800" y="5486400"/>
            <a:ext cx="9550400" cy="9906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>
              <a:buNone/>
            </a:pPr>
            <a:r>
              <a:rPr lang="en-US" sz="1500" b="1" dirty="0">
                <a:solidFill>
                  <a:srgbClr val="83992A"/>
                </a:solidFill>
              </a:rPr>
              <a:t>1-billion-parameter model:  </a:t>
            </a:r>
            <a:r>
              <a:rPr lang="en-US" sz="1500" dirty="0">
                <a:solidFill>
                  <a:srgbClr val="888888"/>
                </a:solidFill>
                <a:latin typeface="Consolas"/>
              </a:rPr>
              <a:t>4 GB → </a:t>
            </a:r>
            <a:r>
              <a:rPr lang="en-US" sz="1700" b="1" dirty="0">
                <a:solidFill>
                  <a:srgbClr val="83992A"/>
                </a:solidFill>
                <a:latin typeface="Consolas"/>
              </a:rPr>
              <a:t>2 GB</a:t>
            </a:r>
            <a:r>
              <a:rPr lang="en-US" sz="1500" dirty="0"/>
              <a:t>  to load  (50% reduction).  Training drops from ~24 GB to ~12 GB of GPU RAM.</a:t>
            </a:r>
          </a:p>
        </p:txBody>
      </p:sp>
    </p:spTree>
    <p:extLst>
      <p:ext uri="{BB962C8B-B14F-4D97-AF65-F5344CB8AC3E}">
        <p14:creationId xmlns:p14="http://schemas.microsoft.com/office/powerpoint/2010/main" val="26703357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C2A07A-B7E5-B2EA-48CD-480DBA5FC2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BF16 — Brain Floating Point</a:t>
            </a:r>
          </a:p>
        </p:txBody>
      </p:sp>
      <p:sp>
        <p:nvSpPr>
          <p:cNvPr id="201" name="t201"/>
          <p:cNvSpPr txBox="1"/>
          <p:nvPr/>
        </p:nvSpPr>
        <p:spPr>
          <a:xfrm>
            <a:off x="1143000" y="2489200"/>
            <a:ext cx="5588000" cy="279400"/>
          </a:xfrm>
          <a:prstGeom prst="rect">
            <a:avLst/>
          </a:prstGeom>
          <a:noFill/>
        </p:spPr>
        <p:txBody>
          <a:bodyPr wrap="square" anchor="t">
            <a:normAutofit fontScale="92500" lnSpcReduction="10000"/>
          </a:bodyPr>
          <a:lstStyle/>
          <a:p>
            <a:pPr algn="l">
              <a:buNone/>
            </a:pPr>
            <a:r>
              <a:rPr lang="en-US" sz="1400" b="1" dirty="0">
                <a:solidFill>
                  <a:srgbClr val="888888"/>
                </a:solidFill>
              </a:rPr>
              <a:t>FP32  (4 bytes)</a:t>
            </a:r>
          </a:p>
        </p:txBody>
      </p:sp>
      <p:sp>
        <p:nvSpPr>
          <p:cNvPr id="202" name="r202"/>
          <p:cNvSpPr/>
          <p:nvPr/>
        </p:nvSpPr>
        <p:spPr>
          <a:xfrm>
            <a:off x="1143000" y="2794000"/>
            <a:ext cx="174625" cy="558800"/>
          </a:xfrm>
          <a:prstGeom prst="rect">
            <a:avLst/>
          </a:prstGeom>
          <a:solidFill>
            <a:srgbClr val="C9B3B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3" name="r203"/>
          <p:cNvSpPr/>
          <p:nvPr/>
        </p:nvSpPr>
        <p:spPr>
          <a:xfrm>
            <a:off x="1317625" y="2794000"/>
            <a:ext cx="1397000" cy="558800"/>
          </a:xfrm>
          <a:prstGeom prst="rect">
            <a:avLst/>
          </a:prstGeom>
          <a:solidFill>
            <a:srgbClr val="E0B89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4" name="r204"/>
          <p:cNvSpPr/>
          <p:nvPr/>
        </p:nvSpPr>
        <p:spPr>
          <a:xfrm>
            <a:off x="2714625" y="2794000"/>
            <a:ext cx="4016375" cy="558800"/>
          </a:xfrm>
          <a:prstGeom prst="rect">
            <a:avLst/>
          </a:prstGeom>
          <a:solidFill>
            <a:srgbClr val="BFCF9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5" name="t205"/>
          <p:cNvSpPr txBox="1"/>
          <p:nvPr/>
        </p:nvSpPr>
        <p:spPr>
          <a:xfrm>
            <a:off x="1143000" y="2794000"/>
            <a:ext cx="174625" cy="5588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06" name="t206"/>
          <p:cNvSpPr txBox="1"/>
          <p:nvPr/>
        </p:nvSpPr>
        <p:spPr>
          <a:xfrm>
            <a:off x="1317625" y="2794000"/>
            <a:ext cx="1397000" cy="5588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8 exp</a:t>
            </a:r>
          </a:p>
        </p:txBody>
      </p:sp>
      <p:sp>
        <p:nvSpPr>
          <p:cNvPr id="207" name="t207"/>
          <p:cNvSpPr txBox="1"/>
          <p:nvPr/>
        </p:nvSpPr>
        <p:spPr>
          <a:xfrm>
            <a:off x="2714625" y="2794000"/>
            <a:ext cx="4016375" cy="5588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23 mantissa</a:t>
            </a:r>
          </a:p>
        </p:txBody>
      </p:sp>
      <p:sp>
        <p:nvSpPr>
          <p:cNvPr id="208" name="t208"/>
          <p:cNvSpPr txBox="1"/>
          <p:nvPr/>
        </p:nvSpPr>
        <p:spPr>
          <a:xfrm>
            <a:off x="1143000" y="3759200"/>
            <a:ext cx="5588000" cy="279400"/>
          </a:xfrm>
          <a:prstGeom prst="rect">
            <a:avLst/>
          </a:prstGeom>
          <a:noFill/>
        </p:spPr>
        <p:txBody>
          <a:bodyPr wrap="square" anchor="t">
            <a:normAutofit fontScale="92500" lnSpcReduction="10000"/>
          </a:bodyPr>
          <a:lstStyle/>
          <a:p>
            <a:pPr algn="l">
              <a:buNone/>
            </a:pPr>
            <a:r>
              <a:rPr lang="en-US" sz="1400" b="1" dirty="0">
                <a:solidFill>
                  <a:srgbClr val="83992A"/>
                </a:solidFill>
              </a:rPr>
              <a:t>BF16  (2 bytes)</a:t>
            </a:r>
          </a:p>
        </p:txBody>
      </p:sp>
      <p:sp>
        <p:nvSpPr>
          <p:cNvPr id="209" name="r209"/>
          <p:cNvSpPr/>
          <p:nvPr/>
        </p:nvSpPr>
        <p:spPr>
          <a:xfrm>
            <a:off x="1143000" y="4064000"/>
            <a:ext cx="349250" cy="558800"/>
          </a:xfrm>
          <a:prstGeom prst="rect">
            <a:avLst/>
          </a:prstGeom>
          <a:solidFill>
            <a:srgbClr val="A23C3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10" name="r210"/>
          <p:cNvSpPr/>
          <p:nvPr/>
        </p:nvSpPr>
        <p:spPr>
          <a:xfrm>
            <a:off x="1492250" y="4064000"/>
            <a:ext cx="2794000" cy="558800"/>
          </a:xfrm>
          <a:prstGeom prst="rect">
            <a:avLst/>
          </a:prstGeom>
          <a:solidFill>
            <a:srgbClr val="D9782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11" name="r211"/>
          <p:cNvSpPr/>
          <p:nvPr/>
        </p:nvSpPr>
        <p:spPr>
          <a:xfrm>
            <a:off x="4286250" y="4064000"/>
            <a:ext cx="2444750" cy="558800"/>
          </a:xfrm>
          <a:prstGeom prst="rect">
            <a:avLst/>
          </a:prstGeom>
          <a:solidFill>
            <a:srgbClr val="83992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12" name="t212"/>
          <p:cNvSpPr txBox="1"/>
          <p:nvPr/>
        </p:nvSpPr>
        <p:spPr>
          <a:xfrm>
            <a:off x="1143000" y="4064000"/>
            <a:ext cx="349250" cy="5588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S</a:t>
            </a:r>
          </a:p>
        </p:txBody>
      </p:sp>
      <p:sp>
        <p:nvSpPr>
          <p:cNvPr id="213" name="t213"/>
          <p:cNvSpPr txBox="1"/>
          <p:nvPr/>
        </p:nvSpPr>
        <p:spPr>
          <a:xfrm>
            <a:off x="1492250" y="4064000"/>
            <a:ext cx="2794000" cy="5588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8 exp</a:t>
            </a:r>
          </a:p>
        </p:txBody>
      </p:sp>
      <p:sp>
        <p:nvSpPr>
          <p:cNvPr id="214" name="t214"/>
          <p:cNvSpPr txBox="1"/>
          <p:nvPr/>
        </p:nvSpPr>
        <p:spPr>
          <a:xfrm>
            <a:off x="4286250" y="4064000"/>
            <a:ext cx="2444750" cy="5588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7 mant.</a:t>
            </a:r>
          </a:p>
        </p:txBody>
      </p:sp>
      <p:sp>
        <p:nvSpPr>
          <p:cNvPr id="215" name="t215"/>
          <p:cNvSpPr txBox="1"/>
          <p:nvPr/>
        </p:nvSpPr>
        <p:spPr>
          <a:xfrm>
            <a:off x="1143000" y="4699000"/>
            <a:ext cx="5588000" cy="508000"/>
          </a:xfrm>
          <a:prstGeom prst="rect">
            <a:avLst/>
          </a:prstGeom>
          <a:noFill/>
        </p:spPr>
        <p:txBody>
          <a:bodyPr wrap="square" anchor="t">
            <a:normAutofit lnSpcReduction="10000"/>
          </a:bodyPr>
          <a:lstStyle/>
          <a:p>
            <a:pPr algn="l">
              <a:buNone/>
            </a:pPr>
            <a:r>
              <a:rPr lang="en-US" sz="1400" i="1" dirty="0">
                <a:solidFill>
                  <a:srgbClr val="44709D"/>
                </a:solidFill>
              </a:rPr>
              <a:t>Keeps FP32's full 8-bit exponent → same ±3×10³⁸ range. Truncates mantissa instead (“truncated FP32”).</a:t>
            </a:r>
          </a:p>
        </p:txBody>
      </p:sp>
      <p:sp>
        <p:nvSpPr>
          <p:cNvPr id="216" name="t216"/>
          <p:cNvSpPr txBox="1"/>
          <p:nvPr/>
        </p:nvSpPr>
        <p:spPr>
          <a:xfrm>
            <a:off x="7112000" y="2489200"/>
            <a:ext cx="3937000" cy="1397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buNone/>
            </a:pPr>
            <a:r>
              <a:rPr lang="en-US" sz="1500" b="1" dirty="0">
                <a:solidFill>
                  <a:srgbClr val="212121"/>
                </a:solidFill>
              </a:rPr>
              <a:t>Key facts</a:t>
            </a:r>
          </a:p>
          <a:p>
            <a:pPr marL="200000" indent="-200000" algn="l">
              <a:spcBef>
                <a:spcPts val="400"/>
              </a:spcBef>
              <a:buFont typeface="Arial"/>
              <a:buChar char="•"/>
            </a:pPr>
            <a:r>
              <a:rPr lang="en-US" sz="1400" dirty="0"/>
              <a:t>1 sign + 8 exponent + 7 mantissa bits</a:t>
            </a:r>
          </a:p>
          <a:p>
            <a:pPr marL="200000" indent="-200000" algn="l">
              <a:spcBef>
                <a:spcPts val="400"/>
              </a:spcBef>
              <a:buFont typeface="Arial"/>
              <a:buChar char="•"/>
            </a:pPr>
            <a:r>
              <a:rPr lang="en-US" sz="1400" dirty="0"/>
              <a:t>Same dynamic range as FP32 — far less overflow / NaN</a:t>
            </a:r>
          </a:p>
          <a:p>
            <a:pPr marL="200000" indent="-200000" algn="l">
              <a:spcBef>
                <a:spcPts val="400"/>
              </a:spcBef>
              <a:buFont typeface="Arial"/>
              <a:buChar char="•"/>
            </a:pPr>
            <a:r>
              <a:rPr lang="en-US" sz="1400" dirty="0"/>
              <a:t>Native on NVIDIA A100 &amp; H100</a:t>
            </a:r>
          </a:p>
        </p:txBody>
      </p:sp>
      <p:sp>
        <p:nvSpPr>
          <p:cNvPr id="217" name="r217"/>
          <p:cNvSpPr/>
          <p:nvPr/>
        </p:nvSpPr>
        <p:spPr>
          <a:xfrm>
            <a:off x="7112000" y="4038600"/>
            <a:ext cx="3937000" cy="965200"/>
          </a:xfrm>
          <a:prstGeom prst="roundRect">
            <a:avLst/>
          </a:prstGeom>
          <a:solidFill>
            <a:srgbClr val="EAF1F6"/>
          </a:solidFill>
          <a:ln w="9525">
            <a:solidFill>
              <a:srgbClr val="44709D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8" name="t218"/>
          <p:cNvSpPr txBox="1"/>
          <p:nvPr/>
        </p:nvSpPr>
        <p:spPr>
          <a:xfrm>
            <a:off x="7289800" y="4140200"/>
            <a:ext cx="3581400" cy="7620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>
              <a:buNone/>
            </a:pPr>
            <a:r>
              <a:rPr lang="en-US" sz="1400" b="1" dirty="0">
                <a:solidFill>
                  <a:srgbClr val="44709D"/>
                </a:solidFill>
              </a:rPr>
              <a:t>Real-world  </a:t>
            </a:r>
            <a:r>
              <a:rPr lang="en-US" sz="1400" dirty="0"/>
              <a:t>Models pretrained in BF16 include FLAN-T5, Falcon, and Llama 2. The default for modern LLM training.</a:t>
            </a:r>
          </a:p>
        </p:txBody>
      </p:sp>
      <p:sp>
        <p:nvSpPr>
          <p:cNvPr id="219" name="r219"/>
          <p:cNvSpPr/>
          <p:nvPr/>
        </p:nvSpPr>
        <p:spPr>
          <a:xfrm>
            <a:off x="1143000" y="5486400"/>
            <a:ext cx="9906000" cy="990600"/>
          </a:xfrm>
          <a:prstGeom prst="rect">
            <a:avLst/>
          </a:prstGeom>
          <a:solidFill>
            <a:srgbClr val="F2F4E8"/>
          </a:solidFill>
          <a:ln w="9525">
            <a:solidFill>
              <a:srgbClr val="83992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20" name="t220"/>
          <p:cNvSpPr txBox="1"/>
          <p:nvPr/>
        </p:nvSpPr>
        <p:spPr>
          <a:xfrm>
            <a:off x="1320800" y="5486400"/>
            <a:ext cx="9550400" cy="9906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>
              <a:buNone/>
            </a:pPr>
            <a:r>
              <a:rPr lang="en-US" sz="1500" b="1" dirty="0">
                <a:solidFill>
                  <a:srgbClr val="83992A"/>
                </a:solidFill>
              </a:rPr>
              <a:t>1-billion-parameter model:  </a:t>
            </a:r>
            <a:r>
              <a:rPr lang="en-US" sz="1500" dirty="0">
                <a:solidFill>
                  <a:srgbClr val="888888"/>
                </a:solidFill>
                <a:latin typeface="Consolas"/>
              </a:rPr>
              <a:t>4 GB → </a:t>
            </a:r>
            <a:r>
              <a:rPr lang="en-US" sz="1700" b="1" dirty="0">
                <a:solidFill>
                  <a:srgbClr val="83992A"/>
                </a:solidFill>
                <a:latin typeface="Consolas"/>
              </a:rPr>
              <a:t>2 GB</a:t>
            </a:r>
            <a:r>
              <a:rPr lang="en-US" sz="1500" dirty="0"/>
              <a:t>  to load  (50% reduction)  — same memory as FP16, but more stable training thanks to the wider range.</a:t>
            </a:r>
          </a:p>
        </p:txBody>
      </p:sp>
    </p:spTree>
    <p:extLst>
      <p:ext uri="{BB962C8B-B14F-4D97-AF65-F5344CB8AC3E}">
        <p14:creationId xmlns:p14="http://schemas.microsoft.com/office/powerpoint/2010/main" val="11906810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13BFCD-2ADB-643D-7645-17FE387BA5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FP8 — Configurable 8-bit Float</a:t>
            </a:r>
          </a:p>
        </p:txBody>
      </p:sp>
      <p:sp>
        <p:nvSpPr>
          <p:cNvPr id="201" name="t201"/>
          <p:cNvSpPr txBox="1"/>
          <p:nvPr/>
        </p:nvSpPr>
        <p:spPr>
          <a:xfrm>
            <a:off x="1143000" y="2489200"/>
            <a:ext cx="5588000" cy="279400"/>
          </a:xfrm>
          <a:prstGeom prst="rect">
            <a:avLst/>
          </a:prstGeom>
          <a:noFill/>
        </p:spPr>
        <p:txBody>
          <a:bodyPr wrap="square" anchor="t">
            <a:normAutofit fontScale="92500" lnSpcReduction="10000"/>
          </a:bodyPr>
          <a:lstStyle/>
          <a:p>
            <a:pPr algn="l">
              <a:buNone/>
            </a:pPr>
            <a:r>
              <a:rPr lang="en-US" sz="1400" b="1" dirty="0">
                <a:solidFill>
                  <a:srgbClr val="888888"/>
                </a:solidFill>
              </a:rPr>
              <a:t>FP32  (4 bytes)</a:t>
            </a:r>
          </a:p>
        </p:txBody>
      </p:sp>
      <p:sp>
        <p:nvSpPr>
          <p:cNvPr id="202" name="r202"/>
          <p:cNvSpPr/>
          <p:nvPr/>
        </p:nvSpPr>
        <p:spPr>
          <a:xfrm>
            <a:off x="1143000" y="2794000"/>
            <a:ext cx="174625" cy="558800"/>
          </a:xfrm>
          <a:prstGeom prst="rect">
            <a:avLst/>
          </a:prstGeom>
          <a:solidFill>
            <a:srgbClr val="C9B3B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3" name="r203"/>
          <p:cNvSpPr/>
          <p:nvPr/>
        </p:nvSpPr>
        <p:spPr>
          <a:xfrm>
            <a:off x="1317625" y="2794000"/>
            <a:ext cx="1397000" cy="558800"/>
          </a:xfrm>
          <a:prstGeom prst="rect">
            <a:avLst/>
          </a:prstGeom>
          <a:solidFill>
            <a:srgbClr val="E0B89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4" name="r204"/>
          <p:cNvSpPr/>
          <p:nvPr/>
        </p:nvSpPr>
        <p:spPr>
          <a:xfrm>
            <a:off x="2714625" y="2794000"/>
            <a:ext cx="4016375" cy="558800"/>
          </a:xfrm>
          <a:prstGeom prst="rect">
            <a:avLst/>
          </a:prstGeom>
          <a:solidFill>
            <a:srgbClr val="BFCF9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5" name="t205"/>
          <p:cNvSpPr txBox="1"/>
          <p:nvPr/>
        </p:nvSpPr>
        <p:spPr>
          <a:xfrm>
            <a:off x="1143000" y="2794000"/>
            <a:ext cx="174625" cy="5588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06" name="t206"/>
          <p:cNvSpPr txBox="1"/>
          <p:nvPr/>
        </p:nvSpPr>
        <p:spPr>
          <a:xfrm>
            <a:off x="1317625" y="2794000"/>
            <a:ext cx="1397000" cy="5588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8 exp</a:t>
            </a:r>
          </a:p>
        </p:txBody>
      </p:sp>
      <p:sp>
        <p:nvSpPr>
          <p:cNvPr id="207" name="t207"/>
          <p:cNvSpPr txBox="1"/>
          <p:nvPr/>
        </p:nvSpPr>
        <p:spPr>
          <a:xfrm>
            <a:off x="2714625" y="2794000"/>
            <a:ext cx="4016375" cy="5588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23 mantissa</a:t>
            </a:r>
          </a:p>
        </p:txBody>
      </p:sp>
      <p:sp>
        <p:nvSpPr>
          <p:cNvPr id="208" name="t208"/>
          <p:cNvSpPr txBox="1"/>
          <p:nvPr/>
        </p:nvSpPr>
        <p:spPr>
          <a:xfrm>
            <a:off x="1143000" y="3759200"/>
            <a:ext cx="5588000" cy="279400"/>
          </a:xfrm>
          <a:prstGeom prst="rect">
            <a:avLst/>
          </a:prstGeom>
          <a:noFill/>
        </p:spPr>
        <p:txBody>
          <a:bodyPr wrap="square" anchor="t">
            <a:normAutofit fontScale="92500" lnSpcReduction="10000"/>
          </a:bodyPr>
          <a:lstStyle/>
          <a:p>
            <a:pPr algn="l">
              <a:buNone/>
            </a:pPr>
            <a:r>
              <a:rPr lang="en-US" sz="1400" b="1" dirty="0">
                <a:solidFill>
                  <a:srgbClr val="83992A"/>
                </a:solidFill>
              </a:rPr>
              <a:t>FP8  (1 byte)</a:t>
            </a:r>
          </a:p>
        </p:txBody>
      </p:sp>
      <p:sp>
        <p:nvSpPr>
          <p:cNvPr id="209" name="r209"/>
          <p:cNvSpPr/>
          <p:nvPr/>
        </p:nvSpPr>
        <p:spPr>
          <a:xfrm>
            <a:off x="1143000" y="4064000"/>
            <a:ext cx="698500" cy="558800"/>
          </a:xfrm>
          <a:prstGeom prst="rect">
            <a:avLst/>
          </a:prstGeom>
          <a:solidFill>
            <a:srgbClr val="A23C3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10" name="r210"/>
          <p:cNvSpPr/>
          <p:nvPr/>
        </p:nvSpPr>
        <p:spPr>
          <a:xfrm>
            <a:off x="1841500" y="4064000"/>
            <a:ext cx="4889500" cy="558800"/>
          </a:xfrm>
          <a:prstGeom prst="rect">
            <a:avLst/>
          </a:prstGeom>
          <a:solidFill>
            <a:srgbClr val="3C977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11" name="t211"/>
          <p:cNvSpPr txBox="1"/>
          <p:nvPr/>
        </p:nvSpPr>
        <p:spPr>
          <a:xfrm>
            <a:off x="1143000" y="4064000"/>
            <a:ext cx="698500" cy="5588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S</a:t>
            </a:r>
          </a:p>
        </p:txBody>
      </p:sp>
      <p:sp>
        <p:nvSpPr>
          <p:cNvPr id="212" name="t212"/>
          <p:cNvSpPr txBox="1"/>
          <p:nvPr/>
        </p:nvSpPr>
        <p:spPr>
          <a:xfrm>
            <a:off x="1841500" y="4064000"/>
            <a:ext cx="4889500" cy="5588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7 bits configurable  (exponent ↔ fraction)</a:t>
            </a:r>
          </a:p>
        </p:txBody>
      </p:sp>
      <p:sp>
        <p:nvSpPr>
          <p:cNvPr id="213" name="t213"/>
          <p:cNvSpPr txBox="1"/>
          <p:nvPr/>
        </p:nvSpPr>
        <p:spPr>
          <a:xfrm>
            <a:off x="1143000" y="4699000"/>
            <a:ext cx="5588000" cy="508000"/>
          </a:xfrm>
          <a:prstGeom prst="rect">
            <a:avLst/>
          </a:prstGeom>
          <a:noFill/>
        </p:spPr>
        <p:txBody>
          <a:bodyPr wrap="square" anchor="t">
            <a:normAutofit lnSpcReduction="10000"/>
          </a:bodyPr>
          <a:lstStyle/>
          <a:p>
            <a:pPr algn="l">
              <a:buNone/>
            </a:pPr>
            <a:r>
              <a:rPr lang="en-US" sz="1400" i="1" dirty="0">
                <a:solidFill>
                  <a:srgbClr val="44709D"/>
                </a:solidFill>
              </a:rPr>
              <a:t>You tune the exponent/fraction split per task — training, inference, or post-training quantization.</a:t>
            </a:r>
          </a:p>
        </p:txBody>
      </p:sp>
      <p:sp>
        <p:nvSpPr>
          <p:cNvPr id="214" name="t214"/>
          <p:cNvSpPr txBox="1"/>
          <p:nvPr/>
        </p:nvSpPr>
        <p:spPr>
          <a:xfrm>
            <a:off x="7112000" y="2489200"/>
            <a:ext cx="3937000" cy="1397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buNone/>
            </a:pPr>
            <a:r>
              <a:rPr lang="en-US" sz="1500" b="1" dirty="0">
                <a:solidFill>
                  <a:srgbClr val="212121"/>
                </a:solidFill>
              </a:rPr>
              <a:t>Key facts</a:t>
            </a:r>
          </a:p>
          <a:p>
            <a:pPr marL="200000" indent="-200000" algn="l">
              <a:spcBef>
                <a:spcPts val="400"/>
              </a:spcBef>
              <a:buFont typeface="Arial"/>
              <a:buChar char="•"/>
            </a:pPr>
            <a:r>
              <a:rPr lang="en-US" sz="1400" dirty="0"/>
              <a:t>1 sign + 7 configurable bits = 1 byte</a:t>
            </a:r>
          </a:p>
          <a:p>
            <a:pPr marL="200000" indent="-200000" algn="l">
              <a:spcBef>
                <a:spcPts val="400"/>
              </a:spcBef>
              <a:buFont typeface="Arial"/>
              <a:buChar char="•"/>
            </a:pPr>
            <a:r>
              <a:rPr lang="en-US" sz="1400" dirty="0"/>
              <a:t>Matches BF16/FP16 training quality</a:t>
            </a:r>
          </a:p>
          <a:p>
            <a:pPr marL="200000" indent="-200000" algn="l">
              <a:spcBef>
                <a:spcPts val="400"/>
              </a:spcBef>
              <a:buFont typeface="Arial"/>
              <a:buChar char="•"/>
            </a:pPr>
            <a:r>
              <a:rPr lang="en-US" sz="1400" dirty="0"/>
              <a:t>NVIDIA H100 supports FP8; AWS Trainium calls it cFP8</a:t>
            </a:r>
          </a:p>
        </p:txBody>
      </p:sp>
      <p:sp>
        <p:nvSpPr>
          <p:cNvPr id="215" name="r215"/>
          <p:cNvSpPr/>
          <p:nvPr/>
        </p:nvSpPr>
        <p:spPr>
          <a:xfrm>
            <a:off x="7112000" y="4038600"/>
            <a:ext cx="3937000" cy="965200"/>
          </a:xfrm>
          <a:prstGeom prst="roundRect">
            <a:avLst/>
          </a:prstGeom>
          <a:solidFill>
            <a:srgbClr val="EAF1F6"/>
          </a:solidFill>
          <a:ln w="9525">
            <a:solidFill>
              <a:srgbClr val="44709D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6" name="t216"/>
          <p:cNvSpPr txBox="1"/>
          <p:nvPr/>
        </p:nvSpPr>
        <p:spPr>
          <a:xfrm>
            <a:off x="7289800" y="4140200"/>
            <a:ext cx="3581400" cy="7620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>
              <a:buNone/>
            </a:pPr>
            <a:r>
              <a:rPr lang="en-US" sz="1400" b="1" dirty="0">
                <a:solidFill>
                  <a:srgbClr val="44709D"/>
                </a:solidFill>
              </a:rPr>
              <a:t>Emerging  </a:t>
            </a:r>
            <a:r>
              <a:rPr lang="en-US" sz="1400" dirty="0"/>
              <a:t>Newest option, enabled on H100 / Trainium hardware. Cuts memory another 50% beyond 16-bit and speeds up training.</a:t>
            </a:r>
          </a:p>
        </p:txBody>
      </p:sp>
      <p:sp>
        <p:nvSpPr>
          <p:cNvPr id="217" name="r217"/>
          <p:cNvSpPr/>
          <p:nvPr/>
        </p:nvSpPr>
        <p:spPr>
          <a:xfrm>
            <a:off x="1143000" y="5486400"/>
            <a:ext cx="9906000" cy="990600"/>
          </a:xfrm>
          <a:prstGeom prst="rect">
            <a:avLst/>
          </a:prstGeom>
          <a:solidFill>
            <a:srgbClr val="F2F4E8"/>
          </a:solidFill>
          <a:ln w="9525">
            <a:solidFill>
              <a:srgbClr val="83992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8" name="t218"/>
          <p:cNvSpPr txBox="1"/>
          <p:nvPr/>
        </p:nvSpPr>
        <p:spPr>
          <a:xfrm>
            <a:off x="1320800" y="5486400"/>
            <a:ext cx="9550400" cy="9906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>
              <a:buNone/>
            </a:pPr>
            <a:r>
              <a:rPr lang="en-US" sz="1500" b="1" dirty="0">
                <a:solidFill>
                  <a:srgbClr val="83992A"/>
                </a:solidFill>
              </a:rPr>
              <a:t>1-billion-parameter model:  </a:t>
            </a:r>
            <a:r>
              <a:rPr lang="en-US" sz="1500" dirty="0">
                <a:solidFill>
                  <a:srgbClr val="888888"/>
                </a:solidFill>
                <a:latin typeface="Consolas"/>
              </a:rPr>
              <a:t>4 GB → </a:t>
            </a:r>
            <a:r>
              <a:rPr lang="en-US" sz="1700" b="1" dirty="0">
                <a:solidFill>
                  <a:srgbClr val="83992A"/>
                </a:solidFill>
                <a:latin typeface="Consolas"/>
              </a:rPr>
              <a:t>1 GB</a:t>
            </a:r>
            <a:r>
              <a:rPr lang="en-US" sz="1500" dirty="0"/>
              <a:t>  to load  (75% reduction)  — half the footprint of BF16, with comparable training performance.</a:t>
            </a:r>
          </a:p>
        </p:txBody>
      </p:sp>
    </p:spTree>
    <p:extLst>
      <p:ext uri="{BB962C8B-B14F-4D97-AF65-F5344CB8AC3E}">
        <p14:creationId xmlns:p14="http://schemas.microsoft.com/office/powerpoint/2010/main" val="21665666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072E3A-90BF-6F9F-D739-097225B8F9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INT8 — 8-bit Integer Quantization</a:t>
            </a:r>
          </a:p>
        </p:txBody>
      </p:sp>
      <p:sp>
        <p:nvSpPr>
          <p:cNvPr id="201" name="t201"/>
          <p:cNvSpPr txBox="1"/>
          <p:nvPr/>
        </p:nvSpPr>
        <p:spPr>
          <a:xfrm>
            <a:off x="1143000" y="2489200"/>
            <a:ext cx="5588000" cy="279400"/>
          </a:xfrm>
          <a:prstGeom prst="rect">
            <a:avLst/>
          </a:prstGeom>
          <a:noFill/>
        </p:spPr>
        <p:txBody>
          <a:bodyPr wrap="square" anchor="t">
            <a:normAutofit fontScale="92500" lnSpcReduction="10000"/>
          </a:bodyPr>
          <a:lstStyle/>
          <a:p>
            <a:pPr algn="l">
              <a:buNone/>
            </a:pPr>
            <a:r>
              <a:rPr lang="en-US" sz="1400" b="1" dirty="0">
                <a:solidFill>
                  <a:srgbClr val="888888"/>
                </a:solidFill>
              </a:rPr>
              <a:t>FP32  (4 bytes)</a:t>
            </a:r>
          </a:p>
        </p:txBody>
      </p:sp>
      <p:sp>
        <p:nvSpPr>
          <p:cNvPr id="202" name="r202"/>
          <p:cNvSpPr/>
          <p:nvPr/>
        </p:nvSpPr>
        <p:spPr>
          <a:xfrm>
            <a:off x="1143000" y="2794000"/>
            <a:ext cx="174625" cy="558800"/>
          </a:xfrm>
          <a:prstGeom prst="rect">
            <a:avLst/>
          </a:prstGeom>
          <a:solidFill>
            <a:srgbClr val="C9B3B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3" name="r203"/>
          <p:cNvSpPr/>
          <p:nvPr/>
        </p:nvSpPr>
        <p:spPr>
          <a:xfrm>
            <a:off x="1317625" y="2794000"/>
            <a:ext cx="1397000" cy="558800"/>
          </a:xfrm>
          <a:prstGeom prst="rect">
            <a:avLst/>
          </a:prstGeom>
          <a:solidFill>
            <a:srgbClr val="E0B89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4" name="r204"/>
          <p:cNvSpPr/>
          <p:nvPr/>
        </p:nvSpPr>
        <p:spPr>
          <a:xfrm>
            <a:off x="2714625" y="2794000"/>
            <a:ext cx="4016375" cy="558800"/>
          </a:xfrm>
          <a:prstGeom prst="rect">
            <a:avLst/>
          </a:prstGeom>
          <a:solidFill>
            <a:srgbClr val="BFCF9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5" name="t205"/>
          <p:cNvSpPr txBox="1"/>
          <p:nvPr/>
        </p:nvSpPr>
        <p:spPr>
          <a:xfrm>
            <a:off x="1143000" y="2794000"/>
            <a:ext cx="174625" cy="5588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06" name="t206"/>
          <p:cNvSpPr txBox="1"/>
          <p:nvPr/>
        </p:nvSpPr>
        <p:spPr>
          <a:xfrm>
            <a:off x="1317625" y="2794000"/>
            <a:ext cx="1397000" cy="5588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8 exp</a:t>
            </a:r>
          </a:p>
        </p:txBody>
      </p:sp>
      <p:sp>
        <p:nvSpPr>
          <p:cNvPr id="207" name="t207"/>
          <p:cNvSpPr txBox="1"/>
          <p:nvPr/>
        </p:nvSpPr>
        <p:spPr>
          <a:xfrm>
            <a:off x="2714625" y="2794000"/>
            <a:ext cx="4016375" cy="5588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23 mantissa</a:t>
            </a:r>
          </a:p>
        </p:txBody>
      </p:sp>
      <p:sp>
        <p:nvSpPr>
          <p:cNvPr id="208" name="t208"/>
          <p:cNvSpPr txBox="1"/>
          <p:nvPr/>
        </p:nvSpPr>
        <p:spPr>
          <a:xfrm>
            <a:off x="1143000" y="3759200"/>
            <a:ext cx="5588000" cy="279400"/>
          </a:xfrm>
          <a:prstGeom prst="rect">
            <a:avLst/>
          </a:prstGeom>
          <a:noFill/>
        </p:spPr>
        <p:txBody>
          <a:bodyPr wrap="square" anchor="t">
            <a:normAutofit fontScale="92500" lnSpcReduction="10000"/>
          </a:bodyPr>
          <a:lstStyle/>
          <a:p>
            <a:pPr algn="l">
              <a:buNone/>
            </a:pPr>
            <a:r>
              <a:rPr lang="en-US" sz="1400" b="1" dirty="0">
                <a:solidFill>
                  <a:srgbClr val="83992A"/>
                </a:solidFill>
              </a:rPr>
              <a:t>INT8  (1 byte)</a:t>
            </a:r>
          </a:p>
        </p:txBody>
      </p:sp>
      <p:sp>
        <p:nvSpPr>
          <p:cNvPr id="209" name="r209"/>
          <p:cNvSpPr/>
          <p:nvPr/>
        </p:nvSpPr>
        <p:spPr>
          <a:xfrm>
            <a:off x="1143000" y="4064000"/>
            <a:ext cx="698500" cy="558800"/>
          </a:xfrm>
          <a:prstGeom prst="rect">
            <a:avLst/>
          </a:prstGeom>
          <a:solidFill>
            <a:srgbClr val="A23C3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10" name="r210"/>
          <p:cNvSpPr/>
          <p:nvPr/>
        </p:nvSpPr>
        <p:spPr>
          <a:xfrm>
            <a:off x="1841500" y="4064000"/>
            <a:ext cx="4889500" cy="558800"/>
          </a:xfrm>
          <a:prstGeom prst="rect">
            <a:avLst/>
          </a:prstGeom>
          <a:solidFill>
            <a:srgbClr val="44709D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11" name="t211"/>
          <p:cNvSpPr txBox="1"/>
          <p:nvPr/>
        </p:nvSpPr>
        <p:spPr>
          <a:xfrm>
            <a:off x="1143000" y="4064000"/>
            <a:ext cx="698500" cy="5588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S</a:t>
            </a:r>
          </a:p>
        </p:txBody>
      </p:sp>
      <p:sp>
        <p:nvSpPr>
          <p:cNvPr id="212" name="t212"/>
          <p:cNvSpPr txBox="1"/>
          <p:nvPr/>
        </p:nvSpPr>
        <p:spPr>
          <a:xfrm>
            <a:off x="1841500" y="4064000"/>
            <a:ext cx="4889500" cy="5588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7 integer bits  (no exponent, no fraction)</a:t>
            </a:r>
          </a:p>
        </p:txBody>
      </p:sp>
      <p:sp>
        <p:nvSpPr>
          <p:cNvPr id="213" name="t213"/>
          <p:cNvSpPr txBox="1"/>
          <p:nvPr/>
        </p:nvSpPr>
        <p:spPr>
          <a:xfrm>
            <a:off x="1143000" y="4699000"/>
            <a:ext cx="5588000" cy="508000"/>
          </a:xfrm>
          <a:prstGeom prst="rect">
            <a:avLst/>
          </a:prstGeom>
          <a:noFill/>
        </p:spPr>
        <p:txBody>
          <a:bodyPr wrap="square" anchor="t">
            <a:normAutofit lnSpcReduction="10000"/>
          </a:bodyPr>
          <a:lstStyle/>
          <a:p>
            <a:pPr algn="l">
              <a:buNone/>
            </a:pPr>
            <a:r>
              <a:rPr lang="en-US" sz="1400" i="1" dirty="0">
                <a:solidFill>
                  <a:srgbClr val="44709D"/>
                </a:solidFill>
              </a:rPr>
              <a:t>Not a float — a plain integer. Range −128 to +127. Biggest precision loss, but smallest footprint.</a:t>
            </a:r>
          </a:p>
        </p:txBody>
      </p:sp>
      <p:sp>
        <p:nvSpPr>
          <p:cNvPr id="214" name="t214"/>
          <p:cNvSpPr txBox="1"/>
          <p:nvPr/>
        </p:nvSpPr>
        <p:spPr>
          <a:xfrm>
            <a:off x="7112000" y="2489200"/>
            <a:ext cx="3937000" cy="1397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buNone/>
            </a:pPr>
            <a:r>
              <a:rPr lang="en-US" sz="1500" b="1" dirty="0">
                <a:solidFill>
                  <a:srgbClr val="212121"/>
                </a:solidFill>
              </a:rPr>
              <a:t>Key facts</a:t>
            </a:r>
          </a:p>
          <a:p>
            <a:pPr marL="200000" indent="-200000" algn="l">
              <a:spcBef>
                <a:spcPts val="400"/>
              </a:spcBef>
              <a:buFont typeface="Arial"/>
              <a:buChar char="•"/>
            </a:pPr>
            <a:r>
              <a:rPr lang="en-US" sz="1400" dirty="0"/>
              <a:t>1 sign + 7 integer bits = 1 byte</a:t>
            </a:r>
          </a:p>
          <a:p>
            <a:pPr marL="200000" indent="-200000" algn="l">
              <a:spcBef>
                <a:spcPts val="400"/>
              </a:spcBef>
              <a:buFont typeface="Arial"/>
              <a:buChar char="•"/>
            </a:pPr>
            <a:r>
              <a:rPr lang="en-US" sz="1400" dirty="0"/>
              <a:t>Range −128 to +127 (e.g. π → 3)</a:t>
            </a:r>
          </a:p>
          <a:p>
            <a:pPr marL="200000" indent="-200000" algn="l">
              <a:spcBef>
                <a:spcPts val="400"/>
              </a:spcBef>
              <a:buFont typeface="Arial"/>
              <a:buChar char="•"/>
            </a:pPr>
            <a:r>
              <a:rPr lang="en-US" sz="1400" dirty="0"/>
              <a:t>Mainly for inference, not training</a:t>
            </a:r>
          </a:p>
        </p:txBody>
      </p:sp>
      <p:sp>
        <p:nvSpPr>
          <p:cNvPr id="215" name="r215"/>
          <p:cNvSpPr/>
          <p:nvPr/>
        </p:nvSpPr>
        <p:spPr>
          <a:xfrm>
            <a:off x="7112000" y="4038600"/>
            <a:ext cx="3937000" cy="965200"/>
          </a:xfrm>
          <a:prstGeom prst="roundRect">
            <a:avLst/>
          </a:prstGeom>
          <a:solidFill>
            <a:srgbClr val="EAF1F6"/>
          </a:solidFill>
          <a:ln w="9525">
            <a:solidFill>
              <a:srgbClr val="44709D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6" name="t216"/>
          <p:cNvSpPr txBox="1"/>
          <p:nvPr/>
        </p:nvSpPr>
        <p:spPr>
          <a:xfrm>
            <a:off x="7289800" y="4140200"/>
            <a:ext cx="3581400" cy="7620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>
              <a:buNone/>
            </a:pPr>
            <a:r>
              <a:rPr lang="en-US" sz="1400" b="1" dirty="0">
                <a:solidFill>
                  <a:srgbClr val="44709D"/>
                </a:solidFill>
              </a:rPr>
              <a:t>Real-world  </a:t>
            </a:r>
            <a:r>
              <a:rPr lang="en-US" sz="1400" dirty="0"/>
              <a:t>Hugging Face’s bitsandbytes LLM.int8() minimizes accuracy loss, boosting inference throughput on deployed models.</a:t>
            </a:r>
          </a:p>
        </p:txBody>
      </p:sp>
      <p:sp>
        <p:nvSpPr>
          <p:cNvPr id="217" name="r217"/>
          <p:cNvSpPr/>
          <p:nvPr/>
        </p:nvSpPr>
        <p:spPr>
          <a:xfrm>
            <a:off x="1143000" y="5486400"/>
            <a:ext cx="9906000" cy="990600"/>
          </a:xfrm>
          <a:prstGeom prst="rect">
            <a:avLst/>
          </a:prstGeom>
          <a:solidFill>
            <a:srgbClr val="F2F4E8"/>
          </a:solidFill>
          <a:ln w="9525">
            <a:solidFill>
              <a:srgbClr val="83992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8" name="t218"/>
          <p:cNvSpPr txBox="1"/>
          <p:nvPr/>
        </p:nvSpPr>
        <p:spPr>
          <a:xfrm>
            <a:off x="1320800" y="5486400"/>
            <a:ext cx="9550400" cy="9906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>
              <a:buNone/>
            </a:pPr>
            <a:r>
              <a:rPr lang="en-US" sz="1500" b="1" dirty="0">
                <a:solidFill>
                  <a:srgbClr val="83992A"/>
                </a:solidFill>
              </a:rPr>
              <a:t>1-billion-parameter model:  </a:t>
            </a:r>
            <a:r>
              <a:rPr lang="en-US" sz="1500" dirty="0">
                <a:solidFill>
                  <a:srgbClr val="888888"/>
                </a:solidFill>
                <a:latin typeface="Consolas"/>
              </a:rPr>
              <a:t>4 GB → </a:t>
            </a:r>
            <a:r>
              <a:rPr lang="en-US" sz="1700" b="1" dirty="0">
                <a:solidFill>
                  <a:srgbClr val="83992A"/>
                </a:solidFill>
                <a:latin typeface="Consolas"/>
              </a:rPr>
              <a:t>1 GB</a:t>
            </a:r>
            <a:r>
              <a:rPr lang="en-US" sz="1500" dirty="0"/>
              <a:t>  to load  (75% reduction)  — from 4 bytes down to a single byte per parameter.</a:t>
            </a:r>
          </a:p>
        </p:txBody>
      </p:sp>
    </p:spTree>
    <p:extLst>
      <p:ext uri="{BB962C8B-B14F-4D97-AF65-F5344CB8AC3E}">
        <p14:creationId xmlns:p14="http://schemas.microsoft.com/office/powerpoint/2010/main" val="27866532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1476A4-1505-D8D5-C15D-DB5A5F7929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How Quantization Saves Memory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26E7002-E514-468F-9B38-A5308E84D05F}"/>
              </a:ext>
            </a:extLst>
          </p:cNvPr>
          <p:cNvSpPr txBox="1"/>
          <p:nvPr/>
        </p:nvSpPr>
        <p:spPr>
          <a:xfrm>
            <a:off x="1295400" y="2540000"/>
            <a:ext cx="4953000" cy="2200602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>
              <a:buNone/>
            </a:pPr>
            <a:r>
              <a:rPr lang="en-IN" sz="1700" b="1" dirty="0">
                <a:solidFill>
                  <a:srgbClr val="83992A"/>
                </a:solidFill>
              </a:rPr>
              <a:t>The mechanism</a:t>
            </a:r>
          </a:p>
          <a:p>
            <a:pPr marL="285750" indent="-285750">
              <a:buFont typeface="Arial"/>
              <a:buChar char="•"/>
            </a:pPr>
            <a:r>
              <a:rPr lang="en-IN" sz="1600" dirty="0"/>
              <a:t>Compute a scaling factor between the source and target ranges</a:t>
            </a:r>
          </a:p>
          <a:p>
            <a:pPr marL="285750" indent="-285750">
              <a:buFont typeface="Arial"/>
              <a:buChar char="•"/>
            </a:pPr>
            <a:r>
              <a:rPr lang="en-IN" sz="1600" dirty="0"/>
              <a:t>Project high-precision values into the lower-precision set</a:t>
            </a:r>
          </a:p>
          <a:p>
            <a:pPr marL="285750" indent="-285750">
              <a:buFont typeface="Arial"/>
              <a:buChar char="•"/>
            </a:pPr>
            <a:r>
              <a:rPr lang="en-IN" sz="1600" dirty="0"/>
              <a:t>Store the result in reduced precision → less memory, faster training, lower cost</a:t>
            </a:r>
          </a:p>
          <a:p>
            <a:pPr>
              <a:buNone/>
            </a:pPr>
            <a:endParaRPr lang="en-IN" sz="800" dirty="0"/>
          </a:p>
          <a:p>
            <a:pPr marL="285750" indent="-285750">
              <a:buFont typeface="Arial"/>
              <a:buChar char="•"/>
            </a:pPr>
            <a:r>
              <a:rPr lang="en-IN" sz="1600" dirty="0"/>
              <a:t>FP32 → 16-bit: </a:t>
            </a:r>
            <a:r>
              <a:rPr lang="en-IN" sz="1600" b="1" dirty="0"/>
              <a:t>50% memory saved</a:t>
            </a:r>
          </a:p>
          <a:p>
            <a:pPr marL="285750" indent="-285750">
              <a:buFont typeface="Arial"/>
              <a:buChar char="•"/>
            </a:pPr>
            <a:r>
              <a:rPr lang="en-IN" sz="1600" dirty="0"/>
              <a:t>FP32 → INT8: </a:t>
            </a:r>
            <a:r>
              <a:rPr lang="en-IN" sz="1600" b="1" dirty="0"/>
              <a:t>75% memory saved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699C99C-FE92-4A13-95B0-27BAE09B3E7E}"/>
              </a:ext>
            </a:extLst>
          </p:cNvPr>
          <p:cNvSpPr txBox="1"/>
          <p:nvPr/>
        </p:nvSpPr>
        <p:spPr>
          <a:xfrm>
            <a:off x="6604000" y="2489200"/>
            <a:ext cx="4318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IN" sz="1400" b="1">
                <a:solidFill>
                  <a:srgbClr val="44709D"/>
                </a:solidFill>
              </a:rPr>
              <a:t>GPU RAM to load a 1B-param model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CD9083B-BF0B-4302-B1BE-FAD480499E29}"/>
              </a:ext>
            </a:extLst>
          </p:cNvPr>
          <p:cNvSpPr/>
          <p:nvPr/>
        </p:nvSpPr>
        <p:spPr>
          <a:xfrm>
            <a:off x="6858000" y="3302000"/>
            <a:ext cx="1016000" cy="2540000"/>
          </a:xfrm>
          <a:prstGeom prst="rect">
            <a:avLst/>
          </a:prstGeom>
          <a:solidFill>
            <a:srgbClr val="A23C33"/>
          </a:solidFill>
          <a:ln w="1587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3B423D9-0D14-4FCE-A96B-193FBFFDCED6}"/>
              </a:ext>
            </a:extLst>
          </p:cNvPr>
          <p:cNvSpPr txBox="1"/>
          <p:nvPr/>
        </p:nvSpPr>
        <p:spPr>
          <a:xfrm>
            <a:off x="6604000" y="2997200"/>
            <a:ext cx="1524000" cy="279400"/>
          </a:xfrm>
          <a:prstGeom prst="rect">
            <a:avLst/>
          </a:prstGeom>
          <a:noFill/>
        </p:spPr>
        <p:txBody>
          <a:bodyPr vertOverflow="overflow" vert="horz" wrap="none" rtlCol="0" anchor="t">
            <a:spAutoFit/>
          </a:bodyPr>
          <a:lstStyle/>
          <a:p>
            <a:pPr algn="l"/>
            <a:r>
              <a:rPr lang="en-IN" sz="1400" b="1">
                <a:solidFill>
                  <a:srgbClr val="A23C33"/>
                </a:solidFill>
              </a:rPr>
              <a:t>4 GB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51C60B9-383D-4DAC-A357-739004695503}"/>
              </a:ext>
            </a:extLst>
          </p:cNvPr>
          <p:cNvSpPr txBox="1"/>
          <p:nvPr/>
        </p:nvSpPr>
        <p:spPr>
          <a:xfrm>
            <a:off x="6604000" y="5892800"/>
            <a:ext cx="1524000" cy="279400"/>
          </a:xfrm>
          <a:prstGeom prst="rect">
            <a:avLst/>
          </a:prstGeom>
          <a:noFill/>
        </p:spPr>
        <p:txBody>
          <a:bodyPr vertOverflow="overflow" vert="horz" wrap="none" rtlCol="0" anchor="t">
            <a:spAutoFit/>
          </a:bodyPr>
          <a:lstStyle/>
          <a:p>
            <a:pPr algn="l"/>
            <a:r>
              <a:rPr lang="en-IN" sz="1400" b="1"/>
              <a:t>FP32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F96D03A-4AFE-4CC1-9FB2-88C859D9C8C2}"/>
              </a:ext>
            </a:extLst>
          </p:cNvPr>
          <p:cNvSpPr/>
          <p:nvPr/>
        </p:nvSpPr>
        <p:spPr>
          <a:xfrm>
            <a:off x="8382000" y="4572000"/>
            <a:ext cx="1016000" cy="1270000"/>
          </a:xfrm>
          <a:prstGeom prst="rect">
            <a:avLst/>
          </a:prstGeom>
          <a:solidFill>
            <a:srgbClr val="2E7558"/>
          </a:solidFill>
          <a:ln w="1587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0CB3DCD-65FD-4BB3-AFE3-8D0CC2E5774D}"/>
              </a:ext>
            </a:extLst>
          </p:cNvPr>
          <p:cNvSpPr txBox="1"/>
          <p:nvPr/>
        </p:nvSpPr>
        <p:spPr>
          <a:xfrm>
            <a:off x="8128000" y="4267200"/>
            <a:ext cx="1524000" cy="279400"/>
          </a:xfrm>
          <a:prstGeom prst="rect">
            <a:avLst/>
          </a:prstGeom>
          <a:noFill/>
        </p:spPr>
        <p:txBody>
          <a:bodyPr vertOverflow="overflow" vert="horz" wrap="none" rtlCol="0" anchor="t">
            <a:spAutoFit/>
          </a:bodyPr>
          <a:lstStyle/>
          <a:p>
            <a:pPr algn="l"/>
            <a:r>
              <a:rPr lang="en-IN" sz="1400" b="1">
                <a:solidFill>
                  <a:srgbClr val="3C9770"/>
                </a:solidFill>
              </a:rPr>
              <a:t>2 GB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191242C-FE2A-4655-A073-7A270B734E3F}"/>
              </a:ext>
            </a:extLst>
          </p:cNvPr>
          <p:cNvSpPr txBox="1"/>
          <p:nvPr/>
        </p:nvSpPr>
        <p:spPr>
          <a:xfrm>
            <a:off x="8128000" y="5892800"/>
            <a:ext cx="1524000" cy="279400"/>
          </a:xfrm>
          <a:prstGeom prst="rect">
            <a:avLst/>
          </a:prstGeom>
          <a:noFill/>
        </p:spPr>
        <p:txBody>
          <a:bodyPr vertOverflow="overflow" vert="horz" wrap="none" rtlCol="0" anchor="t">
            <a:spAutoFit/>
          </a:bodyPr>
          <a:lstStyle/>
          <a:p>
            <a:pPr algn="l"/>
            <a:r>
              <a:rPr lang="en-IN" sz="1400" b="1"/>
              <a:t>FP16/BF16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639F193-B3C2-47F1-A77E-D4A510911587}"/>
              </a:ext>
            </a:extLst>
          </p:cNvPr>
          <p:cNvSpPr txBox="1"/>
          <p:nvPr/>
        </p:nvSpPr>
        <p:spPr>
          <a:xfrm>
            <a:off x="8128000" y="6172200"/>
            <a:ext cx="1524000" cy="254000"/>
          </a:xfrm>
          <a:prstGeom prst="rect">
            <a:avLst/>
          </a:prstGeom>
          <a:noFill/>
        </p:spPr>
        <p:txBody>
          <a:bodyPr vertOverflow="overflow" vert="horz" wrap="none" rtlCol="0" anchor="t">
            <a:spAutoFit/>
          </a:bodyPr>
          <a:lstStyle/>
          <a:p>
            <a:pPr algn="l"/>
            <a:r>
              <a:rPr lang="en-IN" sz="1300" b="1">
                <a:solidFill>
                  <a:srgbClr val="A23C33"/>
                </a:solidFill>
              </a:rPr>
              <a:t>−50%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6F6A11E-41C6-415F-92DE-555764A5746D}"/>
              </a:ext>
            </a:extLst>
          </p:cNvPr>
          <p:cNvSpPr/>
          <p:nvPr/>
        </p:nvSpPr>
        <p:spPr>
          <a:xfrm>
            <a:off x="9906000" y="5207000"/>
            <a:ext cx="1016000" cy="635000"/>
          </a:xfrm>
          <a:prstGeom prst="rect">
            <a:avLst/>
          </a:prstGeom>
          <a:solidFill>
            <a:srgbClr val="5F6F1F"/>
          </a:solidFill>
          <a:ln w="1587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96D7D6E-3AF2-48E2-8503-4364E84DEE26}"/>
              </a:ext>
            </a:extLst>
          </p:cNvPr>
          <p:cNvSpPr txBox="1"/>
          <p:nvPr/>
        </p:nvSpPr>
        <p:spPr>
          <a:xfrm>
            <a:off x="9652000" y="4902200"/>
            <a:ext cx="1524000" cy="279400"/>
          </a:xfrm>
          <a:prstGeom prst="rect">
            <a:avLst/>
          </a:prstGeom>
          <a:noFill/>
        </p:spPr>
        <p:txBody>
          <a:bodyPr vertOverflow="overflow" vert="horz" wrap="none" rtlCol="0" anchor="t">
            <a:spAutoFit/>
          </a:bodyPr>
          <a:lstStyle/>
          <a:p>
            <a:pPr algn="l"/>
            <a:r>
              <a:rPr lang="en-IN" sz="1400" b="1">
                <a:solidFill>
                  <a:srgbClr val="83992A"/>
                </a:solidFill>
              </a:rPr>
              <a:t>1 GB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FCB1576-1748-4794-BDC6-D01918B2BD24}"/>
              </a:ext>
            </a:extLst>
          </p:cNvPr>
          <p:cNvSpPr txBox="1"/>
          <p:nvPr/>
        </p:nvSpPr>
        <p:spPr>
          <a:xfrm>
            <a:off x="9652000" y="5892800"/>
            <a:ext cx="1524000" cy="279400"/>
          </a:xfrm>
          <a:prstGeom prst="rect">
            <a:avLst/>
          </a:prstGeom>
          <a:noFill/>
        </p:spPr>
        <p:txBody>
          <a:bodyPr vertOverflow="overflow" vert="horz" wrap="none" rtlCol="0" anchor="t">
            <a:spAutoFit/>
          </a:bodyPr>
          <a:lstStyle/>
          <a:p>
            <a:pPr algn="l"/>
            <a:r>
              <a:rPr lang="en-IN" sz="1400" b="1"/>
              <a:t>INT8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954A2CE-2D51-4BB1-A181-A1192B27783C}"/>
              </a:ext>
            </a:extLst>
          </p:cNvPr>
          <p:cNvSpPr txBox="1"/>
          <p:nvPr/>
        </p:nvSpPr>
        <p:spPr>
          <a:xfrm>
            <a:off x="9652000" y="6172200"/>
            <a:ext cx="1524000" cy="254000"/>
          </a:xfrm>
          <a:prstGeom prst="rect">
            <a:avLst/>
          </a:prstGeom>
          <a:noFill/>
        </p:spPr>
        <p:txBody>
          <a:bodyPr vertOverflow="overflow" vert="horz" wrap="none" rtlCol="0" anchor="t">
            <a:spAutoFit/>
          </a:bodyPr>
          <a:lstStyle/>
          <a:p>
            <a:pPr algn="l"/>
            <a:r>
              <a:rPr lang="en-IN" sz="1300" b="1">
                <a:solidFill>
                  <a:srgbClr val="A23C33"/>
                </a:solidFill>
              </a:rPr>
              <a:t>−75%</a:t>
            </a:r>
          </a:p>
        </p:txBody>
      </p:sp>
    </p:spTree>
    <p:extLst>
      <p:ext uri="{BB962C8B-B14F-4D97-AF65-F5344CB8AC3E}">
        <p14:creationId xmlns:p14="http://schemas.microsoft.com/office/powerpoint/2010/main" val="4457289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126636-FD97-F3CE-919E-66C1ED553C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Optimizing the Self-Attention Layers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D35964-5218-EFD6-756F-D622B090445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>
              <a:buNone/>
            </a:pPr>
            <a:r>
              <a:rPr lang="en-IN" sz="1900" b="1" dirty="0">
                <a:solidFill>
                  <a:srgbClr val="83992A"/>
                </a:solidFill>
              </a:rPr>
              <a:t>FlashAttention</a:t>
            </a:r>
          </a:p>
          <a:p>
            <a:pPr marL="285750" indent="-285750">
              <a:buFont typeface="Arial"/>
              <a:buChar char="•"/>
            </a:pPr>
            <a:r>
              <a:rPr lang="en-IN" sz="1500" dirty="0"/>
              <a:t>Self-attention scales </a:t>
            </a:r>
            <a:r>
              <a:rPr lang="en-IN" sz="1500" b="1" dirty="0"/>
              <a:t>quadratically O(n²)</a:t>
            </a:r>
            <a:r>
              <a:rPr lang="en-IN" sz="1500" dirty="0"/>
              <a:t> with input tokens — the bottleneck</a:t>
            </a:r>
          </a:p>
          <a:p>
            <a:pPr marL="285750" indent="-285750">
              <a:buFont typeface="Arial"/>
              <a:buChar char="•"/>
            </a:pPr>
            <a:r>
              <a:rPr lang="en-IN" sz="1500" dirty="0"/>
              <a:t>Cuts reads/writes between slow GPU HBM and fast on-chip SRAM</a:t>
            </a:r>
          </a:p>
          <a:p>
            <a:pPr marL="285750" indent="-285750">
              <a:buFont typeface="Arial"/>
              <a:buChar char="•"/>
            </a:pPr>
            <a:r>
              <a:rPr lang="en-IN" sz="1500" b="1" dirty="0"/>
              <a:t>2–4× faster</a:t>
            </a:r>
            <a:r>
              <a:rPr lang="en-IN" sz="1500" dirty="0"/>
              <a:t>, </a:t>
            </a:r>
            <a:r>
              <a:rPr lang="en-IN" sz="1500" b="1" dirty="0"/>
              <a:t>10–20× less memory</a:t>
            </a:r>
            <a:r>
              <a:rPr lang="en-IN" sz="1500" dirty="0"/>
              <a:t>; reduces O(n²) → </a:t>
            </a:r>
            <a:r>
              <a:rPr lang="en-IN" sz="1500" b="1" dirty="0"/>
              <a:t>O(n)</a:t>
            </a:r>
          </a:p>
          <a:p>
            <a:pPr marL="285750" indent="-285750">
              <a:buFont typeface="Arial"/>
              <a:buChar char="•"/>
            </a:pPr>
            <a:r>
              <a:rPr lang="en-IN" sz="1500" dirty="0"/>
              <a:t>Enables much longer input sequences / larger context windows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6946EC1-66B8-9BD0-CF91-829EC6A48D24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>
              <a:buNone/>
            </a:pPr>
            <a:r>
              <a:rPr lang="en-IN" sz="1900" b="1" dirty="0">
                <a:solidFill>
                  <a:srgbClr val="44709D"/>
                </a:solidFill>
              </a:rPr>
              <a:t>Grouped-Query Attention (GQA)</a:t>
            </a:r>
          </a:p>
          <a:p>
            <a:pPr marL="285750" indent="-285750">
              <a:buFont typeface="Arial"/>
              <a:buChar char="•"/>
            </a:pPr>
            <a:r>
              <a:rPr lang="en-IN" sz="1500" dirty="0"/>
              <a:t>Shares one key (K) and value (V) head per </a:t>
            </a:r>
            <a:r>
              <a:rPr lang="en-IN" sz="1500" b="1" dirty="0"/>
              <a:t>group</a:t>
            </a:r>
            <a:r>
              <a:rPr lang="en-IN" sz="1500" dirty="0"/>
              <a:t> of query (Q) heads</a:t>
            </a:r>
          </a:p>
          <a:p>
            <a:pPr marL="285750" indent="-285750">
              <a:buFont typeface="Arial"/>
              <a:buChar char="•"/>
            </a:pPr>
            <a:r>
              <a:rPr lang="en-IN" sz="1500" dirty="0"/>
              <a:t>Fewer K/V heads → less memory and fewer memory reads/writes</a:t>
            </a:r>
          </a:p>
          <a:p>
            <a:pPr marL="285750" indent="-285750">
              <a:buFont typeface="Arial"/>
              <a:buChar char="•"/>
            </a:pPr>
            <a:r>
              <a:rPr lang="en-IN" sz="1500" dirty="0"/>
              <a:t>Especially useful for long input sequences</a:t>
            </a:r>
          </a:p>
          <a:p>
            <a:pPr marL="285750" indent="-285750">
              <a:buFont typeface="Arial"/>
              <a:buChar char="•"/>
            </a:pPr>
            <a:r>
              <a:rPr lang="en-IN" sz="1500" b="1" dirty="0"/>
              <a:t>Llama 2</a:t>
            </a:r>
            <a:r>
              <a:rPr lang="en-IN" sz="1500" dirty="0"/>
              <a:t> uses GQA to double the context window to </a:t>
            </a:r>
            <a:r>
              <a:rPr lang="en-IN" sz="1500" b="1" dirty="0"/>
              <a:t>4,096 tokens</a:t>
            </a:r>
          </a:p>
        </p:txBody>
      </p:sp>
    </p:spTree>
    <p:extLst>
      <p:ext uri="{BB962C8B-B14F-4D97-AF65-F5344CB8AC3E}">
        <p14:creationId xmlns:p14="http://schemas.microsoft.com/office/powerpoint/2010/main" val="414040135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B5EA7D-0F03-E521-6ED1-DEAE8A8AEE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Distributed Computing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7E7C66-3AEE-5739-1FA0-4492157B91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Scaling training across hundreds or thousands of GPUs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87845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665F48-3E45-EFE1-1FD8-AA9E4CADC4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DDP vs. FSDP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D7026A-4F9D-C263-14BF-0689BFC401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en-IN" sz="2000" b="1" dirty="0">
                <a:solidFill>
                  <a:srgbClr val="3C9770"/>
                </a:solidFill>
              </a:rPr>
              <a:t>DDP — Distributed Data Parallel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092E6B1-3462-284F-6BE7-927FCC162313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285750" indent="-285750">
              <a:buFont typeface="Arial"/>
              <a:buChar char="•"/>
            </a:pPr>
            <a:r>
              <a:rPr lang="en-IN" sz="1500" dirty="0"/>
              <a:t>Use when the model </a:t>
            </a:r>
            <a:r>
              <a:rPr lang="en-IN" sz="1500" b="1" dirty="0"/>
              <a:t>fits on a single GPU</a:t>
            </a:r>
          </a:p>
          <a:p>
            <a:pPr marL="285750" indent="-285750">
              <a:buFont typeface="Arial"/>
              <a:buChar char="•"/>
            </a:pPr>
            <a:r>
              <a:rPr lang="en-IN" sz="1500" dirty="0"/>
              <a:t>A full copy of the model is loaded onto every GPU</a:t>
            </a:r>
          </a:p>
          <a:p>
            <a:pPr marL="285750" indent="-285750">
              <a:buFont typeface="Arial"/>
              <a:buChar char="•"/>
            </a:pPr>
            <a:r>
              <a:rPr lang="en-IN" sz="1500" dirty="0"/>
              <a:t>Data is split into batches across GPUs and processed in parallel</a:t>
            </a:r>
          </a:p>
          <a:p>
            <a:pPr marL="285750" indent="-285750">
              <a:buFont typeface="Arial"/>
              <a:buChar char="•"/>
            </a:pPr>
            <a:r>
              <a:rPr lang="en-IN" sz="1500" dirty="0"/>
              <a:t>Gradients are synchronized (averaged) after each step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338E9EA-5E9F-E24C-FE0A-D99CBDF9476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buNone/>
            </a:pPr>
            <a:r>
              <a:rPr lang="en-IN" sz="2000" b="1" dirty="0">
                <a:solidFill>
                  <a:srgbClr val="A23C33"/>
                </a:solidFill>
              </a:rPr>
              <a:t>FSDP — Fully Sharded Data Parallel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1CAB4A8-7F8B-C3C8-9AEC-7708911CF599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pPr marL="285750" indent="-285750">
              <a:buFont typeface="Arial"/>
              <a:buChar char="•"/>
            </a:pPr>
            <a:r>
              <a:rPr lang="en-IN" sz="1500" dirty="0"/>
              <a:t>Use when the model is </a:t>
            </a:r>
            <a:r>
              <a:rPr lang="en-IN" sz="1500" b="1" dirty="0"/>
              <a:t>too large for one GPU</a:t>
            </a:r>
            <a:r>
              <a:rPr lang="en-IN" sz="1500" dirty="0"/>
              <a:t> (even after quantization)</a:t>
            </a:r>
          </a:p>
          <a:p>
            <a:pPr marL="285750" indent="-285750">
              <a:buFont typeface="Arial"/>
              <a:buChar char="•"/>
            </a:pPr>
            <a:r>
              <a:rPr lang="en-IN" sz="1500" dirty="0"/>
              <a:t>Shards parameters, gradients and optimizer states across GPUs</a:t>
            </a:r>
          </a:p>
          <a:p>
            <a:pPr marL="285750" indent="-285750">
              <a:buFont typeface="Arial"/>
              <a:buChar char="•"/>
            </a:pPr>
            <a:r>
              <a:rPr lang="en-IN" sz="1500" dirty="0"/>
              <a:t>Full layers are rebuilt on demand for each forward/backward pass</a:t>
            </a:r>
          </a:p>
          <a:p>
            <a:pPr marL="285750" indent="-285750">
              <a:buFont typeface="Arial"/>
              <a:buChar char="•"/>
            </a:pPr>
            <a:r>
              <a:rPr lang="en-IN" sz="1500" dirty="0"/>
              <a:t>Based on the </a:t>
            </a:r>
            <a:r>
              <a:rPr lang="en-IN" sz="1500" b="1" dirty="0"/>
              <a:t>ZeRO</a:t>
            </a:r>
            <a:r>
              <a:rPr lang="en-IN" sz="1500" dirty="0"/>
              <a:t> (zero redundancy optimizer) paper</a:t>
            </a:r>
          </a:p>
        </p:txBody>
      </p:sp>
    </p:spTree>
    <p:extLst>
      <p:ext uri="{BB962C8B-B14F-4D97-AF65-F5344CB8AC3E}">
        <p14:creationId xmlns:p14="http://schemas.microsoft.com/office/powerpoint/2010/main" val="106856796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A55E3DA-97C1-E231-0AFF-71A02AEC75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3458" y="755248"/>
            <a:ext cx="5885084" cy="53475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411576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D8D29B1-08A9-80B3-E8C1-1A6EA5D2FD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4794" y="775503"/>
            <a:ext cx="3461856" cy="509286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6488B3D-EE9A-1FA6-4CC0-64F7BA0460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101" y="2350156"/>
            <a:ext cx="6432436" cy="2157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274559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19CD39-C344-9CF5-ED79-F8129A31F8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FSDP &amp; the Three ZeRO Stages</a:t>
            </a:r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9F6A498-B251-4A1C-BFFA-44D3BA98E46E}"/>
              </a:ext>
            </a:extLst>
          </p:cNvPr>
          <p:cNvSpPr txBox="1"/>
          <p:nvPr/>
        </p:nvSpPr>
        <p:spPr>
          <a:xfrm>
            <a:off x="1143000" y="2413000"/>
            <a:ext cx="9906000" cy="457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500" i="1">
                <a:solidFill>
                  <a:srgbClr val="3C9770"/>
                </a:solidFill>
              </a:rPr>
              <a:t>ZeRO (Zero Redundancy Optimizer) progressively shards more of the training state across GPUs to cut memory.</a:t>
            </a:r>
            <a:endParaRPr lang="en-IN" sz="1500" i="1">
              <a:solidFill>
                <a:srgbClr val="3C9770"/>
              </a:solidFill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1AF9CC95-6FC5-41CE-A860-D576E5BFA4EC}"/>
              </a:ext>
            </a:extLst>
          </p:cNvPr>
          <p:cNvSpPr/>
          <p:nvPr/>
        </p:nvSpPr>
        <p:spPr>
          <a:xfrm>
            <a:off x="1143000" y="3111500"/>
            <a:ext cx="3048000" cy="2667000"/>
          </a:xfrm>
          <a:prstGeom prst="roundRect">
            <a:avLst/>
          </a:prstGeom>
          <a:solidFill>
            <a:srgbClr val="F4F2EC"/>
          </a:solidFill>
          <a:ln w="19050" cap="flat" cmpd="sng" algn="ctr">
            <a:solidFill>
              <a:srgbClr val="DEB34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3E123EF-6A18-4AF1-8E1E-E945F814A542}"/>
              </a:ext>
            </a:extLst>
          </p:cNvPr>
          <p:cNvSpPr/>
          <p:nvPr/>
        </p:nvSpPr>
        <p:spPr>
          <a:xfrm>
            <a:off x="1143000" y="3111500"/>
            <a:ext cx="3048000" cy="584200"/>
          </a:xfrm>
          <a:prstGeom prst="rect">
            <a:avLst/>
          </a:prstGeom>
          <a:solidFill>
            <a:srgbClr val="DEB340"/>
          </a:solidFill>
          <a:ln w="1587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59303F6-A71E-4940-97AB-05615877E618}"/>
              </a:ext>
            </a:extLst>
          </p:cNvPr>
          <p:cNvSpPr txBox="1"/>
          <p:nvPr/>
        </p:nvSpPr>
        <p:spPr>
          <a:xfrm>
            <a:off x="1143000" y="3213100"/>
            <a:ext cx="3048000" cy="3810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spAutoFit/>
          </a:bodyPr>
          <a:lstStyle/>
          <a:p>
            <a:pPr algn="l"/>
            <a:r>
              <a:rPr lang="en-IN" b="1">
                <a:solidFill>
                  <a:srgbClr val="FFFFFF"/>
                </a:solidFill>
              </a:rPr>
              <a:t>Stage 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9998C22-8AC8-4395-9A86-B9ACD9BBB03F}"/>
              </a:ext>
            </a:extLst>
          </p:cNvPr>
          <p:cNvSpPr txBox="1"/>
          <p:nvPr/>
        </p:nvSpPr>
        <p:spPr>
          <a:xfrm>
            <a:off x="1320800" y="3848100"/>
            <a:ext cx="2692400" cy="889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IN" sz="1500"/>
              <a:t>Shards optimizer states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DA3E6F4-C92D-4BF7-9A1E-3CCA97D08C12}"/>
              </a:ext>
            </a:extLst>
          </p:cNvPr>
          <p:cNvSpPr txBox="1"/>
          <p:nvPr/>
        </p:nvSpPr>
        <p:spPr>
          <a:xfrm>
            <a:off x="1270000" y="4737100"/>
            <a:ext cx="2794000" cy="508000"/>
          </a:xfrm>
          <a:prstGeom prst="rect">
            <a:avLst/>
          </a:prstGeom>
          <a:noFill/>
        </p:spPr>
        <p:txBody>
          <a:bodyPr vertOverflow="overflow" vert="horz" wrap="none" rtlCol="0" anchor="t">
            <a:spAutoFit/>
          </a:bodyPr>
          <a:lstStyle/>
          <a:p>
            <a:pPr algn="l"/>
            <a:r>
              <a:rPr lang="en-IN" sz="2800" b="1">
                <a:solidFill>
                  <a:srgbClr val="DEB340"/>
                </a:solidFill>
              </a:rPr>
              <a:t>up to 4×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A448309-E372-440B-99E0-E493CDE486A2}"/>
              </a:ext>
            </a:extLst>
          </p:cNvPr>
          <p:cNvSpPr txBox="1"/>
          <p:nvPr/>
        </p:nvSpPr>
        <p:spPr>
          <a:xfrm>
            <a:off x="1270000" y="5245100"/>
            <a:ext cx="2794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IN" sz="1300">
                <a:solidFill>
                  <a:srgbClr val="212121"/>
                </a:solidFill>
              </a:rPr>
              <a:t>memory reduction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1EFD7D76-DC15-4AAC-80E0-E25E8B723725}"/>
              </a:ext>
            </a:extLst>
          </p:cNvPr>
          <p:cNvSpPr/>
          <p:nvPr/>
        </p:nvSpPr>
        <p:spPr>
          <a:xfrm>
            <a:off x="4445000" y="3111500"/>
            <a:ext cx="3048000" cy="2667000"/>
          </a:xfrm>
          <a:prstGeom prst="roundRect">
            <a:avLst/>
          </a:prstGeom>
          <a:solidFill>
            <a:srgbClr val="F4F2EC"/>
          </a:solidFill>
          <a:ln w="19050" cap="flat" cmpd="sng" algn="ctr">
            <a:solidFill>
              <a:srgbClr val="D97828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52E1176-1A43-460D-A061-CD35762181B9}"/>
              </a:ext>
            </a:extLst>
          </p:cNvPr>
          <p:cNvSpPr/>
          <p:nvPr/>
        </p:nvSpPr>
        <p:spPr>
          <a:xfrm>
            <a:off x="4445000" y="3111500"/>
            <a:ext cx="3048000" cy="584200"/>
          </a:xfrm>
          <a:prstGeom prst="rect">
            <a:avLst/>
          </a:prstGeom>
          <a:solidFill>
            <a:srgbClr val="D97828"/>
          </a:solidFill>
          <a:ln w="1587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D1C8230-484C-4BC6-A621-A0A321A0B612}"/>
              </a:ext>
            </a:extLst>
          </p:cNvPr>
          <p:cNvSpPr txBox="1"/>
          <p:nvPr/>
        </p:nvSpPr>
        <p:spPr>
          <a:xfrm>
            <a:off x="4445000" y="3213100"/>
            <a:ext cx="3048000" cy="3810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spAutoFit/>
          </a:bodyPr>
          <a:lstStyle/>
          <a:p>
            <a:pPr algn="l"/>
            <a:r>
              <a:rPr lang="en-IN" b="1">
                <a:solidFill>
                  <a:srgbClr val="FFFFFF"/>
                </a:solidFill>
              </a:rPr>
              <a:t>Stage 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5AEBB2B-9129-42D0-9241-3C7B7300EB1A}"/>
              </a:ext>
            </a:extLst>
          </p:cNvPr>
          <p:cNvSpPr txBox="1"/>
          <p:nvPr/>
        </p:nvSpPr>
        <p:spPr>
          <a:xfrm>
            <a:off x="4622800" y="3848100"/>
            <a:ext cx="2692400" cy="889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IN" sz="1500"/>
              <a:t>Shards optimizer states + gradients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A93AC51-FF49-447F-AFE2-D415296B539E}"/>
              </a:ext>
            </a:extLst>
          </p:cNvPr>
          <p:cNvSpPr txBox="1"/>
          <p:nvPr/>
        </p:nvSpPr>
        <p:spPr>
          <a:xfrm>
            <a:off x="4572000" y="4737100"/>
            <a:ext cx="2794000" cy="508000"/>
          </a:xfrm>
          <a:prstGeom prst="rect">
            <a:avLst/>
          </a:prstGeom>
          <a:noFill/>
        </p:spPr>
        <p:txBody>
          <a:bodyPr vertOverflow="overflow" vert="horz" wrap="none" rtlCol="0" anchor="t">
            <a:spAutoFit/>
          </a:bodyPr>
          <a:lstStyle/>
          <a:p>
            <a:pPr algn="l"/>
            <a:r>
              <a:rPr lang="en-IN" sz="2800" b="1">
                <a:solidFill>
                  <a:srgbClr val="D97828"/>
                </a:solidFill>
              </a:rPr>
              <a:t>up to 8×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1423D65-C46F-4C29-9B3B-6E17E9D77A7B}"/>
              </a:ext>
            </a:extLst>
          </p:cNvPr>
          <p:cNvSpPr txBox="1"/>
          <p:nvPr/>
        </p:nvSpPr>
        <p:spPr>
          <a:xfrm>
            <a:off x="4572000" y="5245100"/>
            <a:ext cx="2794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IN" sz="1300">
                <a:solidFill>
                  <a:srgbClr val="212121"/>
                </a:solidFill>
              </a:rPr>
              <a:t>memory reduction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7AF3E0F1-17D3-4190-8DB1-0DC7551F2866}"/>
              </a:ext>
            </a:extLst>
          </p:cNvPr>
          <p:cNvSpPr/>
          <p:nvPr/>
        </p:nvSpPr>
        <p:spPr>
          <a:xfrm>
            <a:off x="7747000" y="3111500"/>
            <a:ext cx="3048000" cy="2667000"/>
          </a:xfrm>
          <a:prstGeom prst="roundRect">
            <a:avLst/>
          </a:prstGeom>
          <a:solidFill>
            <a:srgbClr val="F4F2EC"/>
          </a:solidFill>
          <a:ln w="19050" cap="flat" cmpd="sng" algn="ctr">
            <a:solidFill>
              <a:srgbClr val="A23C33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E8887AF-C791-4645-97BE-7FB7A43BBBE8}"/>
              </a:ext>
            </a:extLst>
          </p:cNvPr>
          <p:cNvSpPr/>
          <p:nvPr/>
        </p:nvSpPr>
        <p:spPr>
          <a:xfrm>
            <a:off x="7747000" y="3111500"/>
            <a:ext cx="3048000" cy="584200"/>
          </a:xfrm>
          <a:prstGeom prst="rect">
            <a:avLst/>
          </a:prstGeom>
          <a:solidFill>
            <a:srgbClr val="A23C33"/>
          </a:solidFill>
          <a:ln w="1587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00E0006-B42C-4754-9460-E7928436773F}"/>
              </a:ext>
            </a:extLst>
          </p:cNvPr>
          <p:cNvSpPr txBox="1"/>
          <p:nvPr/>
        </p:nvSpPr>
        <p:spPr>
          <a:xfrm>
            <a:off x="7747000" y="3213100"/>
            <a:ext cx="3048000" cy="3810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spAutoFit/>
          </a:bodyPr>
          <a:lstStyle/>
          <a:p>
            <a:pPr algn="l"/>
            <a:r>
              <a:rPr lang="en-IN" b="1">
                <a:solidFill>
                  <a:srgbClr val="FFFFFF"/>
                </a:solidFill>
              </a:rPr>
              <a:t>Stage 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00C1E45-2C64-44AE-A4DE-28C81999B1E2}"/>
              </a:ext>
            </a:extLst>
          </p:cNvPr>
          <p:cNvSpPr txBox="1"/>
          <p:nvPr/>
        </p:nvSpPr>
        <p:spPr>
          <a:xfrm>
            <a:off x="7924800" y="3848100"/>
            <a:ext cx="2692400" cy="889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500"/>
              <a:t>Shards everything — incl. model parameters</a:t>
            </a:r>
            <a:endParaRPr lang="en-IN" sz="150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DC7657C-063B-49F2-BECA-BF44F54CB4D0}"/>
              </a:ext>
            </a:extLst>
          </p:cNvPr>
          <p:cNvSpPr txBox="1"/>
          <p:nvPr/>
        </p:nvSpPr>
        <p:spPr>
          <a:xfrm>
            <a:off x="7874000" y="4737100"/>
            <a:ext cx="2794000" cy="508000"/>
          </a:xfrm>
          <a:prstGeom prst="rect">
            <a:avLst/>
          </a:prstGeom>
          <a:noFill/>
        </p:spPr>
        <p:txBody>
          <a:bodyPr vertOverflow="overflow" vert="horz" wrap="none" rtlCol="0" anchor="t">
            <a:spAutoFit/>
          </a:bodyPr>
          <a:lstStyle/>
          <a:p>
            <a:pPr algn="l"/>
            <a:r>
              <a:rPr lang="en-IN" sz="2800" b="1">
                <a:solidFill>
                  <a:srgbClr val="A23C33"/>
                </a:solidFill>
              </a:rPr>
              <a:t>up to n×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76C8DA2-2E05-4C36-A60D-576C16F132B5}"/>
              </a:ext>
            </a:extLst>
          </p:cNvPr>
          <p:cNvSpPr txBox="1"/>
          <p:nvPr/>
        </p:nvSpPr>
        <p:spPr>
          <a:xfrm>
            <a:off x="7874000" y="5245100"/>
            <a:ext cx="2794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IN" sz="1300">
                <a:solidFill>
                  <a:srgbClr val="212121"/>
                </a:solidFill>
              </a:rPr>
              <a:t>(n = number of GPUs)</a:t>
            </a:r>
          </a:p>
        </p:txBody>
      </p:sp>
    </p:spTree>
    <p:extLst>
      <p:ext uri="{BB962C8B-B14F-4D97-AF65-F5344CB8AC3E}">
        <p14:creationId xmlns:p14="http://schemas.microsoft.com/office/powerpoint/2010/main" val="378992719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33D3979-3CC6-D694-F934-4C0089A59A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2120" y="842057"/>
            <a:ext cx="6207759" cy="451867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D8445D0-F534-3D3F-6ECF-E5467ED0DBFE}"/>
              </a:ext>
            </a:extLst>
          </p:cNvPr>
          <p:cNvSpPr txBox="1"/>
          <p:nvPr/>
        </p:nvSpPr>
        <p:spPr>
          <a:xfrm>
            <a:off x="4278775" y="5480615"/>
            <a:ext cx="82064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Reference from </a:t>
            </a:r>
            <a:r>
              <a:rPr lang="en-IN" dirty="0" err="1"/>
              <a:t>Pytorch</a:t>
            </a:r>
            <a:r>
              <a:rPr lang="en-IN" dirty="0"/>
              <a:t> FSDP Paper </a:t>
            </a:r>
          </a:p>
        </p:txBody>
      </p:sp>
    </p:spTree>
    <p:extLst>
      <p:ext uri="{BB962C8B-B14F-4D97-AF65-F5344CB8AC3E}">
        <p14:creationId xmlns:p14="http://schemas.microsoft.com/office/powerpoint/2010/main" val="335078513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0319C5-E936-F5B3-B5A2-FCEBB6B082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Distributed Training on AWS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B513FB6-65F7-47BC-BD5A-EF5D6DEA2FA6}"/>
              </a:ext>
            </a:extLst>
          </p:cNvPr>
          <p:cNvSpPr txBox="1"/>
          <p:nvPr/>
        </p:nvSpPr>
        <p:spPr>
          <a:xfrm>
            <a:off x="1295400" y="2540000"/>
            <a:ext cx="5080000" cy="1815882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IN" sz="1600" b="1" dirty="0"/>
              <a:t>Amazon SageMaker</a:t>
            </a:r>
            <a:r>
              <a:rPr lang="en-IN" sz="1600" dirty="0"/>
              <a:t> runs scalable, cost-effective distributed training</a:t>
            </a:r>
          </a:p>
          <a:p>
            <a:pPr marL="285750" indent="-285750">
              <a:buFont typeface="Arial"/>
              <a:buChar char="•"/>
            </a:pPr>
            <a:r>
              <a:rPr lang="en-IN" sz="1600" dirty="0"/>
              <a:t>Launch FSDP with the </a:t>
            </a:r>
            <a:r>
              <a:rPr lang="en-IN" sz="1600" b="1" dirty="0"/>
              <a:t>PyTorch Estimator</a:t>
            </a:r>
            <a:r>
              <a:rPr lang="en-IN" sz="1600" dirty="0"/>
              <a:t> — the sharding factor is just a config parameter</a:t>
            </a:r>
          </a:p>
          <a:p>
            <a:pPr marL="285750" indent="-285750">
              <a:buFont typeface="Arial"/>
              <a:buChar char="•"/>
            </a:pPr>
            <a:r>
              <a:rPr lang="en-IN" sz="1600" dirty="0"/>
              <a:t>Train on </a:t>
            </a:r>
            <a:r>
              <a:rPr lang="en-IN" sz="1600" b="1" dirty="0"/>
              <a:t>AWS Trainium</a:t>
            </a:r>
            <a:r>
              <a:rPr lang="en-IN" sz="1600" dirty="0"/>
              <a:t> via the </a:t>
            </a:r>
            <a:r>
              <a:rPr lang="en-IN" sz="1600" b="1" dirty="0"/>
              <a:t>AWS Neuron SDK</a:t>
            </a:r>
          </a:p>
          <a:p>
            <a:pPr marL="285750" indent="-285750">
              <a:buFont typeface="Arial"/>
              <a:buChar char="•"/>
            </a:pPr>
            <a:r>
              <a:rPr lang="en-IN" sz="1600" dirty="0"/>
              <a:t>Hugging Face </a:t>
            </a:r>
            <a:r>
              <a:rPr lang="en-IN" sz="1600" b="1" dirty="0"/>
              <a:t>Optimum Neuron</a:t>
            </a:r>
            <a:r>
              <a:rPr lang="en-IN" sz="1600" dirty="0"/>
              <a:t> bridges Transformers with the Neuron SDK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689BCDF-F24A-44FB-8B89-D08D83B00200}"/>
              </a:ext>
            </a:extLst>
          </p:cNvPr>
          <p:cNvSpPr txBox="1"/>
          <p:nvPr/>
        </p:nvSpPr>
        <p:spPr>
          <a:xfrm>
            <a:off x="6731000" y="2489200"/>
            <a:ext cx="4191000" cy="330200"/>
          </a:xfrm>
          <a:prstGeom prst="rect">
            <a:avLst/>
          </a:prstGeom>
          <a:noFill/>
        </p:spPr>
        <p:txBody>
          <a:bodyPr vertOverflow="overflow" vert="horz" wrap="none" rtlCol="0" anchor="t">
            <a:spAutoFit/>
          </a:bodyPr>
          <a:lstStyle/>
          <a:p>
            <a:pPr algn="l"/>
            <a:r>
              <a:rPr lang="en-IN" sz="1400" b="1">
                <a:solidFill>
                  <a:srgbClr val="83992A"/>
                </a:solidFill>
              </a:rPr>
              <a:t>Trained on SageMaker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7CD38FA-5737-4412-A4A5-69AD0B8FCECD}"/>
              </a:ext>
            </a:extLst>
          </p:cNvPr>
          <p:cNvSpPr/>
          <p:nvPr/>
        </p:nvSpPr>
        <p:spPr>
          <a:xfrm>
            <a:off x="6731000" y="2895600"/>
            <a:ext cx="4191000" cy="1371600"/>
          </a:xfrm>
          <a:prstGeom prst="roundRect">
            <a:avLst/>
          </a:prstGeom>
          <a:solidFill>
            <a:srgbClr val="44709D"/>
          </a:solidFill>
          <a:ln w="1587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78DDCE3-50F5-4A48-B756-3267C92AFB51}"/>
              </a:ext>
            </a:extLst>
          </p:cNvPr>
          <p:cNvSpPr txBox="1"/>
          <p:nvPr/>
        </p:nvSpPr>
        <p:spPr>
          <a:xfrm>
            <a:off x="6921500" y="3022600"/>
            <a:ext cx="3810000" cy="330200"/>
          </a:xfrm>
          <a:prstGeom prst="rect">
            <a:avLst/>
          </a:prstGeom>
          <a:noFill/>
        </p:spPr>
        <p:txBody>
          <a:bodyPr vertOverflow="overflow" vert="horz" wrap="none" rtlCol="0" anchor="t">
            <a:spAutoFit/>
          </a:bodyPr>
          <a:lstStyle/>
          <a:p>
            <a:pPr algn="l"/>
            <a:r>
              <a:rPr lang="en-IN" b="1">
                <a:solidFill>
                  <a:srgbClr val="FFFFFF"/>
                </a:solidFill>
              </a:rPr>
              <a:t>Falcon-180B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0CDFD92-0FCF-4F7E-858F-986EA12C9676}"/>
              </a:ext>
            </a:extLst>
          </p:cNvPr>
          <p:cNvSpPr txBox="1"/>
          <p:nvPr/>
        </p:nvSpPr>
        <p:spPr>
          <a:xfrm>
            <a:off x="6921500" y="3429000"/>
            <a:ext cx="3810000" cy="304800"/>
          </a:xfrm>
          <a:prstGeom prst="rect">
            <a:avLst/>
          </a:prstGeom>
          <a:noFill/>
        </p:spPr>
        <p:txBody>
          <a:bodyPr vertOverflow="overflow" vert="horz" wrap="none" rtlCol="0" anchor="t">
            <a:spAutoFit/>
          </a:bodyPr>
          <a:lstStyle/>
          <a:p>
            <a:pPr algn="l"/>
            <a:r>
              <a:rPr lang="en-IN" sz="1400">
                <a:solidFill>
                  <a:srgbClr val="FFFFFF"/>
                </a:solidFill>
              </a:rPr>
              <a:t>512 instances · 4,096 A100 GPUs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7D3E9EB-7300-46E1-B70D-DF4C07728A2B}"/>
              </a:ext>
            </a:extLst>
          </p:cNvPr>
          <p:cNvSpPr txBox="1"/>
          <p:nvPr/>
        </p:nvSpPr>
        <p:spPr>
          <a:xfrm>
            <a:off x="6921500" y="3759200"/>
            <a:ext cx="3810000" cy="304800"/>
          </a:xfrm>
          <a:prstGeom prst="rect">
            <a:avLst/>
          </a:prstGeom>
          <a:noFill/>
        </p:spPr>
        <p:txBody>
          <a:bodyPr vertOverflow="overflow" vert="horz" wrap="none" rtlCol="0" anchor="t">
            <a:spAutoFit/>
          </a:bodyPr>
          <a:lstStyle/>
          <a:p>
            <a:pPr algn="l"/>
            <a:r>
              <a:rPr lang="en-US" sz="1400">
                <a:solidFill>
                  <a:srgbClr val="FFFFFF"/>
                </a:solidFill>
              </a:rPr>
              <a:t>≈ 164 TB of GPU RAM</a:t>
            </a:r>
            <a:endParaRPr lang="en-IN" sz="1400">
              <a:solidFill>
                <a:srgbClr val="FFFFFF"/>
              </a:solidFill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75EF9D0C-D440-4FD0-8C2E-584221DC7E24}"/>
              </a:ext>
            </a:extLst>
          </p:cNvPr>
          <p:cNvSpPr/>
          <p:nvPr/>
        </p:nvSpPr>
        <p:spPr>
          <a:xfrm>
            <a:off x="6731000" y="4470400"/>
            <a:ext cx="4191000" cy="1371600"/>
          </a:xfrm>
          <a:prstGeom prst="roundRect">
            <a:avLst/>
          </a:prstGeom>
          <a:solidFill>
            <a:srgbClr val="3C9770"/>
          </a:solidFill>
          <a:ln w="1587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B26C555-4249-4A29-9CB3-9D318F73F5AA}"/>
              </a:ext>
            </a:extLst>
          </p:cNvPr>
          <p:cNvSpPr txBox="1"/>
          <p:nvPr/>
        </p:nvSpPr>
        <p:spPr>
          <a:xfrm>
            <a:off x="6921500" y="4597400"/>
            <a:ext cx="3810000" cy="330200"/>
          </a:xfrm>
          <a:prstGeom prst="rect">
            <a:avLst/>
          </a:prstGeom>
          <a:noFill/>
        </p:spPr>
        <p:txBody>
          <a:bodyPr vertOverflow="overflow" vert="horz" wrap="none" rtlCol="0" anchor="t">
            <a:spAutoFit/>
          </a:bodyPr>
          <a:lstStyle/>
          <a:p>
            <a:pPr algn="l"/>
            <a:r>
              <a:rPr lang="en-IN" b="1">
                <a:solidFill>
                  <a:srgbClr val="FFFFFF"/>
                </a:solidFill>
              </a:rPr>
              <a:t>BloombergGPT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307FB95-47A2-420A-9AA5-C5F5A91FE80C}"/>
              </a:ext>
            </a:extLst>
          </p:cNvPr>
          <p:cNvSpPr txBox="1"/>
          <p:nvPr/>
        </p:nvSpPr>
        <p:spPr>
          <a:xfrm>
            <a:off x="6921500" y="5003800"/>
            <a:ext cx="3810000" cy="304800"/>
          </a:xfrm>
          <a:prstGeom prst="rect">
            <a:avLst/>
          </a:prstGeom>
          <a:noFill/>
        </p:spPr>
        <p:txBody>
          <a:bodyPr vertOverflow="overflow" vert="horz" wrap="none" rtlCol="0" anchor="t">
            <a:spAutoFit/>
          </a:bodyPr>
          <a:lstStyle/>
          <a:p>
            <a:pPr algn="l"/>
            <a:r>
              <a:rPr lang="en-IN" sz="1400">
                <a:solidFill>
                  <a:srgbClr val="FFFFFF"/>
                </a:solidFill>
              </a:rPr>
              <a:t>64 instances · 512 GPUs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EC1370E-7019-4D2C-82F6-ED961F56427B}"/>
              </a:ext>
            </a:extLst>
          </p:cNvPr>
          <p:cNvSpPr txBox="1"/>
          <p:nvPr/>
        </p:nvSpPr>
        <p:spPr>
          <a:xfrm>
            <a:off x="6921500" y="5334000"/>
            <a:ext cx="3810000" cy="304800"/>
          </a:xfrm>
          <a:prstGeom prst="rect">
            <a:avLst/>
          </a:prstGeom>
          <a:noFill/>
        </p:spPr>
        <p:txBody>
          <a:bodyPr vertOverflow="overflow" vert="horz" wrap="none" rtlCol="0" anchor="t">
            <a:spAutoFit/>
          </a:bodyPr>
          <a:lstStyle/>
          <a:p>
            <a:pPr algn="l"/>
            <a:r>
              <a:rPr lang="en-US" sz="1400">
                <a:solidFill>
                  <a:srgbClr val="FFFFFF"/>
                </a:solidFill>
              </a:rPr>
              <a:t>≈ 20 TB of GPU RAM</a:t>
            </a:r>
            <a:endParaRPr lang="en-IN" sz="14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9644196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98F631-8301-CED0-8BC9-D38987CBEF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AWS Services for Distributed Training</a:t>
            </a:r>
          </a:p>
        </p:txBody>
      </p:sp>
      <p:sp>
        <p:nvSpPr>
          <p:cNvPr id="301" name="rr301"/>
          <p:cNvSpPr/>
          <p:nvPr/>
        </p:nvSpPr>
        <p:spPr>
          <a:xfrm>
            <a:off x="1143000" y="2540000"/>
            <a:ext cx="4762500" cy="1905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2E2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02" name="r302"/>
          <p:cNvSpPr/>
          <p:nvPr/>
        </p:nvSpPr>
        <p:spPr>
          <a:xfrm>
            <a:off x="1143000" y="2540000"/>
            <a:ext cx="101600" cy="1905000"/>
          </a:xfrm>
          <a:prstGeom prst="rect">
            <a:avLst/>
          </a:prstGeom>
          <a:solidFill>
            <a:srgbClr val="83992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03" name="t303"/>
          <p:cNvSpPr txBox="1"/>
          <p:nvPr/>
        </p:nvSpPr>
        <p:spPr>
          <a:xfrm>
            <a:off x="1447800" y="2743200"/>
            <a:ext cx="4203700" cy="330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IN" sz="1700" b="1" dirty="0">
                <a:solidFill>
                  <a:srgbClr val="212121"/>
                </a:solidFill>
              </a:rPr>
              <a:t>Amazon SageMaker</a:t>
            </a:r>
          </a:p>
        </p:txBody>
      </p:sp>
      <p:sp>
        <p:nvSpPr>
          <p:cNvPr id="304" name="t304"/>
          <p:cNvSpPr txBox="1"/>
          <p:nvPr/>
        </p:nvSpPr>
        <p:spPr>
          <a:xfrm>
            <a:off x="1447800" y="3098800"/>
            <a:ext cx="4203700" cy="254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IN" sz="1300" b="1" dirty="0">
                <a:solidFill>
                  <a:srgbClr val="83992A"/>
                </a:solidFill>
              </a:rPr>
              <a:t>Managed training platform</a:t>
            </a:r>
          </a:p>
        </p:txBody>
      </p:sp>
      <p:sp>
        <p:nvSpPr>
          <p:cNvPr id="305" name="t305"/>
          <p:cNvSpPr txBox="1"/>
          <p:nvPr/>
        </p:nvSpPr>
        <p:spPr>
          <a:xfrm>
            <a:off x="1447800" y="3429000"/>
            <a:ext cx="4203700" cy="635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IN" sz="1400" dirty="0">
                <a:solidFill>
                  <a:srgbClr val="3A3A3A"/>
                </a:solidFill>
              </a:rPr>
              <a:t>Spins up distributed clusters with a few lines of code; supports DDP and FSDP out of the box.</a:t>
            </a:r>
          </a:p>
        </p:txBody>
      </p:sp>
      <p:sp>
        <p:nvSpPr>
          <p:cNvPr id="306" name="t306"/>
          <p:cNvSpPr txBox="1"/>
          <p:nvPr/>
        </p:nvSpPr>
        <p:spPr>
          <a:xfrm>
            <a:off x="1447800" y="4089400"/>
            <a:ext cx="4203700" cy="254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IN" sz="1300" b="1" dirty="0">
                <a:solidFill>
                  <a:srgbClr val="83992A"/>
                </a:solidFill>
              </a:rPr>
              <a:t>▸ </a:t>
            </a:r>
            <a:r>
              <a:rPr lang="en-IN" sz="1300" b="1" dirty="0">
                <a:solidFill>
                  <a:srgbClr val="212121"/>
                </a:solidFill>
              </a:rPr>
              <a:t>Trained Falcon-180B &amp; BloombergGPT</a:t>
            </a:r>
          </a:p>
        </p:txBody>
      </p:sp>
      <p:sp>
        <p:nvSpPr>
          <p:cNvPr id="307" name="rr307"/>
          <p:cNvSpPr/>
          <p:nvPr/>
        </p:nvSpPr>
        <p:spPr>
          <a:xfrm>
            <a:off x="6286500" y="2540000"/>
            <a:ext cx="4762500" cy="1905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2E2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08" name="r308"/>
          <p:cNvSpPr/>
          <p:nvPr/>
        </p:nvSpPr>
        <p:spPr>
          <a:xfrm>
            <a:off x="6286500" y="2540000"/>
            <a:ext cx="101600" cy="1905000"/>
          </a:xfrm>
          <a:prstGeom prst="rect">
            <a:avLst/>
          </a:prstGeom>
          <a:solidFill>
            <a:srgbClr val="D9782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09" name="t309"/>
          <p:cNvSpPr txBox="1"/>
          <p:nvPr/>
        </p:nvSpPr>
        <p:spPr>
          <a:xfrm>
            <a:off x="6591300" y="2743200"/>
            <a:ext cx="4203700" cy="330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IN" sz="1700" b="1" dirty="0">
                <a:solidFill>
                  <a:srgbClr val="212121"/>
                </a:solidFill>
              </a:rPr>
              <a:t>AWS Trainium</a:t>
            </a:r>
          </a:p>
        </p:txBody>
      </p:sp>
      <p:sp>
        <p:nvSpPr>
          <p:cNvPr id="310" name="t310"/>
          <p:cNvSpPr txBox="1"/>
          <p:nvPr/>
        </p:nvSpPr>
        <p:spPr>
          <a:xfrm>
            <a:off x="6591300" y="3098800"/>
            <a:ext cx="4203700" cy="254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IN" sz="1300" b="1" dirty="0">
                <a:solidFill>
                  <a:srgbClr val="D97828"/>
                </a:solidFill>
              </a:rPr>
              <a:t>Purpose-built ML accelerator</a:t>
            </a:r>
          </a:p>
        </p:txBody>
      </p:sp>
      <p:sp>
        <p:nvSpPr>
          <p:cNvPr id="311" name="t311"/>
          <p:cNvSpPr txBox="1"/>
          <p:nvPr/>
        </p:nvSpPr>
        <p:spPr>
          <a:xfrm>
            <a:off x="6591300" y="3429000"/>
            <a:ext cx="4203700" cy="635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IN" sz="1400" dirty="0">
                <a:solidFill>
                  <a:srgbClr val="3A3A3A"/>
                </a:solidFill>
              </a:rPr>
              <a:t>Custom silicon for high-performance, cost-efficient training of 100B+ parameter models.</a:t>
            </a:r>
          </a:p>
        </p:txBody>
      </p:sp>
      <p:sp>
        <p:nvSpPr>
          <p:cNvPr id="312" name="t312"/>
          <p:cNvSpPr txBox="1"/>
          <p:nvPr/>
        </p:nvSpPr>
        <p:spPr>
          <a:xfrm>
            <a:off x="6591300" y="4089400"/>
            <a:ext cx="4203700" cy="254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IN" sz="1300" b="1" dirty="0">
                <a:solidFill>
                  <a:srgbClr val="D97828"/>
                </a:solidFill>
              </a:rPr>
              <a:t>▸ </a:t>
            </a:r>
            <a:r>
              <a:rPr lang="en-IN" sz="1300" b="1" dirty="0">
                <a:solidFill>
                  <a:srgbClr val="212121"/>
                </a:solidFill>
              </a:rPr>
              <a:t>Up to 16 chips · 512 GB shared memory</a:t>
            </a:r>
          </a:p>
        </p:txBody>
      </p:sp>
      <p:sp>
        <p:nvSpPr>
          <p:cNvPr id="313" name="rr313"/>
          <p:cNvSpPr/>
          <p:nvPr/>
        </p:nvSpPr>
        <p:spPr>
          <a:xfrm>
            <a:off x="1143000" y="4699000"/>
            <a:ext cx="4762500" cy="1905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2E2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14" name="r314"/>
          <p:cNvSpPr/>
          <p:nvPr/>
        </p:nvSpPr>
        <p:spPr>
          <a:xfrm>
            <a:off x="1143000" y="4699000"/>
            <a:ext cx="101600" cy="1905000"/>
          </a:xfrm>
          <a:prstGeom prst="rect">
            <a:avLst/>
          </a:prstGeom>
          <a:solidFill>
            <a:srgbClr val="44709D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15" name="t315"/>
          <p:cNvSpPr txBox="1"/>
          <p:nvPr/>
        </p:nvSpPr>
        <p:spPr>
          <a:xfrm>
            <a:off x="1447800" y="4902200"/>
            <a:ext cx="4203700" cy="330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IN" sz="1700" b="1" dirty="0">
                <a:solidFill>
                  <a:srgbClr val="212121"/>
                </a:solidFill>
              </a:rPr>
              <a:t>AWS Neuron SDK</a:t>
            </a:r>
          </a:p>
        </p:txBody>
      </p:sp>
      <p:sp>
        <p:nvSpPr>
          <p:cNvPr id="316" name="t316"/>
          <p:cNvSpPr txBox="1"/>
          <p:nvPr/>
        </p:nvSpPr>
        <p:spPr>
          <a:xfrm>
            <a:off x="1447800" y="5257800"/>
            <a:ext cx="4203700" cy="254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IN" sz="1300" b="1" dirty="0">
                <a:solidFill>
                  <a:srgbClr val="44709D"/>
                </a:solidFill>
              </a:rPr>
              <a:t>Developer interface to Trainium</a:t>
            </a:r>
          </a:p>
        </p:txBody>
      </p:sp>
      <p:sp>
        <p:nvSpPr>
          <p:cNvPr id="317" name="t317"/>
          <p:cNvSpPr txBox="1"/>
          <p:nvPr/>
        </p:nvSpPr>
        <p:spPr>
          <a:xfrm>
            <a:off x="1447800" y="5588000"/>
            <a:ext cx="4203700" cy="635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IN" sz="1400" dirty="0">
                <a:solidFill>
                  <a:srgbClr val="3A3A3A"/>
                </a:solidFill>
              </a:rPr>
              <a:t>Compiles and runs deep-learning workloads on Trainium hardware via PyTorch &amp; TensorFlow.</a:t>
            </a:r>
          </a:p>
        </p:txBody>
      </p:sp>
      <p:sp>
        <p:nvSpPr>
          <p:cNvPr id="318" name="t318"/>
          <p:cNvSpPr txBox="1"/>
          <p:nvPr/>
        </p:nvSpPr>
        <p:spPr>
          <a:xfrm>
            <a:off x="1447800" y="6248400"/>
            <a:ext cx="4203700" cy="254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IN" sz="1300" b="1" dirty="0">
                <a:solidFill>
                  <a:srgbClr val="44709D"/>
                </a:solidFill>
              </a:rPr>
              <a:t>▸ </a:t>
            </a:r>
            <a:r>
              <a:rPr lang="en-IN" sz="1300" b="1" dirty="0">
                <a:solidFill>
                  <a:srgbClr val="212121"/>
                </a:solidFill>
              </a:rPr>
              <a:t>Optimized for quantization &amp; sharding</a:t>
            </a:r>
          </a:p>
        </p:txBody>
      </p:sp>
      <p:sp>
        <p:nvSpPr>
          <p:cNvPr id="319" name="rr319"/>
          <p:cNvSpPr/>
          <p:nvPr/>
        </p:nvSpPr>
        <p:spPr>
          <a:xfrm>
            <a:off x="6286500" y="4699000"/>
            <a:ext cx="4762500" cy="1905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2E2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20" name="r320"/>
          <p:cNvSpPr/>
          <p:nvPr/>
        </p:nvSpPr>
        <p:spPr>
          <a:xfrm>
            <a:off x="6286500" y="4699000"/>
            <a:ext cx="101600" cy="1905000"/>
          </a:xfrm>
          <a:prstGeom prst="rect">
            <a:avLst/>
          </a:prstGeom>
          <a:solidFill>
            <a:srgbClr val="A23C3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21" name="t321"/>
          <p:cNvSpPr txBox="1"/>
          <p:nvPr/>
        </p:nvSpPr>
        <p:spPr>
          <a:xfrm>
            <a:off x="6591300" y="4902200"/>
            <a:ext cx="4203700" cy="330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IN" sz="1700" b="1" dirty="0">
                <a:solidFill>
                  <a:srgbClr val="212121"/>
                </a:solidFill>
              </a:rPr>
              <a:t>Optimum Neuron</a:t>
            </a:r>
          </a:p>
        </p:txBody>
      </p:sp>
      <p:sp>
        <p:nvSpPr>
          <p:cNvPr id="322" name="t322"/>
          <p:cNvSpPr txBox="1"/>
          <p:nvPr/>
        </p:nvSpPr>
        <p:spPr>
          <a:xfrm>
            <a:off x="6591300" y="5257800"/>
            <a:ext cx="4203700" cy="254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IN" sz="1300" b="1" dirty="0">
                <a:solidFill>
                  <a:srgbClr val="A23C33"/>
                </a:solidFill>
              </a:rPr>
              <a:t>Hugging Face × Neuron bridge</a:t>
            </a:r>
          </a:p>
        </p:txBody>
      </p:sp>
      <p:sp>
        <p:nvSpPr>
          <p:cNvPr id="323" name="t323"/>
          <p:cNvSpPr txBox="1"/>
          <p:nvPr/>
        </p:nvSpPr>
        <p:spPr>
          <a:xfrm>
            <a:off x="6591300" y="5588000"/>
            <a:ext cx="4203700" cy="635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IN" sz="1400" dirty="0">
                <a:solidFill>
                  <a:srgbClr val="3A3A3A"/>
                </a:solidFill>
              </a:rPr>
              <a:t>Connects the Transformers ecosystem to the Neuron SDK with drop-in training classes.</a:t>
            </a:r>
          </a:p>
        </p:txBody>
      </p:sp>
      <p:sp>
        <p:nvSpPr>
          <p:cNvPr id="324" name="t324"/>
          <p:cNvSpPr txBox="1"/>
          <p:nvPr/>
        </p:nvSpPr>
        <p:spPr>
          <a:xfrm>
            <a:off x="6591300" y="6248400"/>
            <a:ext cx="4203700" cy="254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IN" sz="1300" b="1" dirty="0">
                <a:solidFill>
                  <a:srgbClr val="A23C33"/>
                </a:solidFill>
              </a:rPr>
              <a:t>▸ </a:t>
            </a:r>
            <a:r>
              <a:rPr lang="en-IN" sz="1300" b="1" dirty="0">
                <a:solidFill>
                  <a:srgbClr val="212121"/>
                </a:solidFill>
              </a:rPr>
              <a:t>NeuronTrainer replaces Trainer</a:t>
            </a:r>
          </a:p>
        </p:txBody>
      </p:sp>
    </p:spTree>
    <p:extLst>
      <p:ext uri="{BB962C8B-B14F-4D97-AF65-F5344CB8AC3E}">
        <p14:creationId xmlns:p14="http://schemas.microsoft.com/office/powerpoint/2010/main" val="254483778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E8A30E-683D-22EE-3296-03918719E4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Implementing FSDP on SageMaker</a:t>
            </a:r>
          </a:p>
        </p:txBody>
      </p:sp>
      <p:sp>
        <p:nvSpPr>
          <p:cNvPr id="401" name="s401"/>
          <p:cNvSpPr/>
          <p:nvPr/>
        </p:nvSpPr>
        <p:spPr>
          <a:xfrm>
            <a:off x="1143000" y="2540000"/>
            <a:ext cx="5842000" cy="3810000"/>
          </a:xfrm>
          <a:prstGeom prst="roundRect">
            <a:avLst>
              <a:gd name="adj" fmla="val 4000"/>
            </a:avLst>
          </a:prstGeom>
          <a:solidFill>
            <a:srgbClr val="1E2A3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02" name="t402"/>
          <p:cNvSpPr txBox="1"/>
          <p:nvPr/>
        </p:nvSpPr>
        <p:spPr>
          <a:xfrm>
            <a:off x="1371600" y="2692400"/>
            <a:ext cx="5384800" cy="254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IN" sz="1300" b="1" dirty="0">
                <a:solidFill>
                  <a:srgbClr val="8FB339"/>
                </a:solidFill>
              </a:rPr>
              <a:t>PyTorch Estimator - FSDP launch</a:t>
            </a:r>
          </a:p>
        </p:txBody>
      </p:sp>
      <p:sp>
        <p:nvSpPr>
          <p:cNvPr id="403" name="t403"/>
          <p:cNvSpPr txBox="1"/>
          <p:nvPr/>
        </p:nvSpPr>
        <p:spPr>
          <a:xfrm>
            <a:off x="1371600" y="3073400"/>
            <a:ext cx="5384800" cy="3124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spcBef>
                <a:spcPts val="80"/>
              </a:spcBef>
            </a:pPr>
            <a:r>
              <a:rPr lang="en-IN" sz="1250" dirty="0">
                <a:solidFill>
                  <a:srgbClr val="D7DEE3"/>
                </a:solidFill>
                <a:latin typeface="Consolas"/>
              </a:rPr>
              <a:t>from sagemaker.pytorch import PyTorch</a:t>
            </a:r>
          </a:p>
          <a:p>
            <a:pPr algn="l">
              <a:spcBef>
                <a:spcPts val="80"/>
              </a:spcBef>
            </a:pPr>
            <a:r>
              <a:rPr lang="en-IN" sz="1250" dirty="0">
                <a:solidFill>
                  <a:srgbClr val="D7DEE3"/>
                </a:solidFill>
                <a:latin typeface="Consolas"/>
              </a:rPr>
              <a:t> </a:t>
            </a:r>
          </a:p>
          <a:p>
            <a:pPr algn="l">
              <a:spcBef>
                <a:spcPts val="80"/>
              </a:spcBef>
            </a:pPr>
            <a:r>
              <a:rPr lang="en-IN" sz="1250" dirty="0">
                <a:solidFill>
                  <a:srgbClr val="D7DEE3"/>
                </a:solidFill>
                <a:latin typeface="Consolas"/>
              </a:rPr>
              <a:t>estimator = PyTorch(</a:t>
            </a:r>
          </a:p>
          <a:p>
            <a:pPr algn="l">
              <a:spcBef>
                <a:spcPts val="80"/>
              </a:spcBef>
            </a:pPr>
            <a:r>
              <a:rPr lang="en-IN" sz="1250" dirty="0">
                <a:solidFill>
                  <a:srgbClr val="9FB4C0"/>
                </a:solidFill>
                <a:latin typeface="Consolas"/>
              </a:rPr>
              <a:t>  entry_point="train.py",</a:t>
            </a:r>
          </a:p>
          <a:p>
            <a:pPr algn="l">
              <a:spcBef>
                <a:spcPts val="80"/>
              </a:spcBef>
            </a:pPr>
            <a:r>
              <a:rPr lang="en-IN" sz="1250" dirty="0">
                <a:solidFill>
                  <a:srgbClr val="9FB4C0"/>
                </a:solidFill>
                <a:latin typeface="Consolas"/>
              </a:rPr>
              <a:t>  instance_type="ml.p4d.24xlarge",</a:t>
            </a:r>
          </a:p>
          <a:p>
            <a:pPr algn="l">
              <a:spcBef>
                <a:spcPts val="80"/>
              </a:spcBef>
            </a:pPr>
            <a:r>
              <a:rPr lang="en-IN" sz="1250" dirty="0">
                <a:solidFill>
                  <a:srgbClr val="E0A458"/>
                </a:solidFill>
                <a:latin typeface="Consolas"/>
              </a:rPr>
              <a:t>  instance_count=2,</a:t>
            </a:r>
          </a:p>
          <a:p>
            <a:pPr algn="l">
              <a:spcBef>
                <a:spcPts val="80"/>
              </a:spcBef>
            </a:pPr>
            <a:r>
              <a:rPr lang="en-IN" sz="1250" dirty="0">
                <a:solidFill>
                  <a:srgbClr val="9FB4C0"/>
                </a:solidFill>
                <a:latin typeface="Consolas"/>
              </a:rPr>
              <a:t>  distribution={</a:t>
            </a:r>
          </a:p>
          <a:p>
            <a:pPr algn="l">
              <a:spcBef>
                <a:spcPts val="80"/>
              </a:spcBef>
            </a:pPr>
            <a:r>
              <a:rPr lang="en-IN" sz="1250" dirty="0">
                <a:solidFill>
                  <a:srgbClr val="E0A458"/>
                </a:solidFill>
                <a:latin typeface="Consolas"/>
              </a:rPr>
              <a:t>    "fsdp": {</a:t>
            </a:r>
          </a:p>
          <a:p>
            <a:pPr algn="l">
              <a:spcBef>
                <a:spcPts val="80"/>
              </a:spcBef>
            </a:pPr>
            <a:r>
              <a:rPr lang="en-IN" sz="1250" dirty="0">
                <a:solidFill>
                  <a:srgbClr val="E0A458"/>
                </a:solidFill>
                <a:latin typeface="Consolas"/>
              </a:rPr>
              <a:t>      "sharding_factor": 16</a:t>
            </a:r>
          </a:p>
          <a:p>
            <a:pPr algn="l">
              <a:spcBef>
                <a:spcPts val="80"/>
              </a:spcBef>
            </a:pPr>
            <a:r>
              <a:rPr lang="en-IN" sz="1250" dirty="0">
                <a:solidFill>
                  <a:srgbClr val="E0A458"/>
                </a:solidFill>
                <a:latin typeface="Consolas"/>
              </a:rPr>
              <a:t>  }},</a:t>
            </a:r>
          </a:p>
          <a:p>
            <a:pPr algn="l">
              <a:spcBef>
                <a:spcPts val="80"/>
              </a:spcBef>
            </a:pPr>
            <a:r>
              <a:rPr lang="en-IN" sz="1250" dirty="0">
                <a:solidFill>
                  <a:srgbClr val="D7DEE3"/>
                </a:solidFill>
                <a:latin typeface="Consolas"/>
              </a:rPr>
              <a:t>)</a:t>
            </a:r>
          </a:p>
          <a:p>
            <a:pPr algn="l">
              <a:spcBef>
                <a:spcPts val="80"/>
              </a:spcBef>
            </a:pPr>
            <a:r>
              <a:rPr lang="en-IN" sz="1250" dirty="0">
                <a:solidFill>
                  <a:srgbClr val="D7DEE3"/>
                </a:solidFill>
                <a:latin typeface="Consolas"/>
              </a:rPr>
              <a:t>estimator.fit()</a:t>
            </a:r>
          </a:p>
        </p:txBody>
      </p:sp>
      <p:sp>
        <p:nvSpPr>
          <p:cNvPr id="404" name="t404"/>
          <p:cNvSpPr txBox="1"/>
          <p:nvPr/>
        </p:nvSpPr>
        <p:spPr>
          <a:xfrm>
            <a:off x="7302500" y="2540000"/>
            <a:ext cx="3746500" cy="330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IN" sz="1700" b="1" dirty="0">
                <a:solidFill>
                  <a:srgbClr val="44709D"/>
                </a:solidFill>
              </a:rPr>
              <a:t>How it works</a:t>
            </a:r>
          </a:p>
        </p:txBody>
      </p:sp>
      <p:sp>
        <p:nvSpPr>
          <p:cNvPr id="405" name="t405"/>
          <p:cNvSpPr txBox="1"/>
          <p:nvPr/>
        </p:nvSpPr>
        <p:spPr>
          <a:xfrm>
            <a:off x="7302500" y="2997200"/>
            <a:ext cx="3746500" cy="2794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171450" indent="-171450" algn="l">
              <a:buFont typeface="Arial"/>
              <a:buChar char="•"/>
            </a:pPr>
            <a:r>
              <a:rPr lang="en-IN" sz="1450" dirty="0"/>
              <a:t>2 instances × 8 GPUs = </a:t>
            </a:r>
            <a:r>
              <a:rPr lang="en-IN" sz="1450" b="1" dirty="0"/>
              <a:t>320 GB</a:t>
            </a:r>
            <a:r>
              <a:rPr lang="en-IN" sz="1450" dirty="0"/>
              <a:t> of GPU RAM</a:t>
            </a:r>
          </a:p>
          <a:p>
            <a:pPr marL="171450" indent="-171450" algn="l">
              <a:buFont typeface="Arial"/>
              <a:buChar char="•"/>
            </a:pPr>
            <a:r>
              <a:rPr lang="en-IN" sz="1450" dirty="0"/>
              <a:t>The </a:t>
            </a:r>
            <a:r>
              <a:rPr lang="en-IN" sz="1450" b="1" dirty="0">
                <a:solidFill>
                  <a:srgbClr val="83992A"/>
                </a:solidFill>
              </a:rPr>
              <a:t>distribution</a:t>
            </a:r>
            <a:r>
              <a:rPr lang="en-IN" sz="1450" dirty="0"/>
              <a:t> config switches SageMaker to FSDP</a:t>
            </a:r>
          </a:p>
          <a:p>
            <a:pPr marL="171450" indent="-171450" algn="l">
              <a:buFont typeface="Arial"/>
              <a:buChar char="•"/>
            </a:pPr>
            <a:r>
              <a:rPr lang="en-IN" sz="1450" b="1" dirty="0">
                <a:solidFill>
                  <a:srgbClr val="D97828"/>
                </a:solidFill>
              </a:rPr>
              <a:t>sharding_factor</a:t>
            </a:r>
            <a:r>
              <a:rPr lang="en-IN" sz="1450" dirty="0"/>
              <a:t> = total GPUs (16) → </a:t>
            </a:r>
            <a:r>
              <a:rPr lang="en-IN" sz="1450" b="1" dirty="0"/>
              <a:t>full sharding</a:t>
            </a:r>
          </a:p>
          <a:p>
            <a:pPr marL="171450" indent="-171450" algn="l">
              <a:buFont typeface="Arial"/>
              <a:buChar char="•"/>
            </a:pPr>
            <a:r>
              <a:rPr lang="en-IN" sz="1450" b="1" dirty="0">
                <a:latin typeface="Consolas"/>
              </a:rPr>
              <a:t>train.py</a:t>
            </a:r>
            <a:r>
              <a:rPr lang="en-IN" sz="1450" dirty="0"/>
              <a:t> holds the model + training loop (full code in the book's GitHub repo)</a:t>
            </a:r>
          </a:p>
        </p:txBody>
      </p:sp>
      <p:sp>
        <p:nvSpPr>
          <p:cNvPr id="406" name="s406"/>
          <p:cNvSpPr/>
          <p:nvPr/>
        </p:nvSpPr>
        <p:spPr>
          <a:xfrm>
            <a:off x="7302500" y="5918200"/>
            <a:ext cx="3746500" cy="558800"/>
          </a:xfrm>
          <a:prstGeom prst="roundRect">
            <a:avLst>
              <a:gd name="adj" fmla="val 4000"/>
            </a:avLst>
          </a:prstGeom>
          <a:solidFill>
            <a:srgbClr val="EAF1F6"/>
          </a:solidFill>
          <a:ln w="9525">
            <a:solidFill>
              <a:srgbClr val="44709D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07" name="t407"/>
          <p:cNvSpPr txBox="1"/>
          <p:nvPr/>
        </p:nvSpPr>
        <p:spPr>
          <a:xfrm>
            <a:off x="7505700" y="5918200"/>
            <a:ext cx="3390900" cy="5588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/>
            <a:r>
              <a:rPr lang="en-IN" sz="1350" b="1" dirty="0">
                <a:solidFill>
                  <a:srgbClr val="2C4B66"/>
                </a:solidFill>
              </a:rPr>
              <a:t>One config change scales DDP → FSDP</a:t>
            </a:r>
          </a:p>
        </p:txBody>
      </p:sp>
    </p:spTree>
    <p:extLst>
      <p:ext uri="{BB962C8B-B14F-4D97-AF65-F5344CB8AC3E}">
        <p14:creationId xmlns:p14="http://schemas.microsoft.com/office/powerpoint/2010/main" val="268932525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7CB0DD-2310-92A6-A6F7-AE5E388BF9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Training on AWS Trainium</a:t>
            </a:r>
          </a:p>
        </p:txBody>
      </p:sp>
      <p:sp>
        <p:nvSpPr>
          <p:cNvPr id="501" name="s501"/>
          <p:cNvSpPr/>
          <p:nvPr/>
        </p:nvSpPr>
        <p:spPr>
          <a:xfrm>
            <a:off x="1143000" y="2540000"/>
            <a:ext cx="5842000" cy="3810000"/>
          </a:xfrm>
          <a:prstGeom prst="roundRect">
            <a:avLst>
              <a:gd name="adj" fmla="val 4000"/>
            </a:avLst>
          </a:prstGeom>
          <a:solidFill>
            <a:srgbClr val="1E2A3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" name="t502"/>
          <p:cNvSpPr txBox="1"/>
          <p:nvPr/>
        </p:nvSpPr>
        <p:spPr>
          <a:xfrm>
            <a:off x="1371600" y="2692400"/>
            <a:ext cx="5384800" cy="254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IN" sz="1300" b="1" dirty="0">
                <a:solidFill>
                  <a:srgbClr val="E0A458"/>
                </a:solidFill>
              </a:rPr>
              <a:t>Optimum Neuron - drop-in NeuronTrainer</a:t>
            </a:r>
          </a:p>
        </p:txBody>
      </p:sp>
      <p:sp>
        <p:nvSpPr>
          <p:cNvPr id="503" name="t503"/>
          <p:cNvSpPr txBox="1"/>
          <p:nvPr/>
        </p:nvSpPr>
        <p:spPr>
          <a:xfrm>
            <a:off x="1371600" y="3073400"/>
            <a:ext cx="5384800" cy="3124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spcBef>
                <a:spcPts val="70"/>
              </a:spcBef>
            </a:pPr>
            <a:r>
              <a:rPr lang="en-IN" sz="1200" dirty="0">
                <a:solidFill>
                  <a:srgbClr val="9FB4C0"/>
                </a:solidFill>
                <a:latin typeface="Consolas"/>
              </a:rPr>
              <a:t>from optimum.neuron import (</a:t>
            </a:r>
          </a:p>
          <a:p>
            <a:pPr algn="l">
              <a:spcBef>
                <a:spcPts val="70"/>
              </a:spcBef>
            </a:pPr>
            <a:r>
              <a:rPr lang="en-IN" sz="1200" dirty="0">
                <a:solidFill>
                  <a:srgbClr val="E0A458"/>
                </a:solidFill>
                <a:latin typeface="Consolas"/>
              </a:rPr>
              <a:t>    NeuronTrainer,</a:t>
            </a:r>
          </a:p>
          <a:p>
            <a:pPr algn="l">
              <a:spcBef>
                <a:spcPts val="70"/>
              </a:spcBef>
            </a:pPr>
            <a:r>
              <a:rPr lang="en-IN" sz="1200" dirty="0">
                <a:solidFill>
                  <a:srgbClr val="9FB4C0"/>
                </a:solidFill>
                <a:latin typeface="Consolas"/>
              </a:rPr>
              <a:t>    NeuronTrainingArguments)</a:t>
            </a:r>
          </a:p>
          <a:p>
            <a:pPr algn="l">
              <a:spcBef>
                <a:spcPts val="70"/>
              </a:spcBef>
            </a:pPr>
            <a:r>
              <a:rPr lang="en-IN" sz="1200" dirty="0">
                <a:solidFill>
                  <a:srgbClr val="D7DEE3"/>
                </a:solidFill>
                <a:latin typeface="Consolas"/>
              </a:rPr>
              <a:t> </a:t>
            </a:r>
          </a:p>
          <a:p>
            <a:pPr algn="l">
              <a:spcBef>
                <a:spcPts val="70"/>
              </a:spcBef>
            </a:pPr>
            <a:r>
              <a:rPr lang="en-IN" sz="1200" dirty="0">
                <a:solidFill>
                  <a:srgbClr val="D7DEE3"/>
                </a:solidFill>
                <a:latin typeface="Consolas"/>
              </a:rPr>
              <a:t>args = NeuronTrainingArguments(</a:t>
            </a:r>
          </a:p>
          <a:p>
            <a:pPr algn="l">
              <a:spcBef>
                <a:spcPts val="70"/>
              </a:spcBef>
            </a:pPr>
            <a:r>
              <a:rPr lang="en-IN" sz="1200" dirty="0">
                <a:solidFill>
                  <a:srgbClr val="9FB4C0"/>
                </a:solidFill>
                <a:latin typeface="Consolas"/>
              </a:rPr>
              <a:t>  per_device_train_batch_size=8,</a:t>
            </a:r>
          </a:p>
          <a:p>
            <a:pPr algn="l">
              <a:spcBef>
                <a:spcPts val="70"/>
              </a:spcBef>
            </a:pPr>
            <a:r>
              <a:rPr lang="en-IN" sz="1200" dirty="0">
                <a:solidFill>
                  <a:srgbClr val="9FB4C0"/>
                </a:solidFill>
                <a:latin typeface="Consolas"/>
              </a:rPr>
              <a:t>  bf16=True)</a:t>
            </a:r>
          </a:p>
          <a:p>
            <a:pPr algn="l">
              <a:spcBef>
                <a:spcPts val="70"/>
              </a:spcBef>
            </a:pPr>
            <a:r>
              <a:rPr lang="en-IN" sz="1200" dirty="0">
                <a:solidFill>
                  <a:srgbClr val="D7DEE3"/>
                </a:solidFill>
                <a:latin typeface="Consolas"/>
              </a:rPr>
              <a:t> </a:t>
            </a:r>
          </a:p>
          <a:p>
            <a:pPr algn="l">
              <a:spcBef>
                <a:spcPts val="70"/>
              </a:spcBef>
            </a:pPr>
            <a:r>
              <a:rPr lang="en-IN" sz="1200" dirty="0">
                <a:solidFill>
                  <a:srgbClr val="E0A458"/>
                </a:solidFill>
                <a:latin typeface="Consolas"/>
              </a:rPr>
              <a:t>trainer = NeuronTrainer(</a:t>
            </a:r>
          </a:p>
          <a:p>
            <a:pPr algn="l">
              <a:spcBef>
                <a:spcPts val="70"/>
              </a:spcBef>
            </a:pPr>
            <a:r>
              <a:rPr lang="en-IN" sz="1200" dirty="0">
                <a:solidFill>
                  <a:srgbClr val="9FB4C0"/>
                </a:solidFill>
                <a:latin typeface="Consolas"/>
              </a:rPr>
              <a:t>  model=model,</a:t>
            </a:r>
          </a:p>
          <a:p>
            <a:pPr algn="l">
              <a:spcBef>
                <a:spcPts val="70"/>
              </a:spcBef>
            </a:pPr>
            <a:r>
              <a:rPr lang="en-IN" sz="1200" dirty="0">
                <a:solidFill>
                  <a:srgbClr val="9FB4C0"/>
                </a:solidFill>
                <a:latin typeface="Consolas"/>
              </a:rPr>
              <a:t>  args=args,</a:t>
            </a:r>
          </a:p>
          <a:p>
            <a:pPr algn="l">
              <a:spcBef>
                <a:spcPts val="70"/>
              </a:spcBef>
            </a:pPr>
            <a:r>
              <a:rPr lang="en-IN" sz="1200" dirty="0">
                <a:solidFill>
                  <a:srgbClr val="9FB4C0"/>
                </a:solidFill>
                <a:latin typeface="Consolas"/>
              </a:rPr>
              <a:t>  train_dataset=dataset)</a:t>
            </a:r>
          </a:p>
          <a:p>
            <a:pPr algn="l">
              <a:spcBef>
                <a:spcPts val="70"/>
              </a:spcBef>
            </a:pPr>
            <a:r>
              <a:rPr lang="en-IN" sz="1200" dirty="0">
                <a:solidFill>
                  <a:srgbClr val="D7DEE3"/>
                </a:solidFill>
                <a:latin typeface="Consolas"/>
              </a:rPr>
              <a:t>trainer.train()</a:t>
            </a:r>
          </a:p>
        </p:txBody>
      </p:sp>
      <p:sp>
        <p:nvSpPr>
          <p:cNvPr id="504" name="t504"/>
          <p:cNvSpPr txBox="1"/>
          <p:nvPr/>
        </p:nvSpPr>
        <p:spPr>
          <a:xfrm>
            <a:off x="7302500" y="2540000"/>
            <a:ext cx="3746500" cy="330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IN" sz="1700" b="1" dirty="0">
                <a:solidFill>
                  <a:srgbClr val="D97828"/>
                </a:solidFill>
              </a:rPr>
              <a:t>Purpose-built for training</a:t>
            </a:r>
          </a:p>
        </p:txBody>
      </p:sp>
      <p:sp>
        <p:nvSpPr>
          <p:cNvPr id="505" name="t505"/>
          <p:cNvSpPr txBox="1"/>
          <p:nvPr/>
        </p:nvSpPr>
        <p:spPr>
          <a:xfrm>
            <a:off x="7302500" y="2997200"/>
            <a:ext cx="3746500" cy="2794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171450" indent="-171450" algn="l">
              <a:buFont typeface="Arial"/>
              <a:buChar char="•"/>
            </a:pPr>
            <a:r>
              <a:rPr lang="en-IN" sz="1450" b="1" dirty="0">
                <a:solidFill>
                  <a:srgbClr val="D97828"/>
                </a:solidFill>
              </a:rPr>
              <a:t>AWS Trainium</a:t>
            </a:r>
            <a:r>
              <a:rPr lang="en-IN" sz="1450" dirty="0"/>
              <a:t> chips are purpose-built for high-performance, low-cost training</a:t>
            </a:r>
          </a:p>
          <a:p>
            <a:pPr marL="171450" indent="-171450" algn="l">
              <a:buFont typeface="Arial"/>
              <a:buChar char="•"/>
            </a:pPr>
            <a:r>
              <a:rPr lang="en-IN" sz="1450" dirty="0"/>
              <a:t>The </a:t>
            </a:r>
            <a:r>
              <a:rPr lang="en-IN" sz="1450" b="1" dirty="0">
                <a:solidFill>
                  <a:srgbClr val="44709D"/>
                </a:solidFill>
              </a:rPr>
              <a:t>AWS Neuron SDK</a:t>
            </a:r>
            <a:r>
              <a:rPr lang="en-IN" sz="1450" dirty="0"/>
              <a:t> is the developer interface to Trainium hardware</a:t>
            </a:r>
          </a:p>
          <a:p>
            <a:pPr marL="171450" indent="-171450" algn="l">
              <a:buFont typeface="Arial"/>
              <a:buChar char="•"/>
            </a:pPr>
            <a:r>
              <a:rPr lang="en-IN" sz="1450" dirty="0"/>
              <a:t>Hugging Face </a:t>
            </a:r>
            <a:r>
              <a:rPr lang="en-IN" sz="1450" b="1" dirty="0">
                <a:solidFill>
                  <a:srgbClr val="A23C33"/>
                </a:solidFill>
              </a:rPr>
              <a:t>Optimum Neuron</a:t>
            </a:r>
            <a:r>
              <a:rPr lang="en-IN" sz="1450" dirty="0"/>
              <a:t> bridges the Transformers ecosystem to the Neuron SDK</a:t>
            </a:r>
          </a:p>
          <a:p>
            <a:pPr marL="171450" indent="-171450" algn="l">
              <a:buFont typeface="Arial"/>
              <a:buChar char="•"/>
            </a:pPr>
            <a:r>
              <a:rPr lang="en-IN" sz="1450" b="1" dirty="0">
                <a:latin typeface="Consolas"/>
              </a:rPr>
              <a:t>NeuronTrainer</a:t>
            </a:r>
            <a:r>
              <a:rPr lang="en-IN" sz="1450" dirty="0"/>
              <a:t> is a </a:t>
            </a:r>
            <a:r>
              <a:rPr lang="en-IN" sz="1450" b="1" dirty="0"/>
              <a:t>drop-in replacement</a:t>
            </a:r>
            <a:r>
              <a:rPr lang="en-IN" sz="1450" dirty="0"/>
              <a:t> for the Transformers Trainer</a:t>
            </a:r>
          </a:p>
        </p:txBody>
      </p:sp>
      <p:sp>
        <p:nvSpPr>
          <p:cNvPr id="506" name="s506"/>
          <p:cNvSpPr/>
          <p:nvPr/>
        </p:nvSpPr>
        <p:spPr>
          <a:xfrm>
            <a:off x="7302500" y="5918200"/>
            <a:ext cx="3746500" cy="558800"/>
          </a:xfrm>
          <a:prstGeom prst="roundRect">
            <a:avLst>
              <a:gd name="adj" fmla="val 4000"/>
            </a:avLst>
          </a:prstGeom>
          <a:solidFill>
            <a:srgbClr val="FBF0E4"/>
          </a:solidFill>
          <a:ln w="9525">
            <a:solidFill>
              <a:srgbClr val="D9782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07" name="t507"/>
          <p:cNvSpPr txBox="1"/>
          <p:nvPr/>
        </p:nvSpPr>
        <p:spPr>
          <a:xfrm>
            <a:off x="7505700" y="5918200"/>
            <a:ext cx="3390900" cy="5588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/>
            <a:r>
              <a:rPr lang="en-IN" sz="1350" b="1" dirty="0">
                <a:solidFill>
                  <a:srgbClr val="8A4B17"/>
                </a:solidFill>
              </a:rPr>
              <a:t>Same training code → new accelerator</a:t>
            </a:r>
          </a:p>
        </p:txBody>
      </p:sp>
    </p:spTree>
    <p:extLst>
      <p:ext uri="{BB962C8B-B14F-4D97-AF65-F5344CB8AC3E}">
        <p14:creationId xmlns:p14="http://schemas.microsoft.com/office/powerpoint/2010/main" val="320553469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52E423-8149-5960-0F2B-0037C4EFAD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Summary &amp; What's Next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5A93C2-C0F9-A26F-82CD-282C04CC23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1" y="2556932"/>
            <a:ext cx="9601196" cy="2730500"/>
          </a:xfrm>
        </p:spPr>
        <p:txBody>
          <a:bodyPr/>
          <a:lstStyle/>
          <a:p>
            <a:pPr marL="285750" indent="-285750">
              <a:buFont typeface="Arial"/>
              <a:buChar char="•"/>
            </a:pPr>
            <a:r>
              <a:rPr lang="en-IN" sz="1700" dirty="0"/>
              <a:t>Training large models is constrained by </a:t>
            </a:r>
            <a:r>
              <a:rPr lang="en-IN" sz="1700" b="1" dirty="0"/>
              <a:t>GPU memory</a:t>
            </a:r>
            <a:r>
              <a:rPr lang="en-IN" sz="1700" dirty="0"/>
              <a:t> — a 1B-param model needs ~24 GB to train at FP32</a:t>
            </a:r>
          </a:p>
          <a:p>
            <a:pPr marL="285750" indent="-285750">
              <a:buFont typeface="Arial"/>
              <a:buChar char="•"/>
            </a:pPr>
            <a:r>
              <a:rPr lang="en-IN" sz="1700" b="1" dirty="0"/>
              <a:t>Quantization</a:t>
            </a:r>
            <a:r>
              <a:rPr lang="en-IN" sz="1700" dirty="0"/>
              <a:t> lowers precision (BF16, FP8, INT8) to cut memory 50–75%</a:t>
            </a:r>
          </a:p>
          <a:p>
            <a:pPr marL="285750" indent="-285750">
              <a:buFont typeface="Arial"/>
              <a:buChar char="•"/>
            </a:pPr>
            <a:r>
              <a:rPr lang="en-IN" sz="1700" dirty="0"/>
              <a:t>Attention optimizations (</a:t>
            </a:r>
            <a:r>
              <a:rPr lang="en-IN" sz="1700" b="1" dirty="0"/>
              <a:t>FlashAttention</a:t>
            </a:r>
            <a:r>
              <a:rPr lang="en-IN" sz="1700" dirty="0"/>
              <a:t>, </a:t>
            </a:r>
            <a:r>
              <a:rPr lang="en-IN" sz="1700" b="1" dirty="0"/>
              <a:t>GQA</a:t>
            </a:r>
            <a:r>
              <a:rPr lang="en-IN" sz="1700" dirty="0"/>
              <a:t>) speed up and shrink memory</a:t>
            </a:r>
          </a:p>
          <a:p>
            <a:pPr marL="285750" indent="-285750">
              <a:buFont typeface="Arial"/>
              <a:buChar char="•"/>
            </a:pPr>
            <a:r>
              <a:rPr lang="en-IN" sz="1700" b="1" dirty="0"/>
              <a:t>DDP &amp; FSDP</a:t>
            </a:r>
            <a:r>
              <a:rPr lang="en-IN" sz="1700" dirty="0"/>
              <a:t> scale training across many GPUs; AWS SageMaker + Trainium make it practical</a:t>
            </a:r>
          </a:p>
          <a:p>
            <a:pPr marL="285750" indent="-285750">
              <a:buFont typeface="Arial"/>
              <a:buChar char="•"/>
            </a:pPr>
            <a:r>
              <a:rPr lang="en-IN" sz="1700" dirty="0"/>
              <a:t>Combine </a:t>
            </a:r>
            <a:r>
              <a:rPr lang="en-IN" sz="1700" b="1" dirty="0"/>
              <a:t>quantization + distributed computing</a:t>
            </a:r>
            <a:r>
              <a:rPr lang="en-IN" sz="1700" dirty="0"/>
              <a:t> to train very large models efficiently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88D43AFD-A4FE-4A22-870F-87898F6DEC61}"/>
              </a:ext>
            </a:extLst>
          </p:cNvPr>
          <p:cNvSpPr/>
          <p:nvPr/>
        </p:nvSpPr>
        <p:spPr>
          <a:xfrm>
            <a:off x="1295400" y="5562600"/>
            <a:ext cx="9601200" cy="711200"/>
          </a:xfrm>
          <a:prstGeom prst="roundRect">
            <a:avLst/>
          </a:prstGeom>
          <a:solidFill>
            <a:srgbClr val="44709D"/>
          </a:solidFill>
          <a:ln w="1587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US" sz="1700" b="1">
                <a:solidFill>
                  <a:srgbClr val="FFFFFF"/>
                </a:solidFill>
              </a:rPr>
              <a:t>Next — Chapter 5: Fine-tuning foundation models on your own datasets</a:t>
            </a:r>
            <a:endParaRPr lang="en-IN" sz="1700" b="1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4528042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6A19E8DB-9F6A-48CA-9C0F-0EDB6D8F39BF}">
  <we:reference id="wa200010001" version="1.0.0.1" store="en-US" storeType="OMEX"/>
  <we:alternateReferences>
    <we:reference id="wa200010001" version="1.0.0.1" store="" storeType="OMEX"/>
  </we:alternateReferences>
  <we:properties>
    <we:property name="claude.fileId" value="&quot;954b09c9-931d-4abb-a88b-5f8236d23d66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134</TotalTime>
  <Words>1874</Words>
  <Application>Microsoft Office PowerPoint</Application>
  <PresentationFormat>Widescreen</PresentationFormat>
  <Paragraphs>289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0" baseType="lpstr">
      <vt:lpstr>Arial</vt:lpstr>
      <vt:lpstr>Consolas</vt:lpstr>
      <vt:lpstr>Garamond</vt:lpstr>
      <vt:lpstr>Organic</vt:lpstr>
      <vt:lpstr>Lecture 3 (Advanced Generative AI)</vt:lpstr>
      <vt:lpstr>Objectives of Lecture 3</vt:lpstr>
      <vt:lpstr>The Memory Challenge</vt:lpstr>
      <vt:lpstr>Why Models Run Out of Memory</vt:lpstr>
      <vt:lpstr>AWS Trainium — Purpose-Built ML Accelerators</vt:lpstr>
      <vt:lpstr>Data Types &amp; Numerical Precision</vt:lpstr>
      <vt:lpstr>How Numbers Are Stored in Memory</vt:lpstr>
      <vt:lpstr>Comparing Data Types for Quantization</vt:lpstr>
      <vt:lpstr>Quantization</vt:lpstr>
      <vt:lpstr>FP16 — Half Precision</vt:lpstr>
      <vt:lpstr>BF16 — Brain Floating Point</vt:lpstr>
      <vt:lpstr>FP8 — Configurable 8-bit Float</vt:lpstr>
      <vt:lpstr>INT8 — 8-bit Integer Quantization</vt:lpstr>
      <vt:lpstr>How Quantization Saves Memory</vt:lpstr>
      <vt:lpstr>Optimizing the Self-Attention Layers</vt:lpstr>
      <vt:lpstr>Distributed Computing</vt:lpstr>
      <vt:lpstr>DDP vs. FSDP</vt:lpstr>
      <vt:lpstr>PowerPoint Presentation</vt:lpstr>
      <vt:lpstr>PowerPoint Presentation</vt:lpstr>
      <vt:lpstr>FSDP &amp; the Three ZeRO Stages</vt:lpstr>
      <vt:lpstr>PowerPoint Presentation</vt:lpstr>
      <vt:lpstr>Distributed Training on AWS</vt:lpstr>
      <vt:lpstr>AWS Services for Distributed Training</vt:lpstr>
      <vt:lpstr>Implementing FSDP on SageMaker</vt:lpstr>
      <vt:lpstr>Training on AWS Trainium</vt:lpstr>
      <vt:lpstr>Summary &amp; What's Next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dishant gupta</dc:creator>
  <cp:lastModifiedBy>dishant gupta</cp:lastModifiedBy>
  <cp:revision>2</cp:revision>
  <dcterms:created xsi:type="dcterms:W3CDTF">2026-05-31T18:03:03Z</dcterms:created>
  <dcterms:modified xsi:type="dcterms:W3CDTF">2026-06-01T04:28:24Z</dcterms:modified>
</cp:coreProperties>
</file>