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2" r:id="rId5"/>
    <p:sldId id="264" r:id="rId6"/>
    <p:sldId id="265" r:id="rId7"/>
    <p:sldId id="267" r:id="rId8"/>
    <p:sldId id="269" r:id="rId9"/>
    <p:sldId id="278" r:id="rId10"/>
    <p:sldId id="273" r:id="rId11"/>
    <p:sldId id="275" r:id="rId12"/>
    <p:sldId id="281" r:id="rId13"/>
    <p:sldId id="283" r:id="rId14"/>
    <p:sldId id="285" r:id="rId15"/>
    <p:sldId id="292" r:id="rId16"/>
    <p:sldId id="295" r:id="rId17"/>
    <p:sldId id="309" r:id="rId18"/>
    <p:sldId id="304" r:id="rId19"/>
    <p:sldId id="306" r:id="rId20"/>
    <p:sldId id="30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3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ROUGE Scores: Before vs. After Fine-Tuning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ROUGE-1</c:v>
              </c:pt>
              <c:pt idx="1">
                <c:v>ROUGE-2</c:v>
              </c:pt>
              <c:pt idx="2">
                <c:v>ROUGE-L</c:v>
              </c:pt>
            </c:strLit>
          </c:cat>
          <c:val>
            <c:numLit>
              <c:formatCode>0.00</c:formatCode>
              <c:ptCount val="3"/>
              <c:pt idx="0">
                <c:v>0.23</c:v>
              </c:pt>
              <c:pt idx="1">
                <c:v>0.08</c:v>
              </c:pt>
              <c:pt idx="2">
                <c:v>0.2</c:v>
              </c:pt>
            </c:numLit>
          </c:val>
          <c:extLst>
            <c:ext xmlns:c16="http://schemas.microsoft.com/office/drawing/2014/chart" uri="{C3380CC4-5D6E-409C-BE32-E72D297353CC}">
              <c16:uniqueId val="{00000000-B457-4CC8-8BBA-D504FCBF6D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ROUGE-1</c:v>
              </c:pt>
              <c:pt idx="1">
                <c:v>ROUGE-2</c:v>
              </c:pt>
              <c:pt idx="2">
                <c:v>ROUGE-L</c:v>
              </c:pt>
            </c:strLit>
          </c:cat>
          <c:val>
            <c:numLit>
              <c:formatCode>0.00</c:formatCode>
              <c:ptCount val="3"/>
              <c:pt idx="0">
                <c:v>0.41</c:v>
              </c:pt>
              <c:pt idx="1">
                <c:v>0.17</c:v>
              </c:pt>
              <c:pt idx="2">
                <c:v>0.36</c:v>
              </c:pt>
            </c:numLit>
          </c:val>
          <c:extLst>
            <c:ext xmlns:c16="http://schemas.microsoft.com/office/drawing/2014/chart" uri="{C3380CC4-5D6E-409C-BE32-E72D297353CC}">
              <c16:uniqueId val="{00000001-B457-4CC8-8BBA-D504FCBF6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58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64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29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51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7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13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14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799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922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165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270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86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970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496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828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57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5D77C4-AF80-4C88-B186-FE2BF367E37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F55976-75CD-4279-9D92-5DDA70332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3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17DF-2D91-3153-A702-DC0030EAC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Lecture 4: Fine-Tuning and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3A4E3-6DE1-353F-C27C-E753CDCBD5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US" b="1" dirty="0"/>
              <a:t>Adapting Foundation Models with Instruction Fine-Tuning</a:t>
            </a:r>
          </a:p>
          <a:p>
            <a:pPr algn="ctr"/>
            <a:endParaRPr lang="en-US" sz="1000" dirty="0"/>
          </a:p>
          <a:p>
            <a:pPr algn="ctr"/>
            <a:r>
              <a:rPr lang="en-US" sz="1400" b="1" dirty="0"/>
              <a:t>Objectives: </a:t>
            </a:r>
            <a:r>
              <a:rPr lang="en-US" sz="1400" dirty="0"/>
              <a:t>instruction fine-tuning · multitask datasets · prompt templates · SageMaker workflows · ROUGE &amp; benchmarks</a:t>
            </a:r>
          </a:p>
        </p:txBody>
      </p:sp>
    </p:spTree>
    <p:extLst>
      <p:ext uri="{BB962C8B-B14F-4D97-AF65-F5344CB8AC3E}">
        <p14:creationId xmlns:p14="http://schemas.microsoft.com/office/powerpoint/2010/main" val="398130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4B85-CE50-ACCA-4B51-6179C2E4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From Pretraining to Task-Adaptation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3CC5A-A1CA-5562-979C-D5C2D9C14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 dirty="0"/>
              <a:t>Pretraining </a:t>
            </a:r>
            <a:r>
              <a:rPr lang="en-US" sz="1800" dirty="0"/>
              <a:t>teaches a model the fundamentals of language and reasoning across millions of documents, images, video, and audio.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/>
              <a:t>Fine-tuning </a:t>
            </a:r>
            <a:r>
              <a:rPr lang="en-US" sz="1800" dirty="0"/>
              <a:t>adapts that base model to a specific dataset, domain, or task using far less data.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/>
              <a:t>Instruction fine-tuning </a:t>
            </a:r>
            <a:r>
              <a:rPr lang="en-US" sz="1800" dirty="0"/>
              <a:t>trains the model on explicit commands — "Summarize this conversation," "Generate a marketing email" — producing the "instruct" / "chat" models humans interact with.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Present a </a:t>
            </a:r>
            <a:r>
              <a:rPr lang="en-US" sz="1800" b="1" dirty="0"/>
              <a:t>mix of instructions across many tasks</a:t>
            </a:r>
            <a:r>
              <a:rPr lang="en-US" sz="1800" dirty="0"/>
              <a:t> to preserve general-purpose capability. Even multimodal models rely on language-based instruction prompts.</a:t>
            </a:r>
          </a:p>
        </p:txBody>
      </p:sp>
    </p:spTree>
    <p:extLst>
      <p:ext uri="{BB962C8B-B14F-4D97-AF65-F5344CB8AC3E}">
        <p14:creationId xmlns:p14="http://schemas.microsoft.com/office/powerpoint/2010/main" val="34595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E04C-BB89-8B68-C2D5-E5761491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Leading Instruct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8CBA33-C5E9-413D-96E4-00332EAED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641400"/>
              </p:ext>
            </p:extLst>
          </p:nvPr>
        </p:nvGraphicFramePr>
        <p:xfrm>
          <a:off x="1076445" y="2519069"/>
          <a:ext cx="10478948" cy="2979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737">
                  <a:extLst>
                    <a:ext uri="{9D8B030D-6E8A-4147-A177-3AD203B41FA5}">
                      <a16:colId xmlns:a16="http://schemas.microsoft.com/office/drawing/2014/main" val="2571708927"/>
                    </a:ext>
                  </a:extLst>
                </a:gridCol>
                <a:gridCol w="2619737">
                  <a:extLst>
                    <a:ext uri="{9D8B030D-6E8A-4147-A177-3AD203B41FA5}">
                      <a16:colId xmlns:a16="http://schemas.microsoft.com/office/drawing/2014/main" val="1021261213"/>
                    </a:ext>
                  </a:extLst>
                </a:gridCol>
                <a:gridCol w="2619737">
                  <a:extLst>
                    <a:ext uri="{9D8B030D-6E8A-4147-A177-3AD203B41FA5}">
                      <a16:colId xmlns:a16="http://schemas.microsoft.com/office/drawing/2014/main" val="3407470568"/>
                    </a:ext>
                  </a:extLst>
                </a:gridCol>
                <a:gridCol w="2619737">
                  <a:extLst>
                    <a:ext uri="{9D8B030D-6E8A-4147-A177-3AD203B41FA5}">
                      <a16:colId xmlns:a16="http://schemas.microsoft.com/office/drawing/2014/main" val="1782391052"/>
                    </a:ext>
                  </a:extLst>
                </a:gridCol>
              </a:tblGrid>
              <a:tr h="474713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Instruct Model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Base Model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rgbClr val="FFFFFF"/>
                          </a:solidFill>
                        </a:rPr>
                        <a:t>Parameters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659143"/>
                  </a:ext>
                </a:extLst>
              </a:tr>
              <a:tr h="675817"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Llama-2-70b-chat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Llama-2-70b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rgbClr val="83992A"/>
                          </a:solidFill>
                        </a:rPr>
                        <a:t>70B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Chat variant; used for prompt-engineering 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677226"/>
                  </a:ext>
                </a:extLst>
              </a:tr>
              <a:tr h="675817"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Falcon-180b-chat</a:t>
                      </a:r>
                    </a:p>
                  </a:txBody>
                  <a:tcPr anchor="ctr">
                    <a:solidFill>
                      <a:srgbClr val="F0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Falcon-180b</a:t>
                      </a:r>
                    </a:p>
                  </a:txBody>
                  <a:tcPr anchor="ctr">
                    <a:solidFill>
                      <a:srgbClr val="F0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rgbClr val="83992A"/>
                          </a:solidFill>
                        </a:rPr>
                        <a:t>180B</a:t>
                      </a:r>
                    </a:p>
                  </a:txBody>
                  <a:tcPr anchor="ctr">
                    <a:solidFill>
                      <a:srgbClr val="F0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Base trained on the curated RefinedWeb dataset</a:t>
                      </a:r>
                    </a:p>
                  </a:txBody>
                  <a:tcPr anchor="ctr">
                    <a:solidFill>
                      <a:srgbClr val="F0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12696"/>
                  </a:ext>
                </a:extLst>
              </a:tr>
              <a:tr h="675817"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FLAN-T5 (XXL)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rgbClr val="83992A"/>
                          </a:solidFill>
                        </a:rPr>
                        <a:t>11B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One of the original instruct models; strong chain-of-thought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75294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829A82-07C3-42C0-990E-3D2F1444F69C}"/>
              </a:ext>
            </a:extLst>
          </p:cNvPr>
          <p:cNvSpPr txBox="1"/>
          <p:nvPr/>
        </p:nvSpPr>
        <p:spPr>
          <a:xfrm>
            <a:off x="1760314" y="5562192"/>
            <a:ext cx="9136284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 dirty="0">
                <a:solidFill>
                  <a:srgbClr val="595959"/>
                </a:solidFill>
              </a:rPr>
              <a:t>Instruct / chat variants are fine-tuned from their foundation-model equivalents — capable of many tasks from humanlike prompts.</a:t>
            </a:r>
            <a:endParaRPr lang="en-IN" sz="1600" i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284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9AED-F97B-A18B-77D9-D360A602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Catastrophic Forgetting &amp; Multitask Datasets</a:t>
            </a:r>
          </a:p>
        </p:txBody>
      </p:sp>
      <p:sp>
        <p:nvSpPr>
          <p:cNvPr id="400" name="t400"/>
          <p:cNvSpPr txBox="1"/>
          <p:nvPr/>
        </p:nvSpPr>
        <p:spPr>
          <a:xfrm>
            <a:off x="787400" y="2674234"/>
            <a:ext cx="5080000" cy="22860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lang="en-US" b="1" dirty="0"/>
              <a:t>Single-task tuning is risky. </a:t>
            </a:r>
            <a:r>
              <a:rPr lang="en-US" dirty="0"/>
              <a:t>Tuning on one task (e.g. summarization) can cause </a:t>
            </a:r>
            <a:r>
              <a:rPr lang="en-US" b="1" dirty="0">
                <a:solidFill>
                  <a:srgbClr val="A23C33"/>
                </a:solidFill>
              </a:rPr>
              <a:t>catastrophic forgetting</a:t>
            </a:r>
            <a:r>
              <a:rPr lang="en-US" dirty="0"/>
              <a:t> — the model loses its ability to generalize.</a:t>
            </a:r>
          </a:p>
          <a:p>
            <a:pPr marL="228600" indent="-228600">
              <a:buFont typeface="Arial"/>
              <a:buChar char="•"/>
            </a:pPr>
            <a:r>
              <a:rPr lang="en-US" b="1" dirty="0"/>
              <a:t>Mix many tasks </a:t>
            </a:r>
            <a:r>
              <a:rPr lang="en-US" dirty="0"/>
              <a:t>to improve performance on all of them simultaneously and preserve generalization.</a:t>
            </a:r>
          </a:p>
          <a:p>
            <a:pPr marL="228600" indent="-228600">
              <a:buFont typeface="Arial"/>
              <a:buChar char="•"/>
            </a:pPr>
            <a:r>
              <a:rPr lang="en-US" dirty="0"/>
              <a:t>Stuck with one task? Augment with ~</a:t>
            </a:r>
            <a:r>
              <a:rPr lang="en-US" b="1" dirty="0"/>
              <a:t>5% multitask examples</a:t>
            </a:r>
            <a:r>
              <a:rPr lang="en-US" dirty="0"/>
              <a:t> (public datasets or generated, e.g. Stanford Alpaca).</a:t>
            </a:r>
          </a:p>
        </p:txBody>
      </p:sp>
      <p:sp>
        <p:nvSpPr>
          <p:cNvPr id="401" name="t401"/>
          <p:cNvSpPr txBox="1"/>
          <p:nvPr/>
        </p:nvSpPr>
        <p:spPr>
          <a:xfrm>
            <a:off x="5691208" y="5671435"/>
            <a:ext cx="5613400" cy="2540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en-US" sz="1500" b="1" i="1" dirty="0">
                <a:solidFill>
                  <a:srgbClr val="595959"/>
                </a:solidFill>
              </a:rPr>
              <a:t>Figure 5-1. Multitask fine-tuning with instruction</a:t>
            </a:r>
          </a:p>
        </p:txBody>
      </p:sp>
      <p:sp>
        <p:nvSpPr>
          <p:cNvPr id="402" name="b402"/>
          <p:cNvSpPr/>
          <p:nvPr/>
        </p:nvSpPr>
        <p:spPr>
          <a:xfrm>
            <a:off x="5969000" y="2438400"/>
            <a:ext cx="2159000" cy="533400"/>
          </a:xfrm>
          <a:prstGeom prst="roundRect">
            <a:avLst/>
          </a:prstGeom>
          <a:solidFill>
            <a:srgbClr val="5A6B1D"/>
          </a:solidFill>
          <a:ln w="12700">
            <a:solidFill>
              <a:srgbClr val="5A6B1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Summarization</a:t>
            </a:r>
          </a:p>
        </p:txBody>
      </p:sp>
      <p:sp>
        <p:nvSpPr>
          <p:cNvPr id="403" name="b403"/>
          <p:cNvSpPr/>
          <p:nvPr/>
        </p:nvSpPr>
        <p:spPr>
          <a:xfrm>
            <a:off x="5969000" y="3175000"/>
            <a:ext cx="2159000" cy="533400"/>
          </a:xfrm>
          <a:prstGeom prst="roundRect">
            <a:avLst/>
          </a:prstGeom>
          <a:solidFill>
            <a:srgbClr val="2A6B4E"/>
          </a:solidFill>
          <a:ln w="12700">
            <a:solidFill>
              <a:srgbClr val="2A6B4E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404" name="b404"/>
          <p:cNvSpPr/>
          <p:nvPr/>
        </p:nvSpPr>
        <p:spPr>
          <a:xfrm>
            <a:off x="5969000" y="3911600"/>
            <a:ext cx="2159000" cy="533400"/>
          </a:xfrm>
          <a:prstGeom prst="roundRect">
            <a:avLst/>
          </a:prstGeom>
          <a:solidFill>
            <a:srgbClr val="A85A14"/>
          </a:solidFill>
          <a:ln w="12700">
            <a:solidFill>
              <a:srgbClr val="A85A14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Code translation</a:t>
            </a:r>
          </a:p>
        </p:txBody>
      </p:sp>
      <p:sp>
        <p:nvSpPr>
          <p:cNvPr id="405" name="b405"/>
          <p:cNvSpPr/>
          <p:nvPr/>
        </p:nvSpPr>
        <p:spPr>
          <a:xfrm>
            <a:off x="5969000" y="4648200"/>
            <a:ext cx="2159000" cy="533400"/>
          </a:xfrm>
          <a:prstGeom prst="roundRect">
            <a:avLst/>
          </a:prstGeom>
          <a:solidFill>
            <a:srgbClr val="8A6D1A"/>
          </a:solidFill>
          <a:ln w="12700">
            <a:solidFill>
              <a:srgbClr val="8A6D1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Named-entity recog.</a:t>
            </a:r>
          </a:p>
        </p:txBody>
      </p:sp>
      <p:cxnSp>
        <p:nvCxnSpPr>
          <p:cNvPr id="406" name="c406"/>
          <p:cNvCxnSpPr/>
          <p:nvPr/>
        </p:nvCxnSpPr>
        <p:spPr>
          <a:xfrm>
            <a:off x="8128000" y="2603500"/>
            <a:ext cx="1041400" cy="381000"/>
          </a:xfrm>
          <a:prstGeom prst="straightConnector1">
            <a:avLst/>
          </a:prstGeom>
          <a:ln w="19050">
            <a:solidFill>
              <a:srgbClr val="44709D"/>
            </a:solidFill>
            <a:tailEnd type="triangle"/>
          </a:ln>
        </p:spPr>
      </p:cxnSp>
      <p:cxnSp>
        <p:nvCxnSpPr>
          <p:cNvPr id="407" name="c407"/>
          <p:cNvCxnSpPr/>
          <p:nvPr/>
        </p:nvCxnSpPr>
        <p:spPr>
          <a:xfrm>
            <a:off x="8128000" y="3314700"/>
            <a:ext cx="1041400" cy="25400"/>
          </a:xfrm>
          <a:prstGeom prst="straightConnector1">
            <a:avLst/>
          </a:prstGeom>
          <a:ln w="19050">
            <a:solidFill>
              <a:srgbClr val="44709D"/>
            </a:solidFill>
            <a:tailEnd type="triangle"/>
          </a:ln>
        </p:spPr>
      </p:cxnSp>
      <p:cxnSp>
        <p:nvCxnSpPr>
          <p:cNvPr id="408" name="c408"/>
          <p:cNvCxnSpPr/>
          <p:nvPr/>
        </p:nvCxnSpPr>
        <p:spPr>
          <a:xfrm flipV="1">
            <a:off x="8128000" y="3505200"/>
            <a:ext cx="1041400" cy="330200"/>
          </a:xfrm>
          <a:prstGeom prst="straightConnector1">
            <a:avLst/>
          </a:prstGeom>
          <a:ln w="19050">
            <a:solidFill>
              <a:srgbClr val="44709D"/>
            </a:solidFill>
            <a:tailEnd type="triangle"/>
          </a:ln>
        </p:spPr>
      </p:cxnSp>
      <p:cxnSp>
        <p:nvCxnSpPr>
          <p:cNvPr id="409" name="c409"/>
          <p:cNvCxnSpPr/>
          <p:nvPr/>
        </p:nvCxnSpPr>
        <p:spPr>
          <a:xfrm flipV="1">
            <a:off x="8128000" y="3530600"/>
            <a:ext cx="1041400" cy="1041400"/>
          </a:xfrm>
          <a:prstGeom prst="straightConnector1">
            <a:avLst/>
          </a:prstGeom>
          <a:ln w="19050">
            <a:solidFill>
              <a:srgbClr val="44709D"/>
            </a:solidFill>
            <a:tailEnd type="triangle"/>
          </a:ln>
        </p:spPr>
      </p:cxnSp>
      <p:sp>
        <p:nvSpPr>
          <p:cNvPr id="410" name="b410"/>
          <p:cNvSpPr/>
          <p:nvPr/>
        </p:nvSpPr>
        <p:spPr>
          <a:xfrm>
            <a:off x="9245600" y="2997200"/>
            <a:ext cx="2159000" cy="1371600"/>
          </a:xfrm>
          <a:prstGeom prst="roundRect">
            <a:avLst/>
          </a:prstGeom>
          <a:solidFill>
            <a:srgbClr val="44709D"/>
          </a:solidFill>
          <a:ln w="12700">
            <a:solidFill>
              <a:srgbClr val="2E4F70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Foundation Model</a:t>
            </a:r>
          </a:p>
        </p:txBody>
      </p:sp>
    </p:spTree>
    <p:extLst>
      <p:ext uri="{BB962C8B-B14F-4D97-AF65-F5344CB8AC3E}">
        <p14:creationId xmlns:p14="http://schemas.microsoft.com/office/powerpoint/2010/main" val="260840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6134-7FFA-6C19-7B62-165689E6C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Deep Dive: The FLAN Dataset</a:t>
            </a:r>
            <a:endParaRPr lang="en-IN"/>
          </a:p>
        </p:txBody>
      </p:sp>
      <p:sp>
        <p:nvSpPr>
          <p:cNvPr id="500" name="t500"/>
          <p:cNvSpPr txBox="1"/>
          <p:nvPr/>
        </p:nvSpPr>
        <p:spPr>
          <a:xfrm>
            <a:off x="609600" y="2362200"/>
            <a:ext cx="10972800" cy="5842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600" dirty="0"/>
              <a:t>FLAN (currently </a:t>
            </a:r>
            <a:r>
              <a:rPr lang="en-US" sz="1600" b="1" dirty="0"/>
              <a:t>version 2</a:t>
            </a:r>
            <a:r>
              <a:rPr lang="en-US" sz="1600" dirty="0"/>
              <a:t>) is a large, well-documented collection of instructions used to fine-tune the FLAN family (FLAN-T5, FLAN-PaLM). Its scale comes from combining many existing datasets:</a:t>
            </a:r>
          </a:p>
        </p:txBody>
      </p:sp>
      <p:sp>
        <p:nvSpPr>
          <p:cNvPr id="501" name="s501"/>
          <p:cNvSpPr/>
          <p:nvPr/>
        </p:nvSpPr>
        <p:spPr>
          <a:xfrm>
            <a:off x="762000" y="2946400"/>
            <a:ext cx="3302000" cy="14986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473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502" name="s502"/>
          <p:cNvSpPr/>
          <p:nvPr/>
        </p:nvSpPr>
        <p:spPr>
          <a:xfrm>
            <a:off x="4445000" y="2946400"/>
            <a:ext cx="3302000" cy="1498600"/>
          </a:xfrm>
          <a:prstGeom prst="roundRect">
            <a:avLst/>
          </a:prstGeom>
          <a:solidFill>
            <a:srgbClr val="5A6B1D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146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task categories</a:t>
            </a:r>
          </a:p>
        </p:txBody>
      </p:sp>
      <p:sp>
        <p:nvSpPr>
          <p:cNvPr id="503" name="s503"/>
          <p:cNvSpPr/>
          <p:nvPr/>
        </p:nvSpPr>
        <p:spPr>
          <a:xfrm>
            <a:off x="8128000" y="2946400"/>
            <a:ext cx="3302000" cy="1498600"/>
          </a:xfrm>
          <a:prstGeom prst="roundRect">
            <a:avLst/>
          </a:prstGeom>
          <a:solidFill>
            <a:srgbClr val="A85A14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~1,800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fine-grained tasks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762000" y="4521200"/>
            <a:ext cx="10668000" cy="2540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en-US" sz="1500" b="1" i="1" dirty="0">
                <a:solidFill>
                  <a:srgbClr val="595959"/>
                </a:solidFill>
              </a:rPr>
              <a:t>Figure 5-2. FLAN dataset composition (adapted from Chung et al.)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609600" y="4927600"/>
            <a:ext cx="10972800" cy="1016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500" dirty="0"/>
              <a:t>Tasks span reading comprehension, classification, summarization, translation, NER, and more.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One member dataset, </a:t>
            </a:r>
            <a:r>
              <a:rPr lang="en-US" sz="1500" b="1" dirty="0"/>
              <a:t>samsum</a:t>
            </a:r>
            <a:r>
              <a:rPr lang="en-US" sz="1500" dirty="0"/>
              <a:t>, contains 16,000 conversations with expert human-curated summaries (next slide).</a:t>
            </a:r>
          </a:p>
        </p:txBody>
      </p:sp>
    </p:spTree>
    <p:extLst>
      <p:ext uri="{BB962C8B-B14F-4D97-AF65-F5344CB8AC3E}">
        <p14:creationId xmlns:p14="http://schemas.microsoft.com/office/powerpoint/2010/main" val="394583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DFF0-ACE4-6BE7-AF08-D56883BC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Example: </a:t>
            </a:r>
            <a:r>
              <a:rPr lang="en-IN" b="1" dirty="0" err="1"/>
              <a:t>samsum</a:t>
            </a:r>
            <a:r>
              <a:rPr lang="en-IN" b="1" dirty="0"/>
              <a:t> Dataset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FF9BE1-DDDC-4231-B04C-9EE725111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013238"/>
              </p:ext>
            </p:extLst>
          </p:nvPr>
        </p:nvGraphicFramePr>
        <p:xfrm>
          <a:off x="1927185" y="2512550"/>
          <a:ext cx="8337630" cy="304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525">
                  <a:extLst>
                    <a:ext uri="{9D8B030D-6E8A-4147-A177-3AD203B41FA5}">
                      <a16:colId xmlns:a16="http://schemas.microsoft.com/office/drawing/2014/main" val="3050688192"/>
                    </a:ext>
                  </a:extLst>
                </a:gridCol>
                <a:gridCol w="4652105">
                  <a:extLst>
                    <a:ext uri="{9D8B030D-6E8A-4147-A177-3AD203B41FA5}">
                      <a16:colId xmlns:a16="http://schemas.microsoft.com/office/drawing/2014/main" val="3548958302"/>
                    </a:ext>
                  </a:extLst>
                </a:gridCol>
              </a:tblGrid>
              <a:tr h="862964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Dialogue</a:t>
                      </a:r>
                    </a:p>
                  </a:txBody>
                  <a:tcPr anchor="ctr">
                    <a:solidFill>
                      <a:srgbClr val="3C9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ctr">
                    <a:solidFill>
                      <a:srgbClr val="3C9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070615"/>
                  </a:ext>
                </a:extLst>
              </a:tr>
              <a:tr h="994134"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Amanda: I baked cookies. Do you want some?
Jerry: Sure!
Amanda: I'll bring you tomorrow :-)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Amanda baked cookies and will bring some for Jerry tomorrow.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146544"/>
                  </a:ext>
                </a:extLst>
              </a:tr>
              <a:tr h="994134"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Olivia: Who are you voting for?
Oliver: I don't know yet. You?
Olivia: Probably the Greens.</a:t>
                      </a:r>
                    </a:p>
                  </a:txBody>
                  <a:tcPr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Olivia is probably voting for the Greens; Oliver is undecided.</a:t>
                      </a:r>
                    </a:p>
                  </a:txBody>
                  <a:tcPr>
                    <a:solidFill>
                      <a:srgbClr val="EA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326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1766FD-E75E-4FA6-9143-530E48BFB734}"/>
              </a:ext>
            </a:extLst>
          </p:cNvPr>
          <p:cNvSpPr txBox="1"/>
          <p:nvPr/>
        </p:nvSpPr>
        <p:spPr>
          <a:xfrm>
            <a:off x="1385104" y="5558368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 dirty="0">
                <a:solidFill>
                  <a:srgbClr val="595959"/>
                </a:solidFill>
              </a:rPr>
              <a:t>Table 5-1. </a:t>
            </a:r>
            <a:r>
              <a:rPr lang="en-US" sz="1300" i="1" dirty="0" err="1">
                <a:solidFill>
                  <a:srgbClr val="595959"/>
                </a:solidFill>
              </a:rPr>
              <a:t>samsum</a:t>
            </a:r>
            <a:r>
              <a:rPr lang="en-US" sz="1300" i="1" dirty="0">
                <a:solidFill>
                  <a:srgbClr val="595959"/>
                </a:solidFill>
              </a:rPr>
              <a:t> — 16,000 conversations with high-quality summaries written by linguistics experts for the dialogue-summarization task. (Illustrative rows shown.)</a:t>
            </a:r>
            <a:endParaRPr lang="en-IN" sz="1300" i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923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D54A-5AE2-A6E0-1A9D-0F9544D1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Constructing Prompt Templates</a:t>
            </a:r>
          </a:p>
        </p:txBody>
      </p:sp>
      <p:sp>
        <p:nvSpPr>
          <p:cNvPr id="700" name="t700"/>
          <p:cNvSpPr txBox="1"/>
          <p:nvPr/>
        </p:nvSpPr>
        <p:spPr>
          <a:xfrm>
            <a:off x="584200" y="2400300"/>
            <a:ext cx="10972800" cy="4572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500" dirty="0"/>
              <a:t>A prompt template wraps each table row (the </a:t>
            </a:r>
            <a:r>
              <a:rPr lang="en-US" sz="1500" b="1" dirty="0"/>
              <a:t>{dialogue}</a:t>
            </a:r>
            <a:r>
              <a:rPr lang="en-US" sz="1500" dirty="0"/>
              <a:t> and </a:t>
            </a:r>
            <a:r>
              <a:rPr lang="en-US" sz="1500" b="1" dirty="0"/>
              <a:t>{summary}</a:t>
            </a:r>
            <a:r>
              <a:rPr lang="en-US" sz="1500" dirty="0"/>
              <a:t> columns) into instruction text using Python f-strings.</a:t>
            </a:r>
          </a:p>
        </p:txBody>
      </p:sp>
      <p:sp>
        <p:nvSpPr>
          <p:cNvPr id="701" name="hb701"/>
          <p:cNvSpPr/>
          <p:nvPr/>
        </p:nvSpPr>
        <p:spPr>
          <a:xfrm>
            <a:off x="609600" y="2717800"/>
            <a:ext cx="5461000" cy="279400"/>
          </a:xfrm>
          <a:prstGeom prst="rect">
            <a:avLst/>
          </a:prstGeom>
          <a:solidFill>
            <a:srgbClr val="2E4F70"/>
          </a:solidFill>
          <a:ln>
            <a:noFill/>
          </a:ln>
        </p:spPr>
        <p:txBody>
          <a:bodyPr wrap="square" lIns="72000" tIns="18000" rIns="36000" bIns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onsolas"/>
              </a:rPr>
              <a:t>samsum prompt template (FLAN GitHub)</a:t>
            </a:r>
          </a:p>
        </p:txBody>
      </p:sp>
      <p:sp>
        <p:nvSpPr>
          <p:cNvPr id="702" name="cb702"/>
          <p:cNvSpPr/>
          <p:nvPr/>
        </p:nvSpPr>
        <p:spPr>
          <a:xfrm>
            <a:off x="609600" y="2997200"/>
            <a:ext cx="5461000" cy="1625600"/>
          </a:xfrm>
          <a:prstGeom prst="rect">
            <a:avLst/>
          </a:prstGeom>
          <a:solidFill>
            <a:srgbClr val="F2F4F7"/>
          </a:solidFill>
          <a:ln w="9525">
            <a:solidFill>
              <a:srgbClr val="C9D2DC"/>
            </a:solidFill>
          </a:ln>
        </p:spPr>
        <p:txBody>
          <a:bodyPr wrap="square" lIns="72000" tIns="46000" rIns="36000" bIns="36000"/>
          <a:lstStyle/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Summarize this dialogue:</a:t>
            </a:r>
          </a:p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{dialogue}</a:t>
            </a:r>
          </a:p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---</a:t>
            </a:r>
          </a:p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Summary:</a:t>
            </a:r>
          </a:p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{summary}</a:t>
            </a:r>
          </a:p>
        </p:txBody>
      </p:sp>
      <p:sp>
        <p:nvSpPr>
          <p:cNvPr id="703" name="hb703"/>
          <p:cNvSpPr/>
          <p:nvPr/>
        </p:nvSpPr>
        <p:spPr>
          <a:xfrm>
            <a:off x="6324600" y="2717800"/>
            <a:ext cx="5257800" cy="279400"/>
          </a:xfrm>
          <a:prstGeom prst="rect">
            <a:avLst/>
          </a:prstGeom>
          <a:solidFill>
            <a:srgbClr val="2E4F70"/>
          </a:solidFill>
          <a:ln>
            <a:noFill/>
          </a:ln>
        </p:spPr>
        <p:txBody>
          <a:bodyPr wrap="square" lIns="72000" tIns="18000" rIns="36000" bIns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onsolas"/>
              </a:rPr>
              <a:t>Python f-string conversion</a:t>
            </a:r>
          </a:p>
        </p:txBody>
      </p:sp>
      <p:sp>
        <p:nvSpPr>
          <p:cNvPr id="704" name="cb704"/>
          <p:cNvSpPr/>
          <p:nvPr/>
        </p:nvSpPr>
        <p:spPr>
          <a:xfrm>
            <a:off x="6324600" y="2997200"/>
            <a:ext cx="5257800" cy="1625600"/>
          </a:xfrm>
          <a:prstGeom prst="rect">
            <a:avLst/>
          </a:prstGeom>
          <a:solidFill>
            <a:srgbClr val="F2F4F7"/>
          </a:solidFill>
          <a:ln w="9525">
            <a:solidFill>
              <a:srgbClr val="C9D2DC"/>
            </a:solidFill>
          </a:ln>
        </p:spPr>
        <p:txBody>
          <a:bodyPr wrap="square" lIns="72000" tIns="46000" rIns="36000" bIns="36000"/>
          <a:lstStyle/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prompt = f"""Summarize this</a:t>
            </a:r>
          </a:p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dialogue:\n{row['dialogue']}</a:t>
            </a:r>
          </a:p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\n---\nSummary:"""</a:t>
            </a:r>
          </a:p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label = row['summary']</a:t>
            </a:r>
          </a:p>
          <a:p>
            <a:r>
              <a:rPr lang="en-US" sz="1300" dirty="0">
                <a:solidFill>
                  <a:srgbClr val="1B1B1B"/>
                </a:solidFill>
                <a:latin typeface="Consolas"/>
              </a:rPr>
              <a:t>dataset = dataset.map(to_prompt)</a:t>
            </a:r>
          </a:p>
        </p:txBody>
      </p:sp>
      <p:sp>
        <p:nvSpPr>
          <p:cNvPr id="705" name="ch705"/>
          <p:cNvSpPr/>
          <p:nvPr/>
        </p:nvSpPr>
        <p:spPr>
          <a:xfrm>
            <a:off x="609600" y="4800600"/>
            <a:ext cx="3492500" cy="838200"/>
          </a:xfrm>
          <a:prstGeom prst="roundRect">
            <a:avLst/>
          </a:prstGeom>
          <a:solidFill>
            <a:srgbClr val="5A6B1D"/>
          </a:solidFill>
          <a:ln>
            <a:noFill/>
          </a:ln>
        </p:spPr>
        <p:txBody>
          <a:bodyPr wrap="square" lIns="45720" tIns="27000" rIns="45720" bIns="27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7 instructions per row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varied phrasings → better generalization</a:t>
            </a:r>
          </a:p>
        </p:txBody>
      </p:sp>
      <p:sp>
        <p:nvSpPr>
          <p:cNvPr id="706" name="ch706"/>
          <p:cNvSpPr/>
          <p:nvPr/>
        </p:nvSpPr>
        <p:spPr>
          <a:xfrm>
            <a:off x="4356100" y="4800600"/>
            <a:ext cx="3492500" cy="838200"/>
          </a:xfrm>
          <a:prstGeom prst="roundRect">
            <a:avLst/>
          </a:prstGeom>
          <a:solidFill>
            <a:srgbClr val="2A6B4E"/>
          </a:solidFill>
          <a:ln>
            <a:noFill/>
          </a:ln>
        </p:spPr>
        <p:txBody>
          <a:bodyPr wrap="square" lIns="45720" tIns="27000" rIns="45720" bIns="27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16,000 × 7 = 112,000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instructions from samsum alone</a:t>
            </a:r>
          </a:p>
        </p:txBody>
      </p:sp>
      <p:sp>
        <p:nvSpPr>
          <p:cNvPr id="707" name="ch707"/>
          <p:cNvSpPr/>
          <p:nvPr/>
        </p:nvSpPr>
        <p:spPr>
          <a:xfrm>
            <a:off x="8102600" y="4800600"/>
            <a:ext cx="3479800" cy="838200"/>
          </a:xfrm>
          <a:prstGeom prst="roundRect">
            <a:avLst/>
          </a:prstGeom>
          <a:solidFill>
            <a:srgbClr val="A85A14"/>
          </a:solidFill>
          <a:ln>
            <a:noFill/>
          </a:ln>
        </p:spPr>
        <p:txBody>
          <a:bodyPr wrap="square" lIns="45720" tIns="27000" rIns="45720" bIns="27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10,000-line template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across all 473 FLAN datasets</a:t>
            </a:r>
          </a:p>
        </p:txBody>
      </p:sp>
    </p:spTree>
    <p:extLst>
      <p:ext uri="{BB962C8B-B14F-4D97-AF65-F5344CB8AC3E}">
        <p14:creationId xmlns:p14="http://schemas.microsoft.com/office/powerpoint/2010/main" val="1645040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A297-B4CF-AA24-CF54-383FBCB4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The Fine-Tuning Backpropagation Process</a:t>
            </a:r>
          </a:p>
        </p:txBody>
      </p:sp>
      <p:sp>
        <p:nvSpPr>
          <p:cNvPr id="800" name="t800"/>
          <p:cNvSpPr txBox="1"/>
          <p:nvPr/>
        </p:nvSpPr>
        <p:spPr>
          <a:xfrm>
            <a:off x="609600" y="2362200"/>
            <a:ext cx="10972800" cy="3048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r>
              <a:rPr lang="en-US" sz="1500" dirty="0"/>
              <a:t>Instruction fine-tuning is supervised learning: the model iteratively compares its prediction to a human ground-truth label and updates its weights.</a:t>
            </a:r>
          </a:p>
        </p:txBody>
      </p:sp>
      <p:sp>
        <p:nvSpPr>
          <p:cNvPr id="801" name="st801"/>
          <p:cNvSpPr/>
          <p:nvPr/>
        </p:nvSpPr>
        <p:spPr>
          <a:xfrm>
            <a:off x="609600" y="2692400"/>
            <a:ext cx="2413000" cy="9906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36000" tIns="27000" rIns="36000" bIns="2700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1  Input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Instruction prompt
(dialogue)</a:t>
            </a:r>
          </a:p>
        </p:txBody>
      </p:sp>
      <p:sp>
        <p:nvSpPr>
          <p:cNvPr id="802" name="st802"/>
          <p:cNvSpPr/>
          <p:nvPr/>
        </p:nvSpPr>
        <p:spPr>
          <a:xfrm>
            <a:off x="3403600" y="2692400"/>
            <a:ext cx="2413000" cy="990600"/>
          </a:xfrm>
          <a:prstGeom prst="roundRect">
            <a:avLst/>
          </a:prstGeom>
          <a:solidFill>
            <a:srgbClr val="2A6B4E"/>
          </a:solidFill>
          <a:ln>
            <a:noFill/>
          </a:ln>
        </p:spPr>
        <p:txBody>
          <a:bodyPr wrap="square" lIns="36000" tIns="27000" rIns="36000" bIns="2700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2  Predict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Model generates
a summary</a:t>
            </a:r>
          </a:p>
        </p:txBody>
      </p:sp>
      <p:sp>
        <p:nvSpPr>
          <p:cNvPr id="803" name="st803"/>
          <p:cNvSpPr/>
          <p:nvPr/>
        </p:nvSpPr>
        <p:spPr>
          <a:xfrm>
            <a:off x="6197600" y="2692400"/>
            <a:ext cx="2413000" cy="990600"/>
          </a:xfrm>
          <a:prstGeom prst="roundRect">
            <a:avLst/>
          </a:prstGeom>
          <a:solidFill>
            <a:srgbClr val="A85A14"/>
          </a:solidFill>
          <a:ln>
            <a:noFill/>
          </a:ln>
        </p:spPr>
        <p:txBody>
          <a:bodyPr wrap="square" lIns="36000" tIns="27000" rIns="36000" bIns="2700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3  Compare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vs. human baseline
ground-truth label</a:t>
            </a:r>
          </a:p>
        </p:txBody>
      </p:sp>
      <p:sp>
        <p:nvSpPr>
          <p:cNvPr id="804" name="st804"/>
          <p:cNvSpPr/>
          <p:nvPr/>
        </p:nvSpPr>
        <p:spPr>
          <a:xfrm>
            <a:off x="8991600" y="2692400"/>
            <a:ext cx="2413000" cy="990600"/>
          </a:xfrm>
          <a:prstGeom prst="roundRect">
            <a:avLst/>
          </a:prstGeom>
          <a:solidFill>
            <a:srgbClr val="A23C33"/>
          </a:solidFill>
          <a:ln>
            <a:noFill/>
          </a:ln>
        </p:spPr>
        <p:txBody>
          <a:bodyPr wrap="square" lIns="36000" tIns="27000" rIns="36000" bIns="2700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4  Loss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Compute difference
(loss)</a:t>
            </a:r>
          </a:p>
        </p:txBody>
      </p:sp>
      <p:cxnSp>
        <p:nvCxnSpPr>
          <p:cNvPr id="805" name="a805"/>
          <p:cNvCxnSpPr/>
          <p:nvPr/>
        </p:nvCxnSpPr>
        <p:spPr>
          <a:xfrm>
            <a:off x="3022600" y="3187700"/>
            <a:ext cx="381000" cy="0"/>
          </a:xfrm>
          <a:prstGeom prst="straightConnector1">
            <a:avLst/>
          </a:prstGeom>
          <a:ln w="22225">
            <a:solidFill>
              <a:srgbClr val="44709D"/>
            </a:solidFill>
            <a:tailEnd type="triangle"/>
          </a:ln>
        </p:spPr>
      </p:cxnSp>
      <p:cxnSp>
        <p:nvCxnSpPr>
          <p:cNvPr id="806" name="a806"/>
          <p:cNvCxnSpPr/>
          <p:nvPr/>
        </p:nvCxnSpPr>
        <p:spPr>
          <a:xfrm>
            <a:off x="5816600" y="3187700"/>
            <a:ext cx="381000" cy="0"/>
          </a:xfrm>
          <a:prstGeom prst="straightConnector1">
            <a:avLst/>
          </a:prstGeom>
          <a:ln w="22225">
            <a:solidFill>
              <a:srgbClr val="44709D"/>
            </a:solidFill>
            <a:tailEnd type="triangle"/>
          </a:ln>
        </p:spPr>
      </p:cxnSp>
      <p:cxnSp>
        <p:nvCxnSpPr>
          <p:cNvPr id="807" name="a807"/>
          <p:cNvCxnSpPr/>
          <p:nvPr/>
        </p:nvCxnSpPr>
        <p:spPr>
          <a:xfrm>
            <a:off x="8610600" y="3187700"/>
            <a:ext cx="381000" cy="0"/>
          </a:xfrm>
          <a:prstGeom prst="straightConnector1">
            <a:avLst/>
          </a:prstGeom>
          <a:ln w="22225">
            <a:solidFill>
              <a:srgbClr val="44709D"/>
            </a:solidFill>
            <a:tailEnd type="triangle"/>
          </a:ln>
        </p:spPr>
      </p:cxnSp>
      <p:cxnSp>
        <p:nvCxnSpPr>
          <p:cNvPr id="808" name="a808"/>
          <p:cNvCxnSpPr/>
          <p:nvPr/>
        </p:nvCxnSpPr>
        <p:spPr>
          <a:xfrm>
            <a:off x="10198100" y="3683000"/>
            <a:ext cx="0" cy="508000"/>
          </a:xfrm>
          <a:prstGeom prst="straightConnector1">
            <a:avLst/>
          </a:prstGeom>
          <a:ln w="22225">
            <a:solidFill>
              <a:srgbClr val="44709D"/>
            </a:solidFill>
            <a:tailEnd type="triangle"/>
          </a:ln>
        </p:spPr>
      </p:cxnSp>
      <p:sp>
        <p:nvSpPr>
          <p:cNvPr id="809" name="st809"/>
          <p:cNvSpPr/>
          <p:nvPr/>
        </p:nvSpPr>
        <p:spPr>
          <a:xfrm>
            <a:off x="6197600" y="4191000"/>
            <a:ext cx="5080000" cy="889000"/>
          </a:xfrm>
          <a:prstGeom prst="roundRect">
            <a:avLst/>
          </a:prstGeom>
          <a:solidFill>
            <a:srgbClr val="2E4F70"/>
          </a:solidFill>
          <a:ln>
            <a:noFill/>
          </a:ln>
        </p:spPr>
        <p:txBody>
          <a:bodyPr wrap="square" lIns="36000" tIns="27000" rIns="36000" bIns="2700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5  Backpropagate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Propagate loss through the network → update model parameters (weights)</a:t>
            </a:r>
          </a:p>
        </p:txBody>
      </p:sp>
      <p:sp>
        <p:nvSpPr>
          <p:cNvPr id="810" name="t810"/>
          <p:cNvSpPr txBox="1"/>
          <p:nvPr/>
        </p:nvSpPr>
        <p:spPr>
          <a:xfrm>
            <a:off x="609600" y="4267200"/>
            <a:ext cx="5334000" cy="8128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400" b="1" dirty="0"/>
              <a:t>Repeat for many rounds. </a:t>
            </a:r>
            <a:r>
              <a:rPr lang="en-US" sz="1400" dirty="0"/>
              <a:t>The model learns to generate summaries as good as — or better than — the human baseline.</a:t>
            </a:r>
          </a:p>
        </p:txBody>
      </p:sp>
      <p:sp>
        <p:nvSpPr>
          <p:cNvPr id="811" name="t811"/>
          <p:cNvSpPr txBox="1"/>
          <p:nvPr/>
        </p:nvSpPr>
        <p:spPr>
          <a:xfrm>
            <a:off x="609600" y="5969000"/>
            <a:ext cx="10972800" cy="254000"/>
          </a:xfrm>
          <a:prstGeom prst="rect">
            <a:avLst/>
          </a:prstGeom>
        </p:spPr>
        <p:txBody>
          <a:bodyPr wrap="square" rtlCol="0">
            <a:normAutofit fontScale="92500" lnSpcReduction="20000"/>
          </a:bodyPr>
          <a:lstStyle/>
          <a:p>
            <a:pPr algn="ctr"/>
            <a:r>
              <a:rPr lang="en-US" sz="1300" b="1" i="1" dirty="0">
                <a:solidFill>
                  <a:srgbClr val="595959"/>
                </a:solidFill>
              </a:rPr>
              <a:t>Figure 5-3. Backpropagation of the loss through the network to improve the generative model</a:t>
            </a:r>
          </a:p>
        </p:txBody>
      </p:sp>
    </p:spTree>
    <p:extLst>
      <p:ext uri="{BB962C8B-B14F-4D97-AF65-F5344CB8AC3E}">
        <p14:creationId xmlns:p14="http://schemas.microsoft.com/office/powerpoint/2010/main" val="2841953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AAE3-2A33-15D5-5297-CC0DE286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Fine-Tuning Infrastructure on Amazon SageMaker</a:t>
            </a:r>
            <a:endParaRPr lang="en-IN"/>
          </a:p>
        </p:txBody>
      </p:sp>
      <p:sp>
        <p:nvSpPr>
          <p:cNvPr id="900" name="t900"/>
          <p:cNvSpPr txBox="1"/>
          <p:nvPr/>
        </p:nvSpPr>
        <p:spPr>
          <a:xfrm>
            <a:off x="609600" y="2184400"/>
            <a:ext cx="10972800" cy="3302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450" dirty="0"/>
              <a:t>All three methods run on the </a:t>
            </a:r>
            <a:r>
              <a:rPr lang="en-US" sz="1450" b="1" dirty="0">
                <a:solidFill>
                  <a:srgbClr val="A23C33"/>
                </a:solidFill>
              </a:rPr>
              <a:t>ml.p4d instance — 8× NVIDIA A100 GPUs, 640 GB total GPU memory.</a:t>
            </a:r>
          </a:p>
        </p:txBody>
      </p:sp>
      <p:sp>
        <p:nvSpPr>
          <p:cNvPr id="901" name="cardh901"/>
          <p:cNvSpPr/>
          <p:nvPr/>
        </p:nvSpPr>
        <p:spPr>
          <a:xfrm>
            <a:off x="609600" y="2540000"/>
            <a:ext cx="3505200" cy="508000"/>
          </a:xfrm>
          <a:prstGeom prst="round2SameRect">
            <a:avLst/>
          </a:prstGeom>
          <a:solidFill>
            <a:srgbClr val="2A6B4E"/>
          </a:solidFill>
          <a:ln>
            <a:noFill/>
          </a:ln>
        </p:spPr>
        <p:txBody>
          <a:bodyPr wrap="square" lIns="72000" tIns="18000" rIns="36000" bIns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SageMaker Studio</a:t>
            </a:r>
          </a:p>
        </p:txBody>
      </p:sp>
      <p:sp>
        <p:nvSpPr>
          <p:cNvPr id="902" name="cardb902"/>
          <p:cNvSpPr/>
          <p:nvPr/>
        </p:nvSpPr>
        <p:spPr>
          <a:xfrm>
            <a:off x="609600" y="3048000"/>
            <a:ext cx="3505200" cy="2438400"/>
          </a:xfrm>
          <a:prstGeom prst="rect">
            <a:avLst/>
          </a:prstGeom>
          <a:solidFill>
            <a:srgbClr val="F5F6F2"/>
          </a:solidFill>
          <a:ln w="9525">
            <a:solidFill>
              <a:srgbClr val="3C9770"/>
            </a:solidFill>
          </a:ln>
        </p:spPr>
        <p:txBody>
          <a:bodyPr wrap="square" lIns="90000" tIns="54000" rIns="72000" bIns="36000"/>
          <a:lstStyle/>
          <a:p>
            <a:pPr marL="171450" indent="-171450">
              <a:buFont typeface="Arial"/>
              <a:buChar char="•"/>
            </a:pPr>
            <a:r>
              <a:rPr lang="en-US" sz="1400" dirty="0"/>
              <a:t>Single-node fine-tuning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/>
              <a:t>Built on Jupyter Notebook</a:t>
            </a:r>
          </a:p>
          <a:p>
            <a:pPr marL="171450" indent="-171450">
              <a:buFont typeface="Arial"/>
              <a:buChar char="•"/>
            </a:pPr>
            <a:endParaRPr lang="en-US" sz="1400" dirty="0"/>
          </a:p>
        </p:txBody>
      </p:sp>
      <p:sp>
        <p:nvSpPr>
          <p:cNvPr id="903" name="cardh903"/>
          <p:cNvSpPr/>
          <p:nvPr/>
        </p:nvSpPr>
        <p:spPr>
          <a:xfrm>
            <a:off x="4343400" y="2540000"/>
            <a:ext cx="3505200" cy="508000"/>
          </a:xfrm>
          <a:prstGeom prst="round2SameRect">
            <a:avLst/>
          </a:prstGeom>
          <a:solidFill>
            <a:srgbClr val="44709D"/>
          </a:solidFill>
          <a:ln>
            <a:noFill/>
          </a:ln>
        </p:spPr>
        <p:txBody>
          <a:bodyPr wrap="square" lIns="72000" tIns="18000" rIns="36000" bIns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SageMaker JumpStart</a:t>
            </a:r>
          </a:p>
        </p:txBody>
      </p:sp>
      <p:sp>
        <p:nvSpPr>
          <p:cNvPr id="904" name="cardb904"/>
          <p:cNvSpPr/>
          <p:nvPr/>
        </p:nvSpPr>
        <p:spPr>
          <a:xfrm>
            <a:off x="4343400" y="3048000"/>
            <a:ext cx="3505200" cy="2438400"/>
          </a:xfrm>
          <a:prstGeom prst="rect">
            <a:avLst/>
          </a:prstGeom>
          <a:solidFill>
            <a:srgbClr val="F5F6F2"/>
          </a:solidFill>
          <a:ln w="9525">
            <a:solidFill>
              <a:srgbClr val="44709D"/>
            </a:solidFill>
          </a:ln>
        </p:spPr>
        <p:txBody>
          <a:bodyPr wrap="square" lIns="90000" tIns="54000" rIns="72000" bIns="36000"/>
          <a:lstStyle/>
          <a:p>
            <a:pPr marL="171450" indent="-171450">
              <a:buFont typeface="Arial"/>
              <a:buChar char="•"/>
            </a:pPr>
            <a:r>
              <a:rPr lang="en-US" sz="1400" dirty="0"/>
              <a:t>Easiest path to fine-tune powerful models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/>
              <a:t>Uses the SageMaker Python library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/>
              <a:t>Scale to a large distributed GPU cluster by changing a single parameter</a:t>
            </a:r>
          </a:p>
        </p:txBody>
      </p:sp>
      <p:sp>
        <p:nvSpPr>
          <p:cNvPr id="905" name="cardh905"/>
          <p:cNvSpPr/>
          <p:nvPr/>
        </p:nvSpPr>
        <p:spPr>
          <a:xfrm>
            <a:off x="8077200" y="2540000"/>
            <a:ext cx="3505200" cy="508000"/>
          </a:xfrm>
          <a:prstGeom prst="round2SameRect">
            <a:avLst/>
          </a:prstGeom>
          <a:solidFill>
            <a:srgbClr val="A85A14"/>
          </a:solidFill>
          <a:ln>
            <a:noFill/>
          </a:ln>
        </p:spPr>
        <p:txBody>
          <a:bodyPr wrap="square" lIns="72000" tIns="18000" rIns="36000" bIns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Hugging Face Estimator</a:t>
            </a:r>
          </a:p>
        </p:txBody>
      </p:sp>
      <p:sp>
        <p:nvSpPr>
          <p:cNvPr id="906" name="cardb906"/>
          <p:cNvSpPr/>
          <p:nvPr/>
        </p:nvSpPr>
        <p:spPr>
          <a:xfrm>
            <a:off x="8077200" y="3048000"/>
            <a:ext cx="3505200" cy="2438400"/>
          </a:xfrm>
          <a:prstGeom prst="rect">
            <a:avLst/>
          </a:prstGeom>
          <a:solidFill>
            <a:srgbClr val="F5F6F2"/>
          </a:solidFill>
          <a:ln w="9525">
            <a:solidFill>
              <a:srgbClr val="D97828"/>
            </a:solidFill>
          </a:ln>
        </p:spPr>
        <p:txBody>
          <a:bodyPr wrap="square" lIns="90000" tIns="54000" rIns="72000" bIns="36000"/>
          <a:lstStyle/>
          <a:p>
            <a:pPr marL="171450" indent="-171450">
              <a:buFont typeface="Arial"/>
              <a:buChar char="•"/>
            </a:pPr>
            <a:r>
              <a:rPr lang="en-US" sz="1400" dirty="0"/>
              <a:t>Maximum flexibility and configurability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/>
              <a:t>Coordinates the end-to-end training job, including setup and teardown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/>
              <a:t>Full control of your custom </a:t>
            </a:r>
            <a:r>
              <a:rPr lang="en-US" sz="1400" b="1" dirty="0"/>
              <a:t>train.py</a:t>
            </a:r>
            <a:r>
              <a:rPr lang="en-US" sz="1400" dirty="0"/>
              <a:t> script</a:t>
            </a:r>
          </a:p>
        </p:txBody>
      </p:sp>
    </p:spTree>
    <p:extLst>
      <p:ext uri="{BB962C8B-B14F-4D97-AF65-F5344CB8AC3E}">
        <p14:creationId xmlns:p14="http://schemas.microsoft.com/office/powerpoint/2010/main" val="4132996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591F-D315-6374-05C2-00BCC283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 Evaluation &amp; the ROUGE Metric</a:t>
            </a:r>
            <a:endParaRPr lang="en-IN" b="1" dirty="0"/>
          </a:p>
        </p:txBody>
      </p:sp>
      <p:sp>
        <p:nvSpPr>
          <p:cNvPr id="1000" name="t1000"/>
          <p:cNvSpPr txBox="1"/>
          <p:nvPr/>
        </p:nvSpPr>
        <p:spPr>
          <a:xfrm>
            <a:off x="1049437" y="2462513"/>
            <a:ext cx="4448537" cy="116807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dirty="0"/>
              <a:t>ROUGE (Recall-Oriented Understudy for Gisting Evaluation) scores summarization by overlap between the generated and reference text — higher = more similar.</a:t>
            </a:r>
          </a:p>
        </p:txBody>
      </p:sp>
      <p:sp>
        <p:nvSpPr>
          <p:cNvPr id="1001" name="t1001"/>
          <p:cNvSpPr txBox="1"/>
          <p:nvPr/>
        </p:nvSpPr>
        <p:spPr>
          <a:xfrm>
            <a:off x="838200" y="3924460"/>
            <a:ext cx="5969000" cy="1744884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44709D"/>
                </a:solidFill>
              </a:rPr>
              <a:t>ROUGE-1 </a:t>
            </a:r>
            <a:r>
              <a:rPr lang="en-US" dirty="0"/>
              <a:t>— overlapping unigrams (single words)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83992A"/>
                </a:solidFill>
              </a:rPr>
              <a:t>ROUGE-2 </a:t>
            </a:r>
            <a:r>
              <a:rPr lang="en-US" dirty="0"/>
              <a:t>— overlapping bigrams (two consecutive words)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D97828"/>
                </a:solidFill>
              </a:rPr>
              <a:t>ROUGE-L </a:t>
            </a:r>
            <a:r>
              <a:rPr lang="en-US" dirty="0"/>
              <a:t>— longest common subsequence (consecutive n-grams)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Task-specific: ROUGE for summarization, BLEU for translation. Supported by Hugging Face </a:t>
            </a:r>
            <a:r>
              <a:rPr lang="en-US" b="1" dirty="0"/>
              <a:t>evaluate</a:t>
            </a:r>
            <a:r>
              <a:rPr lang="en-US" dirty="0"/>
              <a:t> library.</a:t>
            </a:r>
          </a:p>
        </p:txBody>
      </p:sp>
      <p:sp>
        <p:nvSpPr>
          <p:cNvPr id="1002" name="p1002"/>
          <p:cNvSpPr/>
          <p:nvPr/>
        </p:nvSpPr>
        <p:spPr>
          <a:xfrm>
            <a:off x="6832600" y="2514600"/>
            <a:ext cx="4749800" cy="3175000"/>
          </a:xfrm>
          <a:prstGeom prst="roundRect">
            <a:avLst/>
          </a:prstGeom>
          <a:solidFill>
            <a:srgbClr val="FBF1EC"/>
          </a:solidFill>
          <a:ln w="12700">
            <a:solidFill>
              <a:srgbClr val="A23C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3" name="t1003"/>
          <p:cNvSpPr txBox="1"/>
          <p:nvPr/>
        </p:nvSpPr>
        <p:spPr>
          <a:xfrm>
            <a:off x="7061200" y="2667000"/>
            <a:ext cx="4292600" cy="2895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500" b="1" dirty="0">
                <a:solidFill>
                  <a:srgbClr val="A23C33"/>
                </a:solidFill>
              </a:rPr>
              <a:t>Why ROUGE is controversial</a:t>
            </a:r>
          </a:p>
          <a:p>
            <a:r>
              <a:rPr lang="en-US" sz="1400" dirty="0"/>
              <a:t>Similar wording can mean opposite things. ROUGE counts word overlap, not meaning:</a:t>
            </a:r>
          </a:p>
          <a:p>
            <a:pPr marL="171450" indent="-171450">
              <a:buFont typeface="Arial"/>
              <a:buChar char="•"/>
            </a:pPr>
            <a:r>
              <a:rPr lang="en-US" sz="1400" i="1" dirty="0"/>
              <a:t>"This book is great"</a:t>
            </a:r>
          </a:p>
          <a:p>
            <a:pPr marL="171450" indent="-171450">
              <a:buFont typeface="Arial"/>
              <a:buChar char="•"/>
            </a:pPr>
            <a:r>
              <a:rPr lang="en-US" sz="1400" i="1" dirty="0"/>
              <a:t>"This book is not great"</a:t>
            </a:r>
          </a:p>
          <a:p>
            <a:r>
              <a:rPr lang="en-US" sz="1400" dirty="0"/>
              <a:t>Score high together — yet are opposite. Still useful as a </a:t>
            </a:r>
            <a:r>
              <a:rPr lang="en-US" sz="1400" b="1" dirty="0"/>
              <a:t>relative</a:t>
            </a:r>
            <a:r>
              <a:rPr lang="en-US" sz="1400" dirty="0"/>
              <a:t> baseline before vs. after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98015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D0B5-A44E-FE83-7624-057F0CAF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Empirical Results: ~80% ROUGE Improvement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053C06-E7DC-4BD5-A07E-1BF871AFD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162638"/>
              </p:ext>
            </p:extLst>
          </p:nvPr>
        </p:nvGraphicFramePr>
        <p:xfrm>
          <a:off x="609600" y="2463799"/>
          <a:ext cx="5460999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1645043181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58616332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349092374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33708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ROUGE-1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/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b="1">
                          <a:solidFill>
                            <a:srgbClr val="83992A"/>
                          </a:solidFill>
                        </a:rPr>
                        <a:t>0.41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585779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ROUGE-2</a:t>
                      </a:r>
                    </a:p>
                  </a:txBody>
                  <a:tcPr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/>
                        <a:t>0.08</a:t>
                      </a:r>
                    </a:p>
                  </a:txBody>
                  <a:tcPr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b="1">
                          <a:solidFill>
                            <a:srgbClr val="83992A"/>
                          </a:solidFill>
                        </a:rPr>
                        <a:t>0.17</a:t>
                      </a:r>
                    </a:p>
                  </a:txBody>
                  <a:tcPr anchor="ctr">
                    <a:solidFill>
                      <a:srgbClr val="ED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553607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ROUGE-L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/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b="1">
                          <a:solidFill>
                            <a:srgbClr val="83992A"/>
                          </a:solidFill>
                        </a:rPr>
                        <a:t>0.36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75000"/>
                  </a:ext>
                </a:extLst>
              </a:tr>
            </a:tbl>
          </a:graphicData>
        </a:graphic>
      </p:graphicFrame>
      <p:graphicFrame>
        <p:nvGraphicFramePr>
          <p:cNvPr id="151" name="ROUGE Chart"/>
          <p:cNvGraphicFramePr/>
          <p:nvPr/>
        </p:nvGraphicFramePr>
        <p:xfrm>
          <a:off x="6324600" y="2413000"/>
          <a:ext cx="52578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379EAD-8AF1-4C6C-9BCA-85ED4FBE643B}"/>
              </a:ext>
            </a:extLst>
          </p:cNvPr>
          <p:cNvSpPr txBox="1"/>
          <p:nvPr/>
        </p:nvSpPr>
        <p:spPr>
          <a:xfrm>
            <a:off x="609600" y="4800600"/>
            <a:ext cx="54610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/>
              <a:t>≈80% relative improvement in ROUGE after fine-tuning on the dialogsum dataset, measured on a holdout test set the model never saw during training.</a:t>
            </a:r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45890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DE35-2881-F2EB-CAF3-2C1F4153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Holistic Benchmarks</a:t>
            </a:r>
          </a:p>
        </p:txBody>
      </p:sp>
      <p:sp>
        <p:nvSpPr>
          <p:cNvPr id="1200" name="t1200"/>
          <p:cNvSpPr txBox="1"/>
          <p:nvPr/>
        </p:nvSpPr>
        <p:spPr>
          <a:xfrm>
            <a:off x="609600" y="2159000"/>
            <a:ext cx="10972800" cy="3048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r>
              <a:rPr lang="en-US" sz="1450" dirty="0"/>
              <a:t>Community benchmarks evaluate models more holistically across many complex tasks — reading comprehension, reasoning, and more.</a:t>
            </a:r>
          </a:p>
        </p:txBody>
      </p:sp>
      <p:sp>
        <p:nvSpPr>
          <p:cNvPr id="1201" name="bc1201"/>
          <p:cNvSpPr/>
          <p:nvPr/>
        </p:nvSpPr>
        <p:spPr>
          <a:xfrm>
            <a:off x="609600" y="2489200"/>
            <a:ext cx="5372100" cy="1397000"/>
          </a:xfrm>
          <a:prstGeom prst="roundRect">
            <a:avLst/>
          </a:prstGeom>
          <a:solidFill>
            <a:srgbClr val="F5F6F2"/>
          </a:solidFill>
          <a:ln w="19050">
            <a:solidFill>
              <a:srgbClr val="83992A"/>
            </a:solidFill>
          </a:ln>
        </p:spPr>
        <p:txBody>
          <a:bodyPr wrap="square" lIns="90000" tIns="54000" rIns="72000" bIns="36000" anchor="ctr"/>
          <a:lstStyle/>
          <a:p>
            <a:r>
              <a:rPr lang="en-US" sz="1600" b="1" dirty="0">
                <a:solidFill>
                  <a:srgbClr val="83992A"/>
                </a:solidFill>
              </a:rPr>
              <a:t>GLUE</a:t>
            </a:r>
            <a:r>
              <a:rPr lang="en-US" sz="1300" dirty="0">
                <a:solidFill>
                  <a:srgbClr val="595959"/>
                </a:solidFill>
              </a:rPr>
              <a:t>   (2018)</a:t>
            </a:r>
          </a:p>
          <a:p>
            <a:r>
              <a:rPr lang="en-US" sz="1400" dirty="0"/>
              <a:t>General Language Understanding Evaluation across a set of language tasks; public leaderboard.</a:t>
            </a:r>
          </a:p>
        </p:txBody>
      </p:sp>
      <p:sp>
        <p:nvSpPr>
          <p:cNvPr id="1202" name="bc1202"/>
          <p:cNvSpPr/>
          <p:nvPr/>
        </p:nvSpPr>
        <p:spPr>
          <a:xfrm>
            <a:off x="6210300" y="2489200"/>
            <a:ext cx="5372100" cy="1397000"/>
          </a:xfrm>
          <a:prstGeom prst="roundRect">
            <a:avLst/>
          </a:prstGeom>
          <a:solidFill>
            <a:srgbClr val="F5F6F2"/>
          </a:solidFill>
          <a:ln w="19050">
            <a:solidFill>
              <a:srgbClr val="3C9770"/>
            </a:solidFill>
          </a:ln>
        </p:spPr>
        <p:txBody>
          <a:bodyPr wrap="square" lIns="90000" tIns="54000" rIns="72000" bIns="36000" anchor="ctr"/>
          <a:lstStyle/>
          <a:p>
            <a:r>
              <a:rPr lang="en-US" sz="1600" b="1" dirty="0">
                <a:solidFill>
                  <a:srgbClr val="3C9770"/>
                </a:solidFill>
              </a:rPr>
              <a:t>SuperGLUE</a:t>
            </a:r>
            <a:r>
              <a:rPr lang="en-US" sz="1300" dirty="0">
                <a:solidFill>
                  <a:srgbClr val="595959"/>
                </a:solidFill>
              </a:rPr>
              <a:t>   (2019)</a:t>
            </a:r>
          </a:p>
          <a:p>
            <a:r>
              <a:rPr lang="en-US" sz="1400" dirty="0"/>
              <a:t>Successor to GLUE with harder tasks: multi-sentence reasoning &amp; reading comprehension.</a:t>
            </a:r>
          </a:p>
        </p:txBody>
      </p:sp>
      <p:sp>
        <p:nvSpPr>
          <p:cNvPr id="1203" name="bc1203"/>
          <p:cNvSpPr/>
          <p:nvPr/>
        </p:nvSpPr>
        <p:spPr>
          <a:xfrm>
            <a:off x="609600" y="4064000"/>
            <a:ext cx="5372100" cy="1397000"/>
          </a:xfrm>
          <a:prstGeom prst="roundRect">
            <a:avLst/>
          </a:prstGeom>
          <a:solidFill>
            <a:srgbClr val="F5F6F2"/>
          </a:solidFill>
          <a:ln w="19050">
            <a:solidFill>
              <a:srgbClr val="44709D"/>
            </a:solidFill>
          </a:ln>
        </p:spPr>
        <p:txBody>
          <a:bodyPr wrap="square" lIns="90000" tIns="54000" rIns="72000" bIns="36000" anchor="ctr"/>
          <a:lstStyle/>
          <a:p>
            <a:r>
              <a:rPr lang="en-US" sz="1600" b="1" dirty="0">
                <a:solidFill>
                  <a:srgbClr val="44709D"/>
                </a:solidFill>
              </a:rPr>
              <a:t>HELM</a:t>
            </a:r>
            <a:r>
              <a:rPr lang="en-US" sz="1300" dirty="0">
                <a:solidFill>
                  <a:srgbClr val="595959"/>
                </a:solidFill>
              </a:rPr>
              <a:t>   7 metrics · 16 scenarios</a:t>
            </a:r>
          </a:p>
          <a:p>
            <a:r>
              <a:rPr lang="en-US" sz="1400" dirty="0"/>
              <a:t>"Living" benchmark for transparency — QA, summarization, sentiment, toxicity &amp; bias.</a:t>
            </a:r>
          </a:p>
        </p:txBody>
      </p:sp>
      <p:sp>
        <p:nvSpPr>
          <p:cNvPr id="1204" name="bc1204"/>
          <p:cNvSpPr/>
          <p:nvPr/>
        </p:nvSpPr>
        <p:spPr>
          <a:xfrm>
            <a:off x="6210300" y="4064000"/>
            <a:ext cx="5372100" cy="1397000"/>
          </a:xfrm>
          <a:prstGeom prst="roundRect">
            <a:avLst/>
          </a:prstGeom>
          <a:solidFill>
            <a:srgbClr val="F5F6F2"/>
          </a:solidFill>
          <a:ln w="19050">
            <a:solidFill>
              <a:srgbClr val="D97828"/>
            </a:solidFill>
          </a:ln>
        </p:spPr>
        <p:txBody>
          <a:bodyPr wrap="square" lIns="90000" tIns="54000" rIns="72000" bIns="36000" anchor="ctr"/>
          <a:lstStyle/>
          <a:p>
            <a:r>
              <a:rPr lang="en-US" sz="1600" b="1" dirty="0">
                <a:solidFill>
                  <a:srgbClr val="A85A14"/>
                </a:solidFill>
              </a:rPr>
              <a:t>MMLU &amp; BIG-bench</a:t>
            </a:r>
            <a:r>
              <a:rPr lang="en-US" sz="1300" dirty="0">
                <a:solidFill>
                  <a:srgbClr val="595959"/>
                </a:solidFill>
              </a:rPr>
              <a:t>   3 variants · 204 tasks</a:t>
            </a:r>
          </a:p>
          <a:p>
            <a:r>
              <a:rPr lang="en-US" sz="1400" dirty="0"/>
              <a:t>MMLU: knowledge &amp; problem-solving across subjects. BIG-bench: 204 diverse tasks.</a:t>
            </a:r>
          </a:p>
        </p:txBody>
      </p:sp>
      <p:sp>
        <p:nvSpPr>
          <p:cNvPr id="1205" name="t1205"/>
          <p:cNvSpPr txBox="1"/>
          <p:nvPr/>
        </p:nvSpPr>
        <p:spPr>
          <a:xfrm>
            <a:off x="609600" y="5613400"/>
            <a:ext cx="10972800" cy="508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350" b="1" dirty="0">
                <a:solidFill>
                  <a:srgbClr val="A23C33"/>
                </a:solidFill>
              </a:rPr>
              <a:t>Also evaluate for harm: </a:t>
            </a:r>
            <a:r>
              <a:rPr lang="en-US" sz="1350" dirty="0"/>
              <a:t>RealToxicityPrompts (hate speech) and TruthfulQA (misinformation). Note: multiple benchmark variants exist, fueling debate over relevance.</a:t>
            </a:r>
          </a:p>
        </p:txBody>
      </p:sp>
    </p:spTree>
    <p:extLst>
      <p:ext uri="{BB962C8B-B14F-4D97-AF65-F5344CB8AC3E}">
        <p14:creationId xmlns:p14="http://schemas.microsoft.com/office/powerpoint/2010/main" val="67725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2F1605-4E7B-D475-A521-4EEA9D2C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/>
              <a:t>Parameter-Efficient Fine-Tuning (PEFT)</a:t>
            </a:r>
            <a:endParaRPr lang="en-IN" b="1" dirty="0"/>
          </a:p>
        </p:txBody>
      </p:sp>
      <p:sp>
        <p:nvSpPr>
          <p:cNvPr id="1300" name="t1300"/>
          <p:cNvSpPr txBox="1"/>
          <p:nvPr/>
        </p:nvSpPr>
        <p:spPr>
          <a:xfrm>
            <a:off x="819150" y="2489200"/>
            <a:ext cx="5080000" cy="187445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lang="en-US" dirty="0"/>
              <a:t>Full fine-tuning updates </a:t>
            </a:r>
            <a:r>
              <a:rPr lang="en-US" b="1" dirty="0">
                <a:solidFill>
                  <a:srgbClr val="A23C33"/>
                </a:solidFill>
              </a:rPr>
              <a:t>every</a:t>
            </a:r>
            <a:r>
              <a:rPr lang="en-US" dirty="0"/>
              <a:t> weight — costly in compute, memory, and storage for billion-parameter models.</a:t>
            </a:r>
          </a:p>
          <a:p>
            <a:pPr marL="228600" indent="-228600">
              <a:buFont typeface="Arial"/>
              <a:buChar char="•"/>
            </a:pPr>
            <a:r>
              <a:rPr lang="en-US" b="1" dirty="0"/>
              <a:t>PEFT </a:t>
            </a:r>
            <a:r>
              <a:rPr lang="en-US" dirty="0"/>
              <a:t>freezes the pretrained model and trains only a small set of new or selected parameters.</a:t>
            </a:r>
          </a:p>
          <a:p>
            <a:pPr marL="228600" indent="-228600">
              <a:buFont typeface="Arial"/>
              <a:buChar char="•"/>
            </a:pPr>
            <a:r>
              <a:rPr lang="en-US" dirty="0"/>
              <a:t>Often updates </a:t>
            </a:r>
            <a:r>
              <a:rPr lang="en-US" b="1" dirty="0">
                <a:solidFill>
                  <a:srgbClr val="5A6B1D"/>
                </a:solidFill>
              </a:rPr>
              <a:t>&lt;1% of weights</a:t>
            </a:r>
            <a:r>
              <a:rPr lang="en-US" dirty="0"/>
              <a:t> while approaching full fine-tuning quality.</a:t>
            </a:r>
          </a:p>
        </p:txBody>
      </p:sp>
      <p:sp>
        <p:nvSpPr>
          <p:cNvPr id="1301" name="t1301"/>
          <p:cNvSpPr txBox="1"/>
          <p:nvPr/>
        </p:nvSpPr>
        <p:spPr>
          <a:xfrm>
            <a:off x="5969000" y="2108200"/>
            <a:ext cx="5613400" cy="2794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1300" b="1" i="1" dirty="0">
                <a:solidFill>
                  <a:srgbClr val="595959"/>
                </a:solidFill>
              </a:rPr>
              <a:t>Three families of PEFT methods</a:t>
            </a:r>
          </a:p>
        </p:txBody>
      </p:sp>
      <p:sp>
        <p:nvSpPr>
          <p:cNvPr id="1302" name="b1302"/>
          <p:cNvSpPr/>
          <p:nvPr/>
        </p:nvSpPr>
        <p:spPr>
          <a:xfrm>
            <a:off x="6875282" y="2867627"/>
            <a:ext cx="3327400" cy="508000"/>
          </a:xfrm>
          <a:prstGeom prst="roundRect">
            <a:avLst/>
          </a:prstGeom>
          <a:solidFill>
            <a:srgbClr val="2E4F70"/>
          </a:solidFill>
          <a:ln w="12700">
            <a:solidFill>
              <a:srgbClr val="2E4F70"/>
            </a:solidFill>
          </a:ln>
        </p:spPr>
        <p:txBody>
          <a:bodyPr wrap="square" lIns="63500" tIns="36000" rIns="63500" bIns="3600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PEFT</a:t>
            </a:r>
          </a:p>
        </p:txBody>
      </p:sp>
      <p:sp>
        <p:nvSpPr>
          <p:cNvPr id="1303" name="b1303"/>
          <p:cNvSpPr/>
          <p:nvPr/>
        </p:nvSpPr>
        <p:spPr>
          <a:xfrm>
            <a:off x="5334000" y="4566857"/>
            <a:ext cx="1778000" cy="1168400"/>
          </a:xfrm>
          <a:prstGeom prst="roundRect">
            <a:avLst/>
          </a:prstGeom>
          <a:solidFill>
            <a:srgbClr val="EEF3E4"/>
          </a:solidFill>
          <a:ln w="19050">
            <a:solidFill>
              <a:srgbClr val="5A6B1D"/>
            </a:solidFill>
          </a:ln>
        </p:spPr>
        <p:txBody>
          <a:bodyPr wrap="square" lIns="63500" tIns="36000" rIns="63500" bIns="360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5A6B1D"/>
                </a:solidFill>
              </a:rPr>
              <a:t>Additive</a:t>
            </a:r>
          </a:p>
          <a:p>
            <a:pPr algn="ctr"/>
            <a:r>
              <a:rPr lang="en-US" sz="1200" dirty="0">
                <a:solidFill>
                  <a:srgbClr val="3A3A3A"/>
                </a:solidFill>
              </a:rPr>
              <a:t>Adapters, prompt &amp; prefix tuning</a:t>
            </a:r>
          </a:p>
        </p:txBody>
      </p:sp>
      <p:sp>
        <p:nvSpPr>
          <p:cNvPr id="1304" name="b1304"/>
          <p:cNvSpPr/>
          <p:nvPr/>
        </p:nvSpPr>
        <p:spPr>
          <a:xfrm>
            <a:off x="7643632" y="4566857"/>
            <a:ext cx="1778000" cy="1168400"/>
          </a:xfrm>
          <a:prstGeom prst="roundRect">
            <a:avLst/>
          </a:prstGeom>
          <a:solidFill>
            <a:srgbClr val="E6F0EB"/>
          </a:solidFill>
          <a:ln w="19050">
            <a:solidFill>
              <a:srgbClr val="2A6B4E"/>
            </a:solidFill>
          </a:ln>
        </p:spPr>
        <p:txBody>
          <a:bodyPr wrap="square" lIns="63500" tIns="36000" rIns="63500" bIns="360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2A6B4E"/>
                </a:solidFill>
              </a:rPr>
              <a:t>Reparameterization</a:t>
            </a:r>
          </a:p>
          <a:p>
            <a:pPr algn="ctr"/>
            <a:r>
              <a:rPr lang="en-US" sz="1200" dirty="0">
                <a:solidFill>
                  <a:srgbClr val="3A3A3A"/>
                </a:solidFill>
              </a:rPr>
              <a:t>LoRA, QLoRA — low-rank updates</a:t>
            </a:r>
          </a:p>
        </p:txBody>
      </p:sp>
      <p:sp>
        <p:nvSpPr>
          <p:cNvPr id="1305" name="b1305"/>
          <p:cNvSpPr/>
          <p:nvPr/>
        </p:nvSpPr>
        <p:spPr>
          <a:xfrm>
            <a:off x="9829800" y="4566857"/>
            <a:ext cx="1778000" cy="1168400"/>
          </a:xfrm>
          <a:prstGeom prst="roundRect">
            <a:avLst/>
          </a:prstGeom>
          <a:solidFill>
            <a:srgbClr val="FBEFE2"/>
          </a:solidFill>
          <a:ln w="19050">
            <a:solidFill>
              <a:srgbClr val="A85A14"/>
            </a:solidFill>
          </a:ln>
        </p:spPr>
        <p:txBody>
          <a:bodyPr wrap="square" lIns="63500" tIns="36000" rIns="63500" bIns="360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A85A14"/>
                </a:solidFill>
              </a:rPr>
              <a:t>Selective</a:t>
            </a:r>
          </a:p>
          <a:p>
            <a:pPr algn="ctr"/>
            <a:r>
              <a:rPr lang="en-US" sz="1200" dirty="0">
                <a:solidFill>
                  <a:srgbClr val="3A3A3A"/>
                </a:solidFill>
              </a:rPr>
              <a:t>BitFit, layer / bias tuning</a:t>
            </a:r>
          </a:p>
        </p:txBody>
      </p:sp>
      <p:cxnSp>
        <p:nvCxnSpPr>
          <p:cNvPr id="1306" name="c1306"/>
          <p:cNvCxnSpPr>
            <a:cxnSpLocks/>
          </p:cNvCxnSpPr>
          <p:nvPr/>
        </p:nvCxnSpPr>
        <p:spPr>
          <a:xfrm rot="5400000" flipH="1" flipV="1">
            <a:off x="6155535" y="3441192"/>
            <a:ext cx="1177617" cy="1119368"/>
          </a:xfrm>
          <a:prstGeom prst="bentConnector3">
            <a:avLst/>
          </a:prstGeom>
          <a:ln w="15875">
            <a:solidFill>
              <a:srgbClr val="9AA0A6"/>
            </a:solidFill>
          </a:ln>
        </p:spPr>
      </p:cxnSp>
      <p:cxnSp>
        <p:nvCxnSpPr>
          <p:cNvPr id="1307" name="c1307"/>
          <p:cNvCxnSpPr>
            <a:cxnSpLocks/>
            <a:stCxn id="1304" idx="0"/>
          </p:cNvCxnSpPr>
          <p:nvPr/>
        </p:nvCxnSpPr>
        <p:spPr>
          <a:xfrm rot="5400000" flipH="1" flipV="1">
            <a:off x="7976404" y="4010629"/>
            <a:ext cx="1112456" cy="12700"/>
          </a:xfrm>
          <a:prstGeom prst="bentConnector3">
            <a:avLst/>
          </a:prstGeom>
          <a:ln w="15875">
            <a:solidFill>
              <a:srgbClr val="9AA0A6"/>
            </a:solidFill>
          </a:ln>
        </p:spPr>
      </p:cxnSp>
      <p:cxnSp>
        <p:nvCxnSpPr>
          <p:cNvPr id="1308" name="c1308"/>
          <p:cNvCxnSpPr>
            <a:cxnSpLocks/>
          </p:cNvCxnSpPr>
          <p:nvPr/>
        </p:nvCxnSpPr>
        <p:spPr>
          <a:xfrm rot="16200000" flipH="1">
            <a:off x="9468733" y="3456008"/>
            <a:ext cx="1214058" cy="1053296"/>
          </a:xfrm>
          <a:prstGeom prst="bentConnector3">
            <a:avLst>
              <a:gd name="adj1" fmla="val 50000"/>
            </a:avLst>
          </a:prstGeom>
          <a:ln w="15875">
            <a:solidFill>
              <a:srgbClr val="9AA0A6"/>
            </a:solidFill>
          </a:ln>
        </p:spPr>
      </p:cxnSp>
      <p:sp>
        <p:nvSpPr>
          <p:cNvPr id="1309" name="t1309"/>
          <p:cNvSpPr txBox="1"/>
          <p:nvPr/>
        </p:nvSpPr>
        <p:spPr>
          <a:xfrm>
            <a:off x="5725932" y="5875868"/>
            <a:ext cx="5613400" cy="508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ctr"/>
            <a:r>
              <a:rPr lang="en-US" sz="1250" dirty="0">
                <a:solidFill>
                  <a:srgbClr val="595959"/>
                </a:solidFill>
              </a:rPr>
              <a:t>This deck focuses on the reparameterization family: LoRA and QLoRA.</a:t>
            </a:r>
          </a:p>
        </p:txBody>
      </p:sp>
    </p:spTree>
    <p:extLst>
      <p:ext uri="{BB962C8B-B14F-4D97-AF65-F5344CB8AC3E}">
        <p14:creationId xmlns:p14="http://schemas.microsoft.com/office/powerpoint/2010/main" val="1565629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10DB-DEB8-CA45-D49C-BF1C0671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PEFT: When to Use It &amp; What to Watch For</a:t>
            </a:r>
            <a:endParaRPr lang="en-IN"/>
          </a:p>
        </p:txBody>
      </p:sp>
      <p:sp>
        <p:nvSpPr>
          <p:cNvPr id="1400" name="t1400"/>
          <p:cNvSpPr txBox="1"/>
          <p:nvPr/>
        </p:nvSpPr>
        <p:spPr>
          <a:xfrm>
            <a:off x="609600" y="2159000"/>
            <a:ext cx="10972800" cy="3048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r>
              <a:rPr lang="en-US" sz="1450" dirty="0"/>
              <a:t>PEFT updates a small fraction of parameters — making fine-tuning practical on limited hardware and easy to deploy per task.</a:t>
            </a:r>
          </a:p>
        </p:txBody>
      </p:sp>
      <p:sp>
        <p:nvSpPr>
          <p:cNvPr id="1401" name="ph1401"/>
          <p:cNvSpPr/>
          <p:nvPr/>
        </p:nvSpPr>
        <p:spPr>
          <a:xfrm>
            <a:off x="609600" y="2616200"/>
            <a:ext cx="5372100" cy="4318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A6B4E"/>
          </a:solidFill>
          <a:ln>
            <a:noFill/>
          </a:ln>
        </p:spPr>
        <p:txBody>
          <a:bodyPr wrap="square" lIns="90000" tIns="18000" rIns="36000" bIns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Strong fit when…</a:t>
            </a:r>
          </a:p>
        </p:txBody>
      </p:sp>
      <p:sp>
        <p:nvSpPr>
          <p:cNvPr id="1402" name="pb1402"/>
          <p:cNvSpPr/>
          <p:nvPr/>
        </p:nvSpPr>
        <p:spPr>
          <a:xfrm>
            <a:off x="609600" y="3048000"/>
            <a:ext cx="5372100" cy="2590800"/>
          </a:xfrm>
          <a:prstGeom prst="round2SameRect">
            <a:avLst>
              <a:gd name="adj1" fmla="val 0"/>
              <a:gd name="adj2" fmla="val 8000"/>
            </a:avLst>
          </a:prstGeom>
          <a:solidFill>
            <a:srgbClr val="F5F6F2"/>
          </a:solidFill>
          <a:ln w="12700">
            <a:solidFill>
              <a:srgbClr val="2A6B4E"/>
            </a:solidFill>
          </a:ln>
        </p:spPr>
        <p:txBody>
          <a:bodyPr wrap="square" lIns="90000" tIns="54000" rIns="72000" bIns="36000"/>
          <a:lstStyle/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Compute &amp; memory are constrained (single or few GPUs)</a:t>
            </a:r>
          </a:p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You need many task-specific variants of one base model</a:t>
            </a:r>
          </a:p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Frequent re-tuning as data evolves — fast, cheap iterations</a:t>
            </a:r>
          </a:p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Limited labeled data (hundreds–thousands of examples)</a:t>
            </a:r>
          </a:p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Swappable adapters must ship without duplicating the base</a:t>
            </a:r>
          </a:p>
        </p:txBody>
      </p:sp>
      <p:sp>
        <p:nvSpPr>
          <p:cNvPr id="1403" name="ph1403"/>
          <p:cNvSpPr/>
          <p:nvPr/>
        </p:nvSpPr>
        <p:spPr>
          <a:xfrm>
            <a:off x="6210300" y="2616200"/>
            <a:ext cx="5372100" cy="4318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A23C33"/>
          </a:solidFill>
          <a:ln>
            <a:noFill/>
          </a:ln>
        </p:spPr>
        <p:txBody>
          <a:bodyPr wrap="square" lIns="90000" tIns="18000" rIns="36000" bIns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Watch out for…</a:t>
            </a:r>
          </a:p>
        </p:txBody>
      </p:sp>
      <p:sp>
        <p:nvSpPr>
          <p:cNvPr id="1404" name="pb1404"/>
          <p:cNvSpPr/>
          <p:nvPr/>
        </p:nvSpPr>
        <p:spPr>
          <a:xfrm>
            <a:off x="6210300" y="3048000"/>
            <a:ext cx="5372100" cy="2590800"/>
          </a:xfrm>
          <a:prstGeom prst="round2SameRect">
            <a:avLst>
              <a:gd name="adj1" fmla="val 0"/>
              <a:gd name="adj2" fmla="val 8000"/>
            </a:avLst>
          </a:prstGeom>
          <a:solidFill>
            <a:srgbClr val="F5F6F2"/>
          </a:solidFill>
          <a:ln w="12700">
            <a:solidFill>
              <a:srgbClr val="A23C33"/>
            </a:solidFill>
          </a:ln>
        </p:spPr>
        <p:txBody>
          <a:bodyPr wrap="square" lIns="90000" tIns="54000" rIns="72000" bIns="36000"/>
          <a:lstStyle/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May trail full fine-tuning on the hardest, most novel tasks</a:t>
            </a:r>
          </a:p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Adapter placement &amp; rank need tuning per use case</a:t>
            </a:r>
          </a:p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Many adapters add serving/versioning complexity</a:t>
            </a:r>
          </a:p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Quality depends on a strong, well-aligned base model</a:t>
            </a:r>
          </a:p>
          <a:p>
            <a:pPr marL="200025" indent="-200025">
              <a:spcBef>
                <a:spcPts val="600"/>
              </a:spcBef>
              <a:buFont typeface="Arial"/>
              <a:buChar char="•"/>
            </a:pPr>
            <a:r>
              <a:rPr lang="en-US" sz="1500" dirty="0"/>
              <a:t>Not a fix for poor or biased training data</a:t>
            </a:r>
          </a:p>
        </p:txBody>
      </p:sp>
      <p:sp>
        <p:nvSpPr>
          <p:cNvPr id="1405" name="c1405"/>
          <p:cNvSpPr/>
          <p:nvPr/>
        </p:nvSpPr>
        <p:spPr>
          <a:xfrm>
            <a:off x="609600" y="5791200"/>
            <a:ext cx="3492500" cy="711200"/>
          </a:xfrm>
          <a:prstGeom prst="roundRect">
            <a:avLst/>
          </a:prstGeom>
          <a:solidFill>
            <a:srgbClr val="5A6B1D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&lt;1% params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updated vs. full fine-tuning</a:t>
            </a:r>
          </a:p>
        </p:txBody>
      </p:sp>
      <p:sp>
        <p:nvSpPr>
          <p:cNvPr id="1406" name="c1406"/>
          <p:cNvSpPr/>
          <p:nvPr/>
        </p:nvSpPr>
        <p:spPr>
          <a:xfrm>
            <a:off x="4356100" y="5791200"/>
            <a:ext cx="3492500" cy="7112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1 base model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many lightweight adapters</a:t>
            </a:r>
          </a:p>
        </p:txBody>
      </p:sp>
      <p:sp>
        <p:nvSpPr>
          <p:cNvPr id="1407" name="c1407"/>
          <p:cNvSpPr/>
          <p:nvPr/>
        </p:nvSpPr>
        <p:spPr>
          <a:xfrm>
            <a:off x="8102600" y="5791200"/>
            <a:ext cx="3479800" cy="711200"/>
          </a:xfrm>
          <a:prstGeom prst="roundRect">
            <a:avLst/>
          </a:prstGeom>
          <a:solidFill>
            <a:srgbClr val="A85A14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Lower cost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time, GPU memory &amp; storage</a:t>
            </a:r>
          </a:p>
        </p:txBody>
      </p:sp>
    </p:spTree>
    <p:extLst>
      <p:ext uri="{BB962C8B-B14F-4D97-AF65-F5344CB8AC3E}">
        <p14:creationId xmlns:p14="http://schemas.microsoft.com/office/powerpoint/2010/main" val="4006935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DD07-A035-0FDB-DB3B-89E4C88B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LoRA</a:t>
            </a:r>
            <a:r>
              <a:rPr lang="en-IN" b="1" dirty="0"/>
              <a:t>: Low-Rank Adaptation</a:t>
            </a:r>
          </a:p>
        </p:txBody>
      </p:sp>
      <p:sp>
        <p:nvSpPr>
          <p:cNvPr id="1500" name="t1500"/>
          <p:cNvSpPr txBox="1"/>
          <p:nvPr/>
        </p:nvSpPr>
        <p:spPr>
          <a:xfrm>
            <a:off x="1016000" y="2743200"/>
            <a:ext cx="5054600" cy="1905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14313" indent="-214313">
              <a:spcBef>
                <a:spcPts val="600"/>
              </a:spcBef>
              <a:buClr>
                <a:srgbClr val="5A6B1D"/>
              </a:buClr>
              <a:buFont typeface="Arial"/>
              <a:buChar char="•"/>
            </a:pPr>
            <a:r>
              <a:rPr lang="en-US" dirty="0"/>
              <a:t>Freezes pretrained weights </a:t>
            </a:r>
            <a:r>
              <a:rPr lang="en-US" b="1" dirty="0"/>
              <a:t>W</a:t>
            </a:r>
            <a:r>
              <a:rPr lang="en-US" dirty="0"/>
              <a:t> entirely</a:t>
            </a:r>
          </a:p>
          <a:p>
            <a:pPr marL="214313" indent="-214313">
              <a:spcBef>
                <a:spcPts val="600"/>
              </a:spcBef>
              <a:buClr>
                <a:srgbClr val="5A6B1D"/>
              </a:buClr>
              <a:buFont typeface="Arial"/>
              <a:buChar char="•"/>
            </a:pPr>
            <a:r>
              <a:rPr lang="en-US" dirty="0"/>
              <a:t>Adds a low-rank update </a:t>
            </a:r>
            <a:r>
              <a:rPr lang="en-US" b="1" dirty="0">
                <a:solidFill>
                  <a:srgbClr val="44709D"/>
                </a:solidFill>
              </a:rPr>
              <a:t>ΔW = B × A</a:t>
            </a:r>
          </a:p>
          <a:p>
            <a:pPr marL="214313" indent="-214313">
              <a:spcBef>
                <a:spcPts val="600"/>
              </a:spcBef>
              <a:buClr>
                <a:srgbClr val="5A6B1D"/>
              </a:buClr>
              <a:buFont typeface="Arial"/>
              <a:buChar char="•"/>
            </a:pPr>
            <a:r>
              <a:rPr lang="en-US" dirty="0"/>
              <a:t>Rank </a:t>
            </a:r>
            <a:r>
              <a:rPr lang="en-US" b="1" dirty="0"/>
              <a:t>r ≪ d</a:t>
            </a:r>
            <a:r>
              <a:rPr lang="en-US" dirty="0"/>
              <a:t>: trains well under 1% of weights</a:t>
            </a:r>
          </a:p>
          <a:p>
            <a:pPr marL="214313" indent="-214313">
              <a:spcBef>
                <a:spcPts val="600"/>
              </a:spcBef>
              <a:buClr>
                <a:srgbClr val="5A6B1D"/>
              </a:buClr>
              <a:buFont typeface="Arial"/>
              <a:buChar char="•"/>
            </a:pPr>
            <a:r>
              <a:rPr lang="en-US" dirty="0"/>
              <a:t>Only </a:t>
            </a:r>
            <a:r>
              <a:rPr lang="en-US" b="1" dirty="0"/>
              <a:t>A and B</a:t>
            </a:r>
            <a:r>
              <a:rPr lang="en-US" dirty="0"/>
              <a:t> are updated during training</a:t>
            </a:r>
          </a:p>
          <a:p>
            <a:pPr marL="214313" indent="-214313">
              <a:spcBef>
                <a:spcPts val="600"/>
              </a:spcBef>
              <a:buClr>
                <a:srgbClr val="5A6B1D"/>
              </a:buClr>
              <a:buFont typeface="Arial"/>
              <a:buChar char="•"/>
            </a:pPr>
            <a:r>
              <a:rPr lang="en-US" dirty="0"/>
              <a:t>Can </a:t>
            </a:r>
            <a:r>
              <a:rPr lang="en-US" b="1" dirty="0"/>
              <a:t>merge into W</a:t>
            </a:r>
            <a:r>
              <a:rPr lang="en-US" dirty="0"/>
              <a:t> at inference — no extra latency</a:t>
            </a:r>
          </a:p>
        </p:txBody>
      </p:sp>
      <p:sp>
        <p:nvSpPr>
          <p:cNvPr id="1501" name="t1501"/>
          <p:cNvSpPr txBox="1"/>
          <p:nvPr/>
        </p:nvSpPr>
        <p:spPr>
          <a:xfrm>
            <a:off x="5969000" y="2133600"/>
            <a:ext cx="5613400" cy="2794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1300" b="1" i="1" dirty="0">
                <a:solidFill>
                  <a:srgbClr val="595959"/>
                </a:solidFill>
              </a:rPr>
              <a:t>The LoRA decomposition</a:t>
            </a:r>
          </a:p>
        </p:txBody>
      </p:sp>
      <p:sp>
        <p:nvSpPr>
          <p:cNvPr id="1502" name="b1502"/>
          <p:cNvSpPr/>
          <p:nvPr/>
        </p:nvSpPr>
        <p:spPr>
          <a:xfrm>
            <a:off x="6070600" y="2667000"/>
            <a:ext cx="1905000" cy="1905000"/>
          </a:xfrm>
          <a:prstGeom prst="roundRect">
            <a:avLst/>
          </a:prstGeom>
          <a:solidFill>
            <a:srgbClr val="E9EDF3"/>
          </a:solidFill>
          <a:ln w="12700">
            <a:solidFill>
              <a:srgbClr val="8A94A6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2000" b="1" dirty="0">
                <a:solidFill>
                  <a:srgbClr val="555F70"/>
                </a:solidFill>
              </a:rPr>
              <a:t>W</a:t>
            </a:r>
          </a:p>
          <a:p>
            <a:pPr algn="ctr"/>
            <a:r>
              <a:rPr lang="en-US" sz="1200" dirty="0">
                <a:solidFill>
                  <a:srgbClr val="8A94A6"/>
                </a:solidFill>
              </a:rPr>
              <a:t>pretrained (frozen)</a:t>
            </a:r>
          </a:p>
          <a:p>
            <a:pPr algn="ctr"/>
            <a:r>
              <a:rPr lang="en-US" sz="1100" dirty="0">
                <a:solidFill>
                  <a:srgbClr val="8A94A6"/>
                </a:solidFill>
              </a:rPr>
              <a:t>d × d</a:t>
            </a:r>
          </a:p>
        </p:txBody>
      </p:sp>
      <p:sp>
        <p:nvSpPr>
          <p:cNvPr id="1503" name="t1503"/>
          <p:cNvSpPr txBox="1"/>
          <p:nvPr/>
        </p:nvSpPr>
        <p:spPr>
          <a:xfrm>
            <a:off x="8077200" y="3276600"/>
            <a:ext cx="533400" cy="6858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ctr"/>
            <a:r>
              <a:rPr lang="en-US" sz="2800" b="1" dirty="0">
                <a:solidFill>
                  <a:srgbClr val="2E4F70"/>
                </a:solidFill>
              </a:rPr>
              <a:t>+</a:t>
            </a:r>
          </a:p>
        </p:txBody>
      </p:sp>
      <p:sp>
        <p:nvSpPr>
          <p:cNvPr id="1504" name="b1504"/>
          <p:cNvSpPr/>
          <p:nvPr/>
        </p:nvSpPr>
        <p:spPr>
          <a:xfrm>
            <a:off x="8712200" y="2667000"/>
            <a:ext cx="660400" cy="1905000"/>
          </a:xfrm>
          <a:prstGeom prst="roundRect">
            <a:avLst/>
          </a:prstGeom>
          <a:solidFill>
            <a:srgbClr val="DCEAF6"/>
          </a:solidFill>
          <a:ln w="12700">
            <a:solidFill>
              <a:srgbClr val="44709D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800" b="1" dirty="0">
                <a:solidFill>
                  <a:srgbClr val="2E4F70"/>
                </a:solidFill>
              </a:rPr>
              <a:t>B</a:t>
            </a:r>
          </a:p>
          <a:p>
            <a:pPr algn="ctr"/>
            <a:r>
              <a:rPr lang="en-US" sz="1000" dirty="0">
                <a:solidFill>
                  <a:srgbClr val="44709D"/>
                </a:solidFill>
              </a:rPr>
              <a:t>d×r</a:t>
            </a:r>
          </a:p>
        </p:txBody>
      </p:sp>
      <p:sp>
        <p:nvSpPr>
          <p:cNvPr id="1505" name="b1505"/>
          <p:cNvSpPr/>
          <p:nvPr/>
        </p:nvSpPr>
        <p:spPr>
          <a:xfrm>
            <a:off x="9474200" y="3378200"/>
            <a:ext cx="1905000" cy="482600"/>
          </a:xfrm>
          <a:prstGeom prst="roundRect">
            <a:avLst/>
          </a:prstGeom>
          <a:solidFill>
            <a:srgbClr val="DCEAF6"/>
          </a:solidFill>
          <a:ln w="12700">
            <a:solidFill>
              <a:srgbClr val="44709D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800" b="1" dirty="0">
                <a:solidFill>
                  <a:srgbClr val="2E4F70"/>
                </a:solidFill>
              </a:rPr>
              <a:t>A</a:t>
            </a:r>
            <a:r>
              <a:rPr lang="en-US" sz="1000" dirty="0">
                <a:solidFill>
                  <a:srgbClr val="44709D"/>
                </a:solidFill>
              </a:rPr>
              <a:t>  r×d</a:t>
            </a:r>
          </a:p>
        </p:txBody>
      </p:sp>
      <p:sp>
        <p:nvSpPr>
          <p:cNvPr id="1506" name="t1506"/>
          <p:cNvSpPr txBox="1"/>
          <p:nvPr/>
        </p:nvSpPr>
        <p:spPr>
          <a:xfrm>
            <a:off x="8712200" y="4648200"/>
            <a:ext cx="2667000" cy="2794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44709D"/>
                </a:solidFill>
              </a:rPr>
              <a:t>ΔW = B×A  (trainable)</a:t>
            </a:r>
          </a:p>
        </p:txBody>
      </p:sp>
      <p:sp>
        <p:nvSpPr>
          <p:cNvPr id="1507" name="b1507"/>
          <p:cNvSpPr/>
          <p:nvPr/>
        </p:nvSpPr>
        <p:spPr>
          <a:xfrm>
            <a:off x="7112000" y="5181600"/>
            <a:ext cx="3810000" cy="508000"/>
          </a:xfrm>
          <a:prstGeom prst="roundRect">
            <a:avLst/>
          </a:prstGeom>
          <a:solidFill>
            <a:srgbClr val="2A6B4E"/>
          </a:solidFill>
          <a:ln w="12700">
            <a:solidFill>
              <a:srgbClr val="2A6B4E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h = Wx + (B×A)x</a:t>
            </a:r>
          </a:p>
        </p:txBody>
      </p:sp>
      <p:cxnSp>
        <p:nvCxnSpPr>
          <p:cNvPr id="1508" name="c1508"/>
          <p:cNvCxnSpPr/>
          <p:nvPr/>
        </p:nvCxnSpPr>
        <p:spPr>
          <a:xfrm>
            <a:off x="7023100" y="4572000"/>
            <a:ext cx="0" cy="609600"/>
          </a:xfrm>
          <a:prstGeom prst="straightConnector1">
            <a:avLst/>
          </a:prstGeom>
          <a:ln w="19050">
            <a:solidFill>
              <a:srgbClr val="2E4F70"/>
            </a:solidFill>
            <a:tailEnd type="triangle"/>
          </a:ln>
        </p:spPr>
      </p:cxnSp>
      <p:cxnSp>
        <p:nvCxnSpPr>
          <p:cNvPr id="1509" name="c1509"/>
          <p:cNvCxnSpPr/>
          <p:nvPr/>
        </p:nvCxnSpPr>
        <p:spPr>
          <a:xfrm>
            <a:off x="9982200" y="4927600"/>
            <a:ext cx="0" cy="254000"/>
          </a:xfrm>
          <a:prstGeom prst="straightConnector1">
            <a:avLst/>
          </a:prstGeom>
          <a:ln w="19050">
            <a:solidFill>
              <a:srgbClr val="2E4F70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691453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190A-3285-B6AF-0ECC-5B759565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LoRA in Practice: Knobs, Use Cases &amp; Limits</a:t>
            </a:r>
            <a:endParaRPr lang="en-IN"/>
          </a:p>
        </p:txBody>
      </p:sp>
      <p:sp>
        <p:nvSpPr>
          <p:cNvPr id="1600" name="t1600"/>
          <p:cNvSpPr txBox="1"/>
          <p:nvPr/>
        </p:nvSpPr>
        <p:spPr>
          <a:xfrm>
            <a:off x="609600" y="2159000"/>
            <a:ext cx="10972800" cy="3048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r>
              <a:rPr lang="en-US" sz="1450" b="1" dirty="0">
                <a:solidFill>
                  <a:srgbClr val="2E4F70"/>
                </a:solidFill>
              </a:rPr>
              <a:t>Key hyperparameters to tune</a:t>
            </a:r>
          </a:p>
        </p:txBody>
      </p:sp>
      <p:sp>
        <p:nvSpPr>
          <p:cNvPr id="1601" name="k1601"/>
          <p:cNvSpPr/>
          <p:nvPr/>
        </p:nvSpPr>
        <p:spPr>
          <a:xfrm>
            <a:off x="609600" y="2616200"/>
            <a:ext cx="3505200" cy="1498600"/>
          </a:xfrm>
          <a:prstGeom prst="roundRect">
            <a:avLst/>
          </a:prstGeom>
          <a:solidFill>
            <a:srgbClr val="F5F6F2"/>
          </a:solidFill>
          <a:ln w="19050">
            <a:solidFill>
              <a:srgbClr val="44709D"/>
            </a:solidFill>
          </a:ln>
        </p:spPr>
        <p:txBody>
          <a:bodyPr wrap="square" lIns="72000" tIns="45000" rIns="54000" bIns="36000" anchor="t"/>
          <a:lstStyle/>
          <a:p>
            <a:r>
              <a:rPr lang="en-US" sz="1600" b="1" dirty="0">
                <a:solidFill>
                  <a:srgbClr val="44709D"/>
                </a:solidFill>
              </a:rPr>
              <a:t>Rank r</a:t>
            </a:r>
            <a:r>
              <a:rPr lang="en-US" sz="1200" dirty="0">
                <a:solidFill>
                  <a:srgbClr val="595959"/>
                </a:solidFill>
              </a:rPr>
              <a:t>  (4–64 typical)</a:t>
            </a:r>
          </a:p>
          <a:p>
            <a:pPr>
              <a:spcBef>
                <a:spcPts val="300"/>
              </a:spcBef>
            </a:pPr>
            <a:r>
              <a:rPr lang="en-US" sz="1300" dirty="0"/>
              <a:t>Capacity of the update. Higher r = more expressive but more parameters.</a:t>
            </a:r>
          </a:p>
        </p:txBody>
      </p:sp>
      <p:sp>
        <p:nvSpPr>
          <p:cNvPr id="1602" name="k1602"/>
          <p:cNvSpPr/>
          <p:nvPr/>
        </p:nvSpPr>
        <p:spPr>
          <a:xfrm>
            <a:off x="4343400" y="2616200"/>
            <a:ext cx="3505200" cy="1498600"/>
          </a:xfrm>
          <a:prstGeom prst="roundRect">
            <a:avLst/>
          </a:prstGeom>
          <a:solidFill>
            <a:srgbClr val="F5F6F2"/>
          </a:solidFill>
          <a:ln w="19050">
            <a:solidFill>
              <a:srgbClr val="5A6B1D"/>
            </a:solidFill>
          </a:ln>
        </p:spPr>
        <p:txBody>
          <a:bodyPr wrap="square" lIns="72000" tIns="45000" rIns="54000" bIns="36000" anchor="t"/>
          <a:lstStyle/>
          <a:p>
            <a:r>
              <a:rPr lang="en-US" sz="1600" b="1" dirty="0">
                <a:solidFill>
                  <a:srgbClr val="5A6B1D"/>
                </a:solidFill>
              </a:rPr>
              <a:t>Alpha α</a:t>
            </a:r>
            <a:r>
              <a:rPr lang="en-US" sz="1200" dirty="0">
                <a:solidFill>
                  <a:srgbClr val="595959"/>
                </a:solidFill>
              </a:rPr>
              <a:t>  (scaling)</a:t>
            </a:r>
          </a:p>
          <a:p>
            <a:pPr>
              <a:spcBef>
                <a:spcPts val="300"/>
              </a:spcBef>
            </a:pPr>
            <a:r>
              <a:rPr lang="en-US" sz="1300" dirty="0"/>
              <a:t>Scales ΔW. Effective strength ≈ α / r; tuned alongside rank.</a:t>
            </a:r>
          </a:p>
        </p:txBody>
      </p:sp>
      <p:sp>
        <p:nvSpPr>
          <p:cNvPr id="1603" name="k1603"/>
          <p:cNvSpPr/>
          <p:nvPr/>
        </p:nvSpPr>
        <p:spPr>
          <a:xfrm>
            <a:off x="8077200" y="2616200"/>
            <a:ext cx="3505200" cy="1498600"/>
          </a:xfrm>
          <a:prstGeom prst="roundRect">
            <a:avLst/>
          </a:prstGeom>
          <a:solidFill>
            <a:srgbClr val="F5F6F2"/>
          </a:solidFill>
          <a:ln w="19050">
            <a:solidFill>
              <a:srgbClr val="A85A14"/>
            </a:solidFill>
          </a:ln>
        </p:spPr>
        <p:txBody>
          <a:bodyPr wrap="square" lIns="72000" tIns="45000" rIns="54000" bIns="36000" anchor="t"/>
          <a:lstStyle/>
          <a:p>
            <a:r>
              <a:rPr lang="en-US" sz="1600" b="1" dirty="0">
                <a:solidFill>
                  <a:srgbClr val="A85A14"/>
                </a:solidFill>
              </a:rPr>
              <a:t>Target modules</a:t>
            </a:r>
            <a:r>
              <a:rPr lang="en-US" sz="1200" dirty="0">
                <a:solidFill>
                  <a:srgbClr val="595959"/>
                </a:solidFill>
              </a:rPr>
              <a:t>  (where)</a:t>
            </a:r>
          </a:p>
          <a:p>
            <a:pPr>
              <a:spcBef>
                <a:spcPts val="300"/>
              </a:spcBef>
            </a:pPr>
            <a:r>
              <a:rPr lang="en-US" sz="1300" dirty="0"/>
              <a:t>Which layers get adapters — usually attention query &amp; value projections.</a:t>
            </a:r>
          </a:p>
        </p:txBody>
      </p:sp>
      <p:sp>
        <p:nvSpPr>
          <p:cNvPr id="1604" name="ph1604"/>
          <p:cNvSpPr/>
          <p:nvPr/>
        </p:nvSpPr>
        <p:spPr>
          <a:xfrm>
            <a:off x="609600" y="4343400"/>
            <a:ext cx="5372100" cy="381000"/>
          </a:xfrm>
          <a:prstGeom prst="round2SameRect">
            <a:avLst>
              <a:gd name="adj1" fmla="val 18000"/>
              <a:gd name="adj2" fmla="val 0"/>
            </a:avLst>
          </a:prstGeom>
          <a:solidFill>
            <a:srgbClr val="2A6B4E"/>
          </a:solidFill>
          <a:ln>
            <a:noFill/>
          </a:ln>
        </p:spPr>
        <p:txBody>
          <a:bodyPr wrap="square" lIns="90000" tIns="12000" rIns="36000" bIns="0" anchor="ctr"/>
          <a:lstStyle/>
          <a:p>
            <a:r>
              <a:rPr lang="en-US" sz="1500" b="1" dirty="0">
                <a:solidFill>
                  <a:srgbClr val="FFFFFF"/>
                </a:solidFill>
              </a:rPr>
              <a:t>Great for…</a:t>
            </a:r>
          </a:p>
        </p:txBody>
      </p:sp>
      <p:sp>
        <p:nvSpPr>
          <p:cNvPr id="1605" name="pb1605"/>
          <p:cNvSpPr/>
          <p:nvPr/>
        </p:nvSpPr>
        <p:spPr>
          <a:xfrm>
            <a:off x="609600" y="4724400"/>
            <a:ext cx="5372100" cy="1625600"/>
          </a:xfrm>
          <a:prstGeom prst="round2SameRect">
            <a:avLst>
              <a:gd name="adj1" fmla="val 0"/>
              <a:gd name="adj2" fmla="val 9000"/>
            </a:avLst>
          </a:prstGeom>
          <a:solidFill>
            <a:srgbClr val="F5F6F2"/>
          </a:solidFill>
          <a:ln w="12700">
            <a:solidFill>
              <a:srgbClr val="2A6B4E"/>
            </a:solidFill>
          </a:ln>
        </p:spPr>
        <p:txBody>
          <a:bodyPr wrap="square" lIns="90000" tIns="45000" rIns="72000" bIns="36000"/>
          <a:lstStyle/>
          <a:p>
            <a:pPr marL="200025" indent="-200025">
              <a:spcBef>
                <a:spcPts val="5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350" dirty="0"/>
              <a:t>Many domain/task variants from one base model</a:t>
            </a:r>
          </a:p>
          <a:p>
            <a:pPr marL="200025" indent="-200025">
              <a:spcBef>
                <a:spcPts val="5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350" dirty="0"/>
              <a:t>Instruction tuning &amp; chat-style adaptation</a:t>
            </a:r>
          </a:p>
          <a:p>
            <a:pPr marL="200025" indent="-200025">
              <a:spcBef>
                <a:spcPts val="5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350" dirty="0"/>
              <a:t>Fast, low-cost iteration on modest GPUs</a:t>
            </a:r>
          </a:p>
        </p:txBody>
      </p:sp>
      <p:sp>
        <p:nvSpPr>
          <p:cNvPr id="1606" name="ph1606"/>
          <p:cNvSpPr/>
          <p:nvPr/>
        </p:nvSpPr>
        <p:spPr>
          <a:xfrm>
            <a:off x="6210300" y="4343400"/>
            <a:ext cx="5372100" cy="381000"/>
          </a:xfrm>
          <a:prstGeom prst="round2SameRect">
            <a:avLst>
              <a:gd name="adj1" fmla="val 18000"/>
              <a:gd name="adj2" fmla="val 0"/>
            </a:avLst>
          </a:prstGeom>
          <a:solidFill>
            <a:srgbClr val="A23C33"/>
          </a:solidFill>
          <a:ln>
            <a:noFill/>
          </a:ln>
        </p:spPr>
        <p:txBody>
          <a:bodyPr wrap="square" lIns="90000" tIns="12000" rIns="36000" bIns="0" anchor="ctr"/>
          <a:lstStyle/>
          <a:p>
            <a:r>
              <a:rPr lang="en-US" sz="1500" b="1" dirty="0">
                <a:solidFill>
                  <a:srgbClr val="FFFFFF"/>
                </a:solidFill>
              </a:rPr>
              <a:t>Limits &amp; cautions</a:t>
            </a:r>
          </a:p>
        </p:txBody>
      </p:sp>
      <p:sp>
        <p:nvSpPr>
          <p:cNvPr id="1607" name="pb1607"/>
          <p:cNvSpPr/>
          <p:nvPr/>
        </p:nvSpPr>
        <p:spPr>
          <a:xfrm>
            <a:off x="6210300" y="4724400"/>
            <a:ext cx="5372100" cy="1625600"/>
          </a:xfrm>
          <a:prstGeom prst="round2SameRect">
            <a:avLst>
              <a:gd name="adj1" fmla="val 0"/>
              <a:gd name="adj2" fmla="val 9000"/>
            </a:avLst>
          </a:prstGeom>
          <a:solidFill>
            <a:srgbClr val="F5F6F2"/>
          </a:solidFill>
          <a:ln w="12700">
            <a:solidFill>
              <a:srgbClr val="A23C33"/>
            </a:solidFill>
          </a:ln>
        </p:spPr>
        <p:txBody>
          <a:bodyPr wrap="square" lIns="90000" tIns="45000" rIns="72000" bIns="36000"/>
          <a:lstStyle/>
          <a:p>
            <a:pPr marL="200025" indent="-200025">
              <a:spcBef>
                <a:spcPts val="5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350" dirty="0"/>
              <a:t>Very low rank may underfit hard, novel tasks</a:t>
            </a:r>
          </a:p>
          <a:p>
            <a:pPr marL="200025" indent="-200025">
              <a:spcBef>
                <a:spcPts val="5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350" dirty="0"/>
              <a:t>Rank, α &amp; target layers need per-task tuning</a:t>
            </a:r>
          </a:p>
          <a:p>
            <a:pPr marL="200025" indent="-200025">
              <a:spcBef>
                <a:spcPts val="5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350" dirty="0"/>
              <a:t>Doesn't shrink the base model's memory footprint</a:t>
            </a:r>
          </a:p>
        </p:txBody>
      </p:sp>
    </p:spTree>
    <p:extLst>
      <p:ext uri="{BB962C8B-B14F-4D97-AF65-F5344CB8AC3E}">
        <p14:creationId xmlns:p14="http://schemas.microsoft.com/office/powerpoint/2010/main" val="2622768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E4A0-BF3E-A10B-C7D7-8B3B9340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QLoRA: Quantized Low-Rank Adaptation</a:t>
            </a:r>
          </a:p>
        </p:txBody>
      </p:sp>
      <p:sp>
        <p:nvSpPr>
          <p:cNvPr id="1700" name="t1700"/>
          <p:cNvSpPr txBox="1"/>
          <p:nvPr/>
        </p:nvSpPr>
        <p:spPr>
          <a:xfrm>
            <a:off x="762000" y="2489200"/>
            <a:ext cx="5003800" cy="7112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14313" indent="-214313">
              <a:spcBef>
                <a:spcPts val="800"/>
              </a:spcBef>
              <a:buClr>
                <a:srgbClr val="5A6B1D"/>
              </a:buClr>
              <a:buFont typeface="Arial"/>
              <a:buChar char="•"/>
            </a:pPr>
            <a:r>
              <a:rPr lang="en-US" sz="1400" dirty="0"/>
              <a:t>Frozen base quantized to </a:t>
            </a:r>
            <a:r>
              <a:rPr lang="en-US" sz="1400" b="1" dirty="0">
                <a:solidFill>
                  <a:srgbClr val="A85A14"/>
                </a:solidFill>
              </a:rPr>
              <a:t>4-bit NF4</a:t>
            </a:r>
          </a:p>
          <a:p>
            <a:pPr marL="214313" indent="-214313">
              <a:spcBef>
                <a:spcPts val="800"/>
              </a:spcBef>
              <a:buClr>
                <a:srgbClr val="5A6B1D"/>
              </a:buClr>
              <a:buFont typeface="Arial"/>
              <a:buChar char="•"/>
            </a:pPr>
            <a:r>
              <a:rPr lang="en-US" sz="1400" dirty="0"/>
              <a:t>LoRA adapters trained in </a:t>
            </a:r>
            <a:r>
              <a:rPr lang="en-US" sz="1400" b="1" dirty="0"/>
              <a:t>bf16</a:t>
            </a:r>
          </a:p>
          <a:p>
            <a:pPr marL="214313" indent="-214313">
              <a:spcBef>
                <a:spcPts val="800"/>
              </a:spcBef>
              <a:buClr>
                <a:srgbClr val="5A6B1D"/>
              </a:buClr>
              <a:buFont typeface="Arial"/>
              <a:buChar char="•"/>
            </a:pPr>
            <a:r>
              <a:rPr lang="en-US" sz="1400" b="1" dirty="0"/>
              <a:t>Double quantization</a:t>
            </a:r>
            <a:r>
              <a:rPr lang="en-US" sz="1400" dirty="0"/>
              <a:t> cuts memory more</a:t>
            </a:r>
          </a:p>
          <a:p>
            <a:pPr marL="214313" indent="-214313">
              <a:spcBef>
                <a:spcPts val="800"/>
              </a:spcBef>
              <a:buClr>
                <a:srgbClr val="5A6B1D"/>
              </a:buClr>
              <a:buFont typeface="Arial"/>
              <a:buChar char="•"/>
            </a:pPr>
            <a:r>
              <a:rPr lang="en-US" sz="1400" b="1" dirty="0"/>
              <a:t>Paged optimizers</a:t>
            </a:r>
            <a:r>
              <a:rPr lang="en-US" sz="1400" dirty="0"/>
              <a:t> avoid OOM spikes</a:t>
            </a:r>
          </a:p>
          <a:p>
            <a:pPr marL="214313" indent="-214313">
              <a:spcBef>
                <a:spcPts val="800"/>
              </a:spcBef>
              <a:buClr>
                <a:srgbClr val="5A6B1D"/>
              </a:buClr>
              <a:buFont typeface="Arial"/>
              <a:buChar char="•"/>
            </a:pPr>
            <a:r>
              <a:rPr lang="en-US" sz="1400" dirty="0"/>
              <a:t>Tunes a </a:t>
            </a:r>
            <a:r>
              <a:rPr lang="en-US" sz="1400" b="1" dirty="0"/>
              <a:t>65B model on one 48 GB GPU</a:t>
            </a:r>
          </a:p>
          <a:p>
            <a:pPr>
              <a:buNone/>
            </a:pPr>
            <a:endParaRPr lang="en-US" sz="400" dirty="0"/>
          </a:p>
        </p:txBody>
      </p:sp>
      <p:sp>
        <p:nvSpPr>
          <p:cNvPr id="1701" name="t1701"/>
          <p:cNvSpPr txBox="1"/>
          <p:nvPr/>
        </p:nvSpPr>
        <p:spPr>
          <a:xfrm>
            <a:off x="5969000" y="2133600"/>
            <a:ext cx="5613400" cy="2794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1300" b="1" i="1" dirty="0">
                <a:solidFill>
                  <a:srgbClr val="595959"/>
                </a:solidFill>
              </a:rPr>
              <a:t>QLoRA = 4-bit base + precise adapters</a:t>
            </a:r>
          </a:p>
        </p:txBody>
      </p:sp>
      <p:sp>
        <p:nvSpPr>
          <p:cNvPr id="1702" name="b1702"/>
          <p:cNvSpPr/>
          <p:nvPr/>
        </p:nvSpPr>
        <p:spPr>
          <a:xfrm>
            <a:off x="5969000" y="2616200"/>
            <a:ext cx="5613400" cy="1219200"/>
          </a:xfrm>
          <a:prstGeom prst="roundRect">
            <a:avLst/>
          </a:prstGeom>
          <a:solidFill>
            <a:srgbClr val="FBEFE3"/>
          </a:solidFill>
          <a:ln w="12700">
            <a:solidFill>
              <a:srgbClr val="A85A14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600" b="1" dirty="0">
                <a:solidFill>
                  <a:srgbClr val="7A410E"/>
                </a:solidFill>
              </a:rPr>
              <a:t>Frozen base model</a:t>
            </a:r>
          </a:p>
          <a:p>
            <a:pPr algn="ctr"/>
            <a:r>
              <a:rPr lang="en-US" sz="1300" dirty="0">
                <a:solidFill>
                  <a:srgbClr val="7A410E"/>
                </a:solidFill>
              </a:rPr>
              <a:t>quantized to 4-bit NF4  ·  most of the memory savings</a:t>
            </a:r>
          </a:p>
        </p:txBody>
      </p:sp>
      <p:sp>
        <p:nvSpPr>
          <p:cNvPr id="1703" name="t1703"/>
          <p:cNvSpPr txBox="1"/>
          <p:nvPr/>
        </p:nvSpPr>
        <p:spPr>
          <a:xfrm>
            <a:off x="8445500" y="3860800"/>
            <a:ext cx="660400" cy="3810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2000" b="1" dirty="0">
                <a:solidFill>
                  <a:srgbClr val="2E4F70"/>
                </a:solidFill>
              </a:rPr>
              <a:t>+</a:t>
            </a:r>
          </a:p>
        </p:txBody>
      </p:sp>
      <p:sp>
        <p:nvSpPr>
          <p:cNvPr id="1704" name="b1704"/>
          <p:cNvSpPr/>
          <p:nvPr/>
        </p:nvSpPr>
        <p:spPr>
          <a:xfrm>
            <a:off x="5969000" y="4216400"/>
            <a:ext cx="5613400" cy="914400"/>
          </a:xfrm>
          <a:prstGeom prst="roundRect">
            <a:avLst/>
          </a:prstGeom>
          <a:solidFill>
            <a:srgbClr val="DCEAF6"/>
          </a:solidFill>
          <a:ln w="12700">
            <a:solidFill>
              <a:srgbClr val="44709D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600" b="1" dirty="0">
                <a:solidFill>
                  <a:srgbClr val="2E4F70"/>
                </a:solidFill>
              </a:rPr>
              <a:t>LoRA adapters (B × A)</a:t>
            </a:r>
          </a:p>
          <a:p>
            <a:pPr algn="ctr"/>
            <a:r>
              <a:rPr lang="en-US" sz="1300" dirty="0">
                <a:solidFill>
                  <a:srgbClr val="44709D"/>
                </a:solidFill>
              </a:rPr>
              <a:t>trained in bf16  ·  the only updated weights</a:t>
            </a:r>
          </a:p>
        </p:txBody>
      </p:sp>
      <p:sp>
        <p:nvSpPr>
          <p:cNvPr id="1705" name="c1705"/>
          <p:cNvSpPr/>
          <p:nvPr/>
        </p:nvSpPr>
        <p:spPr>
          <a:xfrm>
            <a:off x="609600" y="5384800"/>
            <a:ext cx="2540000" cy="482600"/>
          </a:xfrm>
          <a:prstGeom prst="roundRect">
            <a:avLst/>
          </a:prstGeom>
          <a:solidFill>
            <a:srgbClr val="A85A14"/>
          </a:solidFill>
          <a:ln>
            <a:noFill/>
          </a:ln>
        </p:spPr>
        <p:txBody>
          <a:bodyPr wrap="square" lIns="36000" tIns="9000" rIns="36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4-bit NF4</a:t>
            </a:r>
          </a:p>
        </p:txBody>
      </p:sp>
      <p:sp>
        <p:nvSpPr>
          <p:cNvPr id="1706" name="c1706"/>
          <p:cNvSpPr/>
          <p:nvPr/>
        </p:nvSpPr>
        <p:spPr>
          <a:xfrm>
            <a:off x="3251200" y="5384800"/>
            <a:ext cx="2540000" cy="482600"/>
          </a:xfrm>
          <a:prstGeom prst="roundRect">
            <a:avLst/>
          </a:prstGeom>
          <a:solidFill>
            <a:srgbClr val="5A6B1D"/>
          </a:solidFill>
          <a:ln>
            <a:noFill/>
          </a:ln>
        </p:spPr>
        <p:txBody>
          <a:bodyPr wrap="square" lIns="36000" tIns="9000" rIns="36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Double quant.</a:t>
            </a:r>
          </a:p>
        </p:txBody>
      </p:sp>
      <p:sp>
        <p:nvSpPr>
          <p:cNvPr id="1707" name="c1707"/>
          <p:cNvSpPr/>
          <p:nvPr/>
        </p:nvSpPr>
        <p:spPr>
          <a:xfrm>
            <a:off x="5892800" y="5384800"/>
            <a:ext cx="2540000" cy="482600"/>
          </a:xfrm>
          <a:prstGeom prst="roundRect">
            <a:avLst/>
          </a:prstGeom>
          <a:solidFill>
            <a:srgbClr val="2A6B4E"/>
          </a:solidFill>
          <a:ln>
            <a:noFill/>
          </a:ln>
        </p:spPr>
        <p:txBody>
          <a:bodyPr wrap="square" lIns="36000" tIns="9000" rIns="36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Paged optimizers</a:t>
            </a:r>
          </a:p>
        </p:txBody>
      </p:sp>
      <p:sp>
        <p:nvSpPr>
          <p:cNvPr id="1708" name="c1708"/>
          <p:cNvSpPr/>
          <p:nvPr/>
        </p:nvSpPr>
        <p:spPr>
          <a:xfrm>
            <a:off x="8534400" y="5384800"/>
            <a:ext cx="2540000" cy="4826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36000" tIns="9000" rIns="36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65B on 1 GPU</a:t>
            </a:r>
          </a:p>
        </p:txBody>
      </p:sp>
    </p:spTree>
    <p:extLst>
      <p:ext uri="{BB962C8B-B14F-4D97-AF65-F5344CB8AC3E}">
        <p14:creationId xmlns:p14="http://schemas.microsoft.com/office/powerpoint/2010/main" val="2996704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C0D9-F1A1-5B07-4F89-469FBA09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QLoRA: When It Shines &amp; What to Weigh</a:t>
            </a:r>
            <a:endParaRPr lang="en-IN"/>
          </a:p>
        </p:txBody>
      </p:sp>
      <p:sp>
        <p:nvSpPr>
          <p:cNvPr id="1800" name="t1800"/>
          <p:cNvSpPr txBox="1"/>
          <p:nvPr/>
        </p:nvSpPr>
        <p:spPr>
          <a:xfrm>
            <a:off x="762000" y="2159000"/>
            <a:ext cx="10820400" cy="3048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r>
              <a:rPr lang="en-US" sz="1450" dirty="0"/>
              <a:t>QLoRA makes fine-tuning very large models feasible on a single GPU — at the cost of some quantization overhead.</a:t>
            </a:r>
          </a:p>
        </p:txBody>
      </p:sp>
      <p:sp>
        <p:nvSpPr>
          <p:cNvPr id="1801" name="ph1801"/>
          <p:cNvSpPr/>
          <p:nvPr/>
        </p:nvSpPr>
        <p:spPr>
          <a:xfrm>
            <a:off x="762000" y="2616200"/>
            <a:ext cx="5270500" cy="4318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A6B4E"/>
          </a:solidFill>
          <a:ln>
            <a:noFill/>
          </a:ln>
        </p:spPr>
        <p:txBody>
          <a:bodyPr wrap="square" lIns="90000" tIns="18000" rIns="36000" bIns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Shines when…</a:t>
            </a:r>
          </a:p>
        </p:txBody>
      </p:sp>
      <p:sp>
        <p:nvSpPr>
          <p:cNvPr id="1802" name="pb1802"/>
          <p:cNvSpPr/>
          <p:nvPr/>
        </p:nvSpPr>
        <p:spPr>
          <a:xfrm>
            <a:off x="762000" y="3048000"/>
            <a:ext cx="5270500" cy="2590800"/>
          </a:xfrm>
          <a:prstGeom prst="round2SameRect">
            <a:avLst>
              <a:gd name="adj1" fmla="val 0"/>
              <a:gd name="adj2" fmla="val 8000"/>
            </a:avLst>
          </a:prstGeom>
          <a:solidFill>
            <a:srgbClr val="F5F6F2"/>
          </a:solidFill>
          <a:ln w="12700">
            <a:solidFill>
              <a:srgbClr val="2A6B4E"/>
            </a:solidFill>
          </a:ln>
        </p:spPr>
        <p:txBody>
          <a:bodyPr wrap="square" lIns="90000" tIns="54000" rIns="72000" bIns="36000"/>
          <a:lstStyle/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You must fine-tune a very large model (30B–70B+)</a:t>
            </a:r>
          </a:p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Only one consumer / single data-center GPU is available</a:t>
            </a:r>
          </a:p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Memory — not training time — is the hard constraint</a:t>
            </a:r>
          </a:p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You want LoRA's modularity with a far smaller footprint</a:t>
            </a:r>
          </a:p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Rapid experimentation on a tight hardware budget</a:t>
            </a:r>
          </a:p>
          <a:p>
            <a:pPr>
              <a:buNone/>
            </a:pPr>
            <a:endParaRPr lang="en-US" sz="400" dirty="0"/>
          </a:p>
        </p:txBody>
      </p:sp>
      <p:sp>
        <p:nvSpPr>
          <p:cNvPr id="1803" name="ph1803"/>
          <p:cNvSpPr/>
          <p:nvPr/>
        </p:nvSpPr>
        <p:spPr>
          <a:xfrm>
            <a:off x="6311900" y="2616200"/>
            <a:ext cx="5270500" cy="4318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A23C33"/>
          </a:solidFill>
          <a:ln>
            <a:noFill/>
          </a:ln>
        </p:spPr>
        <p:txBody>
          <a:bodyPr wrap="square" lIns="90000" tIns="18000" rIns="36000" bIns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Weigh the trade-offs…</a:t>
            </a:r>
          </a:p>
        </p:txBody>
      </p:sp>
      <p:sp>
        <p:nvSpPr>
          <p:cNvPr id="1804" name="pb1804"/>
          <p:cNvSpPr/>
          <p:nvPr/>
        </p:nvSpPr>
        <p:spPr>
          <a:xfrm>
            <a:off x="6311900" y="3048000"/>
            <a:ext cx="5270500" cy="2590800"/>
          </a:xfrm>
          <a:prstGeom prst="round2SameRect">
            <a:avLst>
              <a:gd name="adj1" fmla="val 0"/>
              <a:gd name="adj2" fmla="val 8000"/>
            </a:avLst>
          </a:prstGeom>
          <a:solidFill>
            <a:srgbClr val="F5F6F2"/>
          </a:solidFill>
          <a:ln w="12700">
            <a:solidFill>
              <a:srgbClr val="A23C33"/>
            </a:solidFill>
          </a:ln>
        </p:spPr>
        <p:txBody>
          <a:bodyPr wrap="square" lIns="90000" tIns="54000" rIns="72000" bIns="36000"/>
          <a:lstStyle/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4-bit quantization can slightly reduce quality vs. bf16</a:t>
            </a:r>
          </a:p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Quantize / dequantize adds some compute overhead</a:t>
            </a:r>
          </a:p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Slower per step than plain LoRA on the same model</a:t>
            </a:r>
          </a:p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NF4 &amp; double-quant need a supported library stack</a:t>
            </a:r>
          </a:p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Merged weights stay quantized unless re-expanded</a:t>
            </a:r>
          </a:p>
          <a:p>
            <a:pPr>
              <a:buNone/>
            </a:pPr>
            <a:endParaRPr lang="en-US" sz="400" dirty="0"/>
          </a:p>
        </p:txBody>
      </p:sp>
      <p:sp>
        <p:nvSpPr>
          <p:cNvPr id="1805" name="c1805"/>
          <p:cNvSpPr/>
          <p:nvPr/>
        </p:nvSpPr>
        <p:spPr>
          <a:xfrm>
            <a:off x="762000" y="5791200"/>
            <a:ext cx="3454400" cy="711200"/>
          </a:xfrm>
          <a:prstGeom prst="roundRect">
            <a:avLst/>
          </a:prstGeom>
          <a:solidFill>
            <a:srgbClr val="5A6B1D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~4× less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memory vs. 16-bit fine-tuning</a:t>
            </a:r>
          </a:p>
        </p:txBody>
      </p:sp>
      <p:sp>
        <p:nvSpPr>
          <p:cNvPr id="1806" name="c1806"/>
          <p:cNvSpPr/>
          <p:nvPr/>
        </p:nvSpPr>
        <p:spPr>
          <a:xfrm>
            <a:off x="4470400" y="5791200"/>
            <a:ext cx="3454400" cy="7112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65B model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on a single 48 GB GPU</a:t>
            </a:r>
          </a:p>
        </p:txBody>
      </p:sp>
      <p:sp>
        <p:nvSpPr>
          <p:cNvPr id="1807" name="c1807"/>
          <p:cNvSpPr/>
          <p:nvPr/>
        </p:nvSpPr>
        <p:spPr>
          <a:xfrm>
            <a:off x="8178800" y="5791200"/>
            <a:ext cx="3403600" cy="711200"/>
          </a:xfrm>
          <a:prstGeom prst="roundRect">
            <a:avLst/>
          </a:prstGeom>
          <a:solidFill>
            <a:srgbClr val="A85A14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≈ LoRA quality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with a fraction of the memory</a:t>
            </a:r>
          </a:p>
        </p:txBody>
      </p:sp>
    </p:spTree>
    <p:extLst>
      <p:ext uri="{BB962C8B-B14F-4D97-AF65-F5344CB8AC3E}">
        <p14:creationId xmlns:p14="http://schemas.microsoft.com/office/powerpoint/2010/main" val="471273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DA4B-BD6E-D015-CE97-46B6DF5AC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Prompt-Based Optimization</a:t>
            </a:r>
          </a:p>
        </p:txBody>
      </p:sp>
      <p:sp>
        <p:nvSpPr>
          <p:cNvPr id="1900" name="t1900"/>
          <p:cNvSpPr txBox="1"/>
          <p:nvPr/>
        </p:nvSpPr>
        <p:spPr>
          <a:xfrm>
            <a:off x="889000" y="2679700"/>
            <a:ext cx="5080000" cy="3175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14313" indent="-214313">
              <a:spcBef>
                <a:spcPts val="700"/>
              </a:spcBef>
              <a:buClr>
                <a:srgbClr val="5A6B1D"/>
              </a:buClr>
              <a:buFont typeface="Arial"/>
              <a:buChar char="•"/>
            </a:pPr>
            <a:r>
              <a:rPr lang="en-US" dirty="0"/>
              <a:t>Model weights stay </a:t>
            </a:r>
            <a:r>
              <a:rPr lang="en-US" b="1" dirty="0"/>
              <a:t>100% frozen</a:t>
            </a:r>
          </a:p>
          <a:p>
            <a:pPr marL="214313" indent="-214313">
              <a:spcBef>
                <a:spcPts val="700"/>
              </a:spcBef>
              <a:buClr>
                <a:srgbClr val="5A6B1D"/>
              </a:buClr>
              <a:buFont typeface="Arial"/>
              <a:buChar char="•"/>
            </a:pPr>
            <a:r>
              <a:rPr lang="en-US" b="1" dirty="0">
                <a:solidFill>
                  <a:srgbClr val="44709D"/>
                </a:solidFill>
              </a:rPr>
              <a:t>Soft prompts</a:t>
            </a:r>
            <a:r>
              <a:rPr lang="en-US" dirty="0"/>
              <a:t>: trainable vectors, not words</a:t>
            </a:r>
          </a:p>
          <a:p>
            <a:pPr marL="214313" indent="-214313">
              <a:spcBef>
                <a:spcPts val="700"/>
              </a:spcBef>
              <a:buClr>
                <a:srgbClr val="5A6B1D"/>
              </a:buClr>
              <a:buFont typeface="Arial"/>
              <a:buChar char="•"/>
            </a:pPr>
            <a:r>
              <a:rPr lang="en-US" b="1" dirty="0"/>
              <a:t>Prompt tuning</a:t>
            </a:r>
            <a:r>
              <a:rPr lang="en-US" dirty="0"/>
              <a:t>: prepend vectors to the input</a:t>
            </a:r>
          </a:p>
          <a:p>
            <a:pPr marL="214313" indent="-214313">
              <a:spcBef>
                <a:spcPts val="700"/>
              </a:spcBef>
              <a:buClr>
                <a:srgbClr val="5A6B1D"/>
              </a:buClr>
              <a:buFont typeface="Arial"/>
              <a:buChar char="•"/>
            </a:pPr>
            <a:r>
              <a:rPr lang="en-US" b="1" dirty="0"/>
              <a:t>Prefix tuning</a:t>
            </a:r>
            <a:r>
              <a:rPr lang="en-US" dirty="0"/>
              <a:t>: vectors at every layer</a:t>
            </a:r>
          </a:p>
          <a:p>
            <a:pPr marL="214313" indent="-214313">
              <a:spcBef>
                <a:spcPts val="700"/>
              </a:spcBef>
              <a:buClr>
                <a:srgbClr val="5A6B1D"/>
              </a:buClr>
              <a:buFont typeface="Arial"/>
              <a:buChar char="•"/>
            </a:pPr>
            <a:r>
              <a:rPr lang="en-US" dirty="0"/>
              <a:t>Trains only the prompt — </a:t>
            </a:r>
            <a:r>
              <a:rPr lang="en-US" b="1" dirty="0"/>
              <a:t>tiny &amp; swappable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901" name="t1901"/>
          <p:cNvSpPr txBox="1"/>
          <p:nvPr/>
        </p:nvSpPr>
        <p:spPr>
          <a:xfrm>
            <a:off x="5969000" y="2133600"/>
            <a:ext cx="5613400" cy="2794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algn="ctr"/>
            <a:r>
              <a:rPr lang="en-US" sz="1300" b="1" i="1" dirty="0">
                <a:solidFill>
                  <a:srgbClr val="595959"/>
                </a:solidFill>
              </a:rPr>
              <a:t>Soft prompt prepended to the input</a:t>
            </a:r>
          </a:p>
        </p:txBody>
      </p:sp>
      <p:sp>
        <p:nvSpPr>
          <p:cNvPr id="1902" name="b1902"/>
          <p:cNvSpPr/>
          <p:nvPr/>
        </p:nvSpPr>
        <p:spPr>
          <a:xfrm>
            <a:off x="6070600" y="2667000"/>
            <a:ext cx="482600" cy="482600"/>
          </a:xfrm>
          <a:prstGeom prst="roundRect">
            <a:avLst/>
          </a:prstGeom>
          <a:solidFill>
            <a:srgbClr val="DCEAF6"/>
          </a:solidFill>
          <a:ln w="12700">
            <a:solidFill>
              <a:srgbClr val="44709D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300" b="1" dirty="0">
                <a:solidFill>
                  <a:srgbClr val="2E4F70"/>
                </a:solidFill>
              </a:rPr>
              <a:t>p₁</a:t>
            </a:r>
          </a:p>
        </p:txBody>
      </p:sp>
      <p:sp>
        <p:nvSpPr>
          <p:cNvPr id="1903" name="b1903"/>
          <p:cNvSpPr/>
          <p:nvPr/>
        </p:nvSpPr>
        <p:spPr>
          <a:xfrm>
            <a:off x="6604000" y="2667000"/>
            <a:ext cx="482600" cy="482600"/>
          </a:xfrm>
          <a:prstGeom prst="roundRect">
            <a:avLst/>
          </a:prstGeom>
          <a:solidFill>
            <a:srgbClr val="DCEAF6"/>
          </a:solidFill>
          <a:ln w="12700">
            <a:solidFill>
              <a:srgbClr val="44709D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300" b="1" dirty="0">
                <a:solidFill>
                  <a:srgbClr val="2E4F70"/>
                </a:solidFill>
              </a:rPr>
              <a:t>p₂</a:t>
            </a:r>
          </a:p>
        </p:txBody>
      </p:sp>
      <p:sp>
        <p:nvSpPr>
          <p:cNvPr id="1904" name="b1904"/>
          <p:cNvSpPr/>
          <p:nvPr/>
        </p:nvSpPr>
        <p:spPr>
          <a:xfrm>
            <a:off x="7137400" y="2667000"/>
            <a:ext cx="482600" cy="482600"/>
          </a:xfrm>
          <a:prstGeom prst="roundRect">
            <a:avLst/>
          </a:prstGeom>
          <a:solidFill>
            <a:srgbClr val="DCEAF6"/>
          </a:solidFill>
          <a:ln w="12700">
            <a:solidFill>
              <a:srgbClr val="44709D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300" b="1" dirty="0">
                <a:solidFill>
                  <a:srgbClr val="2E4F70"/>
                </a:solidFill>
              </a:rPr>
              <a:t>p₃</a:t>
            </a:r>
          </a:p>
        </p:txBody>
      </p:sp>
      <p:sp>
        <p:nvSpPr>
          <p:cNvPr id="1905" name="b1905"/>
          <p:cNvSpPr/>
          <p:nvPr/>
        </p:nvSpPr>
        <p:spPr>
          <a:xfrm>
            <a:off x="7772400" y="2667000"/>
            <a:ext cx="1778000" cy="482600"/>
          </a:xfrm>
          <a:prstGeom prst="roundRect">
            <a:avLst/>
          </a:prstGeom>
          <a:solidFill>
            <a:srgbClr val="E9EDF3"/>
          </a:solidFill>
          <a:ln w="12700">
            <a:solidFill>
              <a:srgbClr val="8A94A6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300" dirty="0">
                <a:solidFill>
                  <a:srgbClr val="555F70"/>
                </a:solidFill>
              </a:rPr>
              <a:t>your input tokens</a:t>
            </a:r>
          </a:p>
        </p:txBody>
      </p:sp>
      <p:sp>
        <p:nvSpPr>
          <p:cNvPr id="1906" name="t1906"/>
          <p:cNvSpPr txBox="1"/>
          <p:nvPr/>
        </p:nvSpPr>
        <p:spPr>
          <a:xfrm>
            <a:off x="6070600" y="3175000"/>
            <a:ext cx="1549400" cy="228600"/>
          </a:xfrm>
          <a:prstGeom prst="rect">
            <a:avLst/>
          </a:prstGeom>
        </p:spPr>
        <p:txBody>
          <a:bodyPr wrap="square" rtlCol="0">
            <a:normAutofit fontScale="92500" lnSpcReduction="20000"/>
          </a:bodyPr>
          <a:lstStyle/>
          <a:p>
            <a:pPr algn="ctr"/>
            <a:r>
              <a:rPr lang="en-US" sz="1100" b="1" dirty="0">
                <a:solidFill>
                  <a:srgbClr val="44709D"/>
                </a:solidFill>
              </a:rPr>
              <a:t>trainable</a:t>
            </a:r>
          </a:p>
        </p:txBody>
      </p:sp>
      <p:sp>
        <p:nvSpPr>
          <p:cNvPr id="1907" name="t1907"/>
          <p:cNvSpPr txBox="1"/>
          <p:nvPr/>
        </p:nvSpPr>
        <p:spPr>
          <a:xfrm>
            <a:off x="7772400" y="3175000"/>
            <a:ext cx="1778000" cy="228600"/>
          </a:xfrm>
          <a:prstGeom prst="rect">
            <a:avLst/>
          </a:prstGeom>
        </p:spPr>
        <p:txBody>
          <a:bodyPr wrap="square" rtlCol="0">
            <a:normAutofit fontScale="92500" lnSpcReduction="20000"/>
          </a:bodyPr>
          <a:lstStyle/>
          <a:p>
            <a:pPr algn="ctr"/>
            <a:r>
              <a:rPr lang="en-US" sz="1100" dirty="0">
                <a:solidFill>
                  <a:srgbClr val="8A94A6"/>
                </a:solidFill>
              </a:rPr>
              <a:t>unchanged</a:t>
            </a:r>
          </a:p>
        </p:txBody>
      </p:sp>
      <p:cxnSp>
        <p:nvCxnSpPr>
          <p:cNvPr id="1908" name="c1908"/>
          <p:cNvCxnSpPr/>
          <p:nvPr/>
        </p:nvCxnSpPr>
        <p:spPr>
          <a:xfrm>
            <a:off x="8001000" y="3530600"/>
            <a:ext cx="0" cy="381000"/>
          </a:xfrm>
          <a:prstGeom prst="straightConnector1">
            <a:avLst/>
          </a:prstGeom>
          <a:ln w="19050">
            <a:solidFill>
              <a:srgbClr val="2E4F70"/>
            </a:solidFill>
            <a:tailEnd type="triangle"/>
          </a:ln>
        </p:spPr>
      </p:cxnSp>
      <p:sp>
        <p:nvSpPr>
          <p:cNvPr id="1909" name="b1909"/>
          <p:cNvSpPr/>
          <p:nvPr/>
        </p:nvSpPr>
        <p:spPr>
          <a:xfrm>
            <a:off x="6324600" y="3937000"/>
            <a:ext cx="4191000" cy="660400"/>
          </a:xfrm>
          <a:prstGeom prst="roundRect">
            <a:avLst/>
          </a:prstGeom>
          <a:solidFill>
            <a:srgbClr val="E9EDF3"/>
          </a:solidFill>
          <a:ln w="12700">
            <a:solidFill>
              <a:srgbClr val="8A94A6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555F70"/>
                </a:solidFill>
              </a:rPr>
              <a:t>Frozen Pretrained Model</a:t>
            </a:r>
          </a:p>
        </p:txBody>
      </p:sp>
      <p:cxnSp>
        <p:nvCxnSpPr>
          <p:cNvPr id="1910" name="c1910"/>
          <p:cNvCxnSpPr/>
          <p:nvPr/>
        </p:nvCxnSpPr>
        <p:spPr>
          <a:xfrm>
            <a:off x="8382000" y="4597400"/>
            <a:ext cx="0" cy="355600"/>
          </a:xfrm>
          <a:prstGeom prst="straightConnector1">
            <a:avLst/>
          </a:prstGeom>
          <a:ln w="19050">
            <a:solidFill>
              <a:srgbClr val="2E4F70"/>
            </a:solidFill>
            <a:tailEnd type="triangle"/>
          </a:ln>
        </p:spPr>
      </p:cxnSp>
      <p:sp>
        <p:nvSpPr>
          <p:cNvPr id="1911" name="b1911"/>
          <p:cNvSpPr/>
          <p:nvPr/>
        </p:nvSpPr>
        <p:spPr>
          <a:xfrm>
            <a:off x="7112000" y="4978400"/>
            <a:ext cx="2616200" cy="558800"/>
          </a:xfrm>
          <a:prstGeom prst="roundRect">
            <a:avLst/>
          </a:prstGeom>
          <a:solidFill>
            <a:srgbClr val="2A6B4E"/>
          </a:solidFill>
          <a:ln w="12700">
            <a:solidFill>
              <a:srgbClr val="2A6B4E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Task-tuned output</a:t>
            </a:r>
          </a:p>
        </p:txBody>
      </p:sp>
    </p:spTree>
    <p:extLst>
      <p:ext uri="{BB962C8B-B14F-4D97-AF65-F5344CB8AC3E}">
        <p14:creationId xmlns:p14="http://schemas.microsoft.com/office/powerpoint/2010/main" val="563258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6E1D-AA12-BF50-2679-6F0E91A4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Prompt-Based Optimization: Fit &amp; Trade-offs</a:t>
            </a:r>
          </a:p>
        </p:txBody>
      </p:sp>
      <p:sp>
        <p:nvSpPr>
          <p:cNvPr id="2000" name="t2000"/>
          <p:cNvSpPr txBox="1"/>
          <p:nvPr/>
        </p:nvSpPr>
        <p:spPr>
          <a:xfrm>
            <a:off x="762000" y="2159000"/>
            <a:ext cx="10820400" cy="3048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r>
              <a:rPr lang="en-US" sz="1450" dirty="0"/>
              <a:t>The lightest-weight family — nothing in the model changes, only a small set of prompt vectors is learned.</a:t>
            </a:r>
          </a:p>
        </p:txBody>
      </p:sp>
      <p:sp>
        <p:nvSpPr>
          <p:cNvPr id="2001" name="ph2001"/>
          <p:cNvSpPr/>
          <p:nvPr/>
        </p:nvSpPr>
        <p:spPr>
          <a:xfrm>
            <a:off x="762000" y="2616200"/>
            <a:ext cx="5270500" cy="4318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A6B4E"/>
          </a:solidFill>
          <a:ln>
            <a:noFill/>
          </a:ln>
        </p:spPr>
        <p:txBody>
          <a:bodyPr wrap="square" lIns="90000" tIns="18000" rIns="36000" bIns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Best fit when…</a:t>
            </a:r>
          </a:p>
        </p:txBody>
      </p:sp>
      <p:sp>
        <p:nvSpPr>
          <p:cNvPr id="2002" name="pb2002"/>
          <p:cNvSpPr/>
          <p:nvPr/>
        </p:nvSpPr>
        <p:spPr>
          <a:xfrm>
            <a:off x="762000" y="3048000"/>
            <a:ext cx="5270500" cy="2590800"/>
          </a:xfrm>
          <a:prstGeom prst="round2SameRect">
            <a:avLst>
              <a:gd name="adj1" fmla="val 0"/>
              <a:gd name="adj2" fmla="val 8000"/>
            </a:avLst>
          </a:prstGeom>
          <a:solidFill>
            <a:srgbClr val="F5F6F2"/>
          </a:solidFill>
          <a:ln w="12700">
            <a:solidFill>
              <a:srgbClr val="2A6B4E"/>
            </a:solidFill>
          </a:ln>
        </p:spPr>
        <p:txBody>
          <a:bodyPr wrap="square" lIns="90000" tIns="54000" rIns="72000" bIns="36000"/>
          <a:lstStyle/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One frozen base must serve many tasks at once</a:t>
            </a:r>
          </a:p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Storage is critical — prompts are kilobytes, not gigabytes</a:t>
            </a:r>
          </a:p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You want to swap tasks instantly at inference time</a:t>
            </a:r>
          </a:p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The base model is already large and capable</a:t>
            </a:r>
          </a:p>
          <a:p>
            <a:pPr marL="200025" indent="-200025">
              <a:spcBef>
                <a:spcPts val="600"/>
              </a:spcBef>
              <a:buClr>
                <a:srgbClr val="2A6B4E"/>
              </a:buClr>
              <a:buFont typeface="Arial"/>
              <a:buChar char="•"/>
            </a:pPr>
            <a:r>
              <a:rPr lang="en-US" sz="1500" dirty="0"/>
              <a:t>Multi-tenant serving with per-customer prompts</a:t>
            </a:r>
          </a:p>
          <a:p>
            <a:pPr>
              <a:buNone/>
            </a:pPr>
            <a:endParaRPr lang="en-US" sz="400" dirty="0"/>
          </a:p>
        </p:txBody>
      </p:sp>
      <p:sp>
        <p:nvSpPr>
          <p:cNvPr id="2003" name="ph2003"/>
          <p:cNvSpPr/>
          <p:nvPr/>
        </p:nvSpPr>
        <p:spPr>
          <a:xfrm>
            <a:off x="6311900" y="2616200"/>
            <a:ext cx="5270500" cy="4318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A23C33"/>
          </a:solidFill>
          <a:ln>
            <a:noFill/>
          </a:ln>
        </p:spPr>
        <p:txBody>
          <a:bodyPr wrap="square" lIns="90000" tIns="18000" rIns="36000" bIns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Watch-outs…</a:t>
            </a:r>
          </a:p>
        </p:txBody>
      </p:sp>
      <p:sp>
        <p:nvSpPr>
          <p:cNvPr id="2004" name="pb2004"/>
          <p:cNvSpPr/>
          <p:nvPr/>
        </p:nvSpPr>
        <p:spPr>
          <a:xfrm>
            <a:off x="6311900" y="3048000"/>
            <a:ext cx="5270500" cy="2590800"/>
          </a:xfrm>
          <a:prstGeom prst="round2SameRect">
            <a:avLst>
              <a:gd name="adj1" fmla="val 0"/>
              <a:gd name="adj2" fmla="val 8000"/>
            </a:avLst>
          </a:prstGeom>
          <a:solidFill>
            <a:srgbClr val="F5F6F2"/>
          </a:solidFill>
          <a:ln w="12700">
            <a:solidFill>
              <a:srgbClr val="A23C33"/>
            </a:solidFill>
          </a:ln>
        </p:spPr>
        <p:txBody>
          <a:bodyPr wrap="square" lIns="90000" tIns="54000" rIns="72000" bIns="36000"/>
          <a:lstStyle/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Usually trails LoRA / QLoRA on harder tasks</a:t>
            </a:r>
          </a:p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Very sensitive to soft-prompt length &amp; initialization</a:t>
            </a:r>
          </a:p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Gains grow with model size — weaker on small models</a:t>
            </a:r>
          </a:p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Soft prompts are not human-readable or interpretable</a:t>
            </a:r>
          </a:p>
          <a:p>
            <a:pPr marL="200025" indent="-200025">
              <a:spcBef>
                <a:spcPts val="600"/>
              </a:spcBef>
              <a:buClr>
                <a:srgbClr val="A23C33"/>
              </a:buClr>
              <a:buFont typeface="Arial"/>
              <a:buChar char="•"/>
            </a:pPr>
            <a:r>
              <a:rPr lang="en-US" sz="1500" dirty="0"/>
              <a:t>Can be unstable to train; may need careful tuning</a:t>
            </a:r>
          </a:p>
          <a:p>
            <a:pPr>
              <a:buNone/>
            </a:pPr>
            <a:endParaRPr lang="en-US" sz="400" dirty="0"/>
          </a:p>
        </p:txBody>
      </p:sp>
      <p:sp>
        <p:nvSpPr>
          <p:cNvPr id="2005" name="c2005"/>
          <p:cNvSpPr/>
          <p:nvPr/>
        </p:nvSpPr>
        <p:spPr>
          <a:xfrm>
            <a:off x="762000" y="5791200"/>
            <a:ext cx="3454400" cy="711200"/>
          </a:xfrm>
          <a:prstGeom prst="roundRect">
            <a:avLst/>
          </a:prstGeom>
          <a:solidFill>
            <a:srgbClr val="5A6B1D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KB-scale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prompts vs. GB checkpoints</a:t>
            </a:r>
          </a:p>
        </p:txBody>
      </p:sp>
      <p:sp>
        <p:nvSpPr>
          <p:cNvPr id="2006" name="c2006"/>
          <p:cNvSpPr/>
          <p:nvPr/>
        </p:nvSpPr>
        <p:spPr>
          <a:xfrm>
            <a:off x="4470400" y="5791200"/>
            <a:ext cx="3454400" cy="7112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0 weights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changed in the base model</a:t>
            </a:r>
          </a:p>
        </p:txBody>
      </p:sp>
      <p:sp>
        <p:nvSpPr>
          <p:cNvPr id="2007" name="c2007"/>
          <p:cNvSpPr/>
          <p:nvPr/>
        </p:nvSpPr>
        <p:spPr>
          <a:xfrm>
            <a:off x="8178800" y="5791200"/>
            <a:ext cx="3403600" cy="711200"/>
          </a:xfrm>
          <a:prstGeom prst="roundRect">
            <a:avLst/>
          </a:prstGeom>
          <a:solidFill>
            <a:srgbClr val="A85A14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Instant swap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tasks at inference time</a:t>
            </a:r>
          </a:p>
        </p:txBody>
      </p:sp>
    </p:spTree>
    <p:extLst>
      <p:ext uri="{BB962C8B-B14F-4D97-AF65-F5344CB8AC3E}">
        <p14:creationId xmlns:p14="http://schemas.microsoft.com/office/powerpoint/2010/main" val="20974769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F5F6B9-D21D-478B-8CAF-3091CAD1FF6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ce2de43-ef3c-4d08-82fd-41c540327a8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</TotalTime>
  <Words>1980</Words>
  <Application>Microsoft Office PowerPoint</Application>
  <PresentationFormat>Widescreen</PresentationFormat>
  <Paragraphs>276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Consolas</vt:lpstr>
      <vt:lpstr>Garamond</vt:lpstr>
      <vt:lpstr>Organic</vt:lpstr>
      <vt:lpstr>Lecture 4: Fine-Tuning and Evaluation</vt:lpstr>
      <vt:lpstr>From Pretraining to Task-Adaptation</vt:lpstr>
      <vt:lpstr>Leading Instruct Models</vt:lpstr>
      <vt:lpstr>Catastrophic Forgetting &amp; Multitask Datasets</vt:lpstr>
      <vt:lpstr>Deep Dive: The FLAN Dataset</vt:lpstr>
      <vt:lpstr>Data Example: samsum Dataset</vt:lpstr>
      <vt:lpstr>Constructing Prompt Templates</vt:lpstr>
      <vt:lpstr>The Fine-Tuning Backpropagation Process</vt:lpstr>
      <vt:lpstr>Fine-Tuning Infrastructure on Amazon SageMaker</vt:lpstr>
      <vt:lpstr>Model Evaluation &amp; the ROUGE Metric</vt:lpstr>
      <vt:lpstr>Empirical Results: ~80% ROUGE Improvement</vt:lpstr>
      <vt:lpstr>Holistic Benchmarks</vt:lpstr>
      <vt:lpstr>Parameter-Efficient Fine-Tuning (PEFT)</vt:lpstr>
      <vt:lpstr>PEFT: When to Use It &amp; What to Watch For</vt:lpstr>
      <vt:lpstr>LoRA: Low-Rank Adaptation</vt:lpstr>
      <vt:lpstr>LoRA in Practice: Knobs, Use Cases &amp; Limits</vt:lpstr>
      <vt:lpstr>QLoRA: Quantized Low-Rank Adaptation</vt:lpstr>
      <vt:lpstr>QLoRA: When It Shines &amp; What to Weigh</vt:lpstr>
      <vt:lpstr>Prompt-Based Optimization</vt:lpstr>
      <vt:lpstr>Prompt-Based Optimization: Fit &amp; Trade-offs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dishant gupta</dc:creator>
  <cp:lastModifiedBy>dishant gupta</cp:lastModifiedBy>
  <cp:revision>1</cp:revision>
  <dcterms:created xsi:type="dcterms:W3CDTF">2026-06-01T04:28:39Z</dcterms:created>
  <dcterms:modified xsi:type="dcterms:W3CDTF">2026-06-01T05:36:22Z</dcterms:modified>
</cp:coreProperties>
</file>