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0"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577D048-E5E8-4C8E-822B-5A911C20D76B}" type="datetimeFigureOut">
              <a:rPr lang="en-IN" smtClean="0"/>
              <a:t>01-06-2026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9589739A-DE05-40D3-8FA4-9C82973EDA7F}"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884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77D048-E5E8-4C8E-822B-5A911C20D76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89739A-DE05-40D3-8FA4-9C82973EDA7F}" type="slidenum">
              <a:rPr lang="en-IN" smtClean="0"/>
              <a:t>‹#›</a:t>
            </a:fld>
            <a:endParaRPr lang="en-IN"/>
          </a:p>
        </p:txBody>
      </p:sp>
    </p:spTree>
    <p:extLst>
      <p:ext uri="{BB962C8B-B14F-4D97-AF65-F5344CB8AC3E}">
        <p14:creationId xmlns:p14="http://schemas.microsoft.com/office/powerpoint/2010/main" val="2340355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77D048-E5E8-4C8E-822B-5A911C20D76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89739A-DE05-40D3-8FA4-9C82973EDA7F}"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72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7D048-E5E8-4C8E-822B-5A911C20D76B}"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89739A-DE05-40D3-8FA4-9C82973EDA7F}" type="slidenum">
              <a:rPr lang="en-IN" smtClean="0"/>
              <a:t>‹#›</a:t>
            </a:fld>
            <a:endParaRPr lang="en-IN"/>
          </a:p>
        </p:txBody>
      </p:sp>
    </p:spTree>
    <p:extLst>
      <p:ext uri="{BB962C8B-B14F-4D97-AF65-F5344CB8AC3E}">
        <p14:creationId xmlns:p14="http://schemas.microsoft.com/office/powerpoint/2010/main" val="2157324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77D048-E5E8-4C8E-822B-5A911C20D76B}" type="datetimeFigureOut">
              <a:rPr lang="en-IN" smtClean="0"/>
              <a:t>01-06-2026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89739A-DE05-40D3-8FA4-9C82973EDA7F}"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9050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77D048-E5E8-4C8E-822B-5A911C20D76B}" type="datetimeFigureOut">
              <a:rPr lang="en-IN" smtClean="0"/>
              <a:t>01-06-2026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89739A-DE05-40D3-8FA4-9C82973EDA7F}"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0326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77D048-E5E8-4C8E-822B-5A911C20D76B}" type="datetimeFigureOut">
              <a:rPr lang="en-IN" smtClean="0"/>
              <a:t>01-06-2026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89739A-DE05-40D3-8FA4-9C82973EDA7F}" type="slidenum">
              <a:rPr lang="en-IN" smtClean="0"/>
              <a:t>‹#›</a:t>
            </a:fld>
            <a:endParaRPr lang="en-IN"/>
          </a:p>
        </p:txBody>
      </p:sp>
    </p:spTree>
    <p:extLst>
      <p:ext uri="{BB962C8B-B14F-4D97-AF65-F5344CB8AC3E}">
        <p14:creationId xmlns:p14="http://schemas.microsoft.com/office/powerpoint/2010/main" val="615355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77D048-E5E8-4C8E-822B-5A911C20D76B}"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89739A-DE05-40D3-8FA4-9C82973EDA7F}"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9653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77D048-E5E8-4C8E-822B-5A911C20D76B}"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89739A-DE05-40D3-8FA4-9C82973EDA7F}" type="slidenum">
              <a:rPr lang="en-IN" smtClean="0"/>
              <a:t>‹#›</a:t>
            </a:fld>
            <a:endParaRPr lang="en-IN"/>
          </a:p>
        </p:txBody>
      </p:sp>
    </p:spTree>
    <p:extLst>
      <p:ext uri="{BB962C8B-B14F-4D97-AF65-F5344CB8AC3E}">
        <p14:creationId xmlns:p14="http://schemas.microsoft.com/office/powerpoint/2010/main" val="3410584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77D048-E5E8-4C8E-822B-5A911C20D76B}"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89739A-DE05-40D3-8FA4-9C82973EDA7F}" type="slidenum">
              <a:rPr lang="en-IN" smtClean="0"/>
              <a:t>‹#›</a:t>
            </a:fld>
            <a:endParaRPr lang="en-IN"/>
          </a:p>
        </p:txBody>
      </p:sp>
    </p:spTree>
    <p:extLst>
      <p:ext uri="{BB962C8B-B14F-4D97-AF65-F5344CB8AC3E}">
        <p14:creationId xmlns:p14="http://schemas.microsoft.com/office/powerpoint/2010/main" val="372221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77D048-E5E8-4C8E-822B-5A911C20D76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89739A-DE05-40D3-8FA4-9C82973EDA7F}"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0813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77D048-E5E8-4C8E-822B-5A911C20D76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89739A-DE05-40D3-8FA4-9C82973EDA7F}"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8191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77D048-E5E8-4C8E-822B-5A911C20D76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89739A-DE05-40D3-8FA4-9C82973EDA7F}" type="slidenum">
              <a:rPr lang="en-IN" smtClean="0"/>
              <a:t>‹#›</a:t>
            </a:fld>
            <a:endParaRPr lang="en-IN"/>
          </a:p>
        </p:txBody>
      </p:sp>
    </p:spTree>
    <p:extLst>
      <p:ext uri="{BB962C8B-B14F-4D97-AF65-F5344CB8AC3E}">
        <p14:creationId xmlns:p14="http://schemas.microsoft.com/office/powerpoint/2010/main" val="22283539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77D048-E5E8-4C8E-822B-5A911C20D76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89739A-DE05-40D3-8FA4-9C82973EDA7F}"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7829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77D048-E5E8-4C8E-822B-5A911C20D76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89739A-DE05-40D3-8FA4-9C82973EDA7F}"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20486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77D048-E5E8-4C8E-822B-5A911C20D76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89739A-DE05-40D3-8FA4-9C82973EDA7F}"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79807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77D048-E5E8-4C8E-822B-5A911C20D76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89739A-DE05-40D3-8FA4-9C82973EDA7F}"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3521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577D048-E5E8-4C8E-822B-5A911C20D76B}" type="datetimeFigureOut">
              <a:rPr lang="en-IN" smtClean="0"/>
              <a:t>01-06-2026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589739A-DE05-40D3-8FA4-9C82973EDA7F}" type="slidenum">
              <a:rPr lang="en-IN" smtClean="0"/>
              <a:t>‹#›</a:t>
            </a:fld>
            <a:endParaRPr lang="en-IN"/>
          </a:p>
        </p:txBody>
      </p:sp>
    </p:spTree>
    <p:extLst>
      <p:ext uri="{BB962C8B-B14F-4D97-AF65-F5344CB8AC3E}">
        <p14:creationId xmlns:p14="http://schemas.microsoft.com/office/powerpoint/2010/main" val="10242287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B1655-DECA-4AC4-92B8-DEBE524CFA34}"/>
              </a:ext>
            </a:extLst>
          </p:cNvPr>
          <p:cNvSpPr>
            <a:spLocks noGrp="1"/>
          </p:cNvSpPr>
          <p:nvPr>
            <p:ph type="ctrTitle"/>
          </p:nvPr>
        </p:nvSpPr>
        <p:spPr/>
        <p:txBody>
          <a:bodyPr/>
          <a:lstStyle/>
          <a:p>
            <a:r>
              <a:rPr lang="en-IN" b="1" dirty="0"/>
              <a:t>Lecture 5</a:t>
            </a:r>
          </a:p>
        </p:txBody>
      </p:sp>
      <p:sp>
        <p:nvSpPr>
          <p:cNvPr id="3" name="Subtitle 2">
            <a:extLst>
              <a:ext uri="{FF2B5EF4-FFF2-40B4-BE49-F238E27FC236}">
                <a16:creationId xmlns:a16="http://schemas.microsoft.com/office/drawing/2014/main" id="{ADFEC6FC-25BE-3F68-C32B-FC5C7C98E7E0}"/>
              </a:ext>
            </a:extLst>
          </p:cNvPr>
          <p:cNvSpPr>
            <a:spLocks noGrp="1"/>
          </p:cNvSpPr>
          <p:nvPr>
            <p:ph type="subTitle" idx="1"/>
          </p:nvPr>
        </p:nvSpPr>
        <p:spPr/>
        <p:txBody>
          <a:bodyPr/>
          <a:lstStyle/>
          <a:p>
            <a:r>
              <a:rPr lang="en-IN" dirty="0"/>
              <a:t>Unisole empower</a:t>
            </a:r>
          </a:p>
        </p:txBody>
      </p:sp>
    </p:spTree>
    <p:extLst>
      <p:ext uri="{BB962C8B-B14F-4D97-AF65-F5344CB8AC3E}">
        <p14:creationId xmlns:p14="http://schemas.microsoft.com/office/powerpoint/2010/main" val="1057467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2A95-D57F-3429-9AF5-3AC0AD24C293}"/>
              </a:ext>
            </a:extLst>
          </p:cNvPr>
          <p:cNvSpPr>
            <a:spLocks noGrp="1"/>
          </p:cNvSpPr>
          <p:nvPr>
            <p:ph type="title"/>
          </p:nvPr>
        </p:nvSpPr>
        <p:spPr/>
        <p:txBody>
          <a:bodyPr/>
          <a:lstStyle/>
          <a:p>
            <a:r>
              <a:rPr lang="en-IN" b="1" dirty="0"/>
              <a:t>Objectives of the Lecture</a:t>
            </a:r>
          </a:p>
        </p:txBody>
      </p:sp>
      <p:sp>
        <p:nvSpPr>
          <p:cNvPr id="3" name="Content Placeholder 2">
            <a:extLst>
              <a:ext uri="{FF2B5EF4-FFF2-40B4-BE49-F238E27FC236}">
                <a16:creationId xmlns:a16="http://schemas.microsoft.com/office/drawing/2014/main" id="{7C5AAD43-4595-7931-8A1B-6814467E5A38}"/>
              </a:ext>
            </a:extLst>
          </p:cNvPr>
          <p:cNvSpPr>
            <a:spLocks noGrp="1"/>
          </p:cNvSpPr>
          <p:nvPr>
            <p:ph idx="1"/>
          </p:nvPr>
        </p:nvSpPr>
        <p:spPr/>
        <p:txBody>
          <a:bodyPr/>
          <a:lstStyle/>
          <a:p>
            <a:r>
              <a:rPr lang="en-IN" dirty="0"/>
              <a:t>Understands the basic of </a:t>
            </a:r>
            <a:r>
              <a:rPr lang="en-IN" dirty="0" err="1"/>
              <a:t>Reinforcemnt</a:t>
            </a:r>
            <a:r>
              <a:rPr lang="en-IN" dirty="0"/>
              <a:t> learning. </a:t>
            </a:r>
          </a:p>
          <a:p>
            <a:r>
              <a:rPr lang="en-IN" dirty="0"/>
              <a:t>Understanding of RLHF + PPO</a:t>
            </a:r>
          </a:p>
        </p:txBody>
      </p:sp>
    </p:spTree>
    <p:extLst>
      <p:ext uri="{BB962C8B-B14F-4D97-AF65-F5344CB8AC3E}">
        <p14:creationId xmlns:p14="http://schemas.microsoft.com/office/powerpoint/2010/main" val="3187441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77904-C07B-C346-0D6D-DEE86B593646}"/>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848C2DD3-3700-A8A7-A7D0-2528968338B3}"/>
              </a:ext>
            </a:extLst>
          </p:cNvPr>
          <p:cNvSpPr>
            <a:spLocks noGrp="1"/>
          </p:cNvSpPr>
          <p:nvPr>
            <p:ph idx="1"/>
          </p:nvPr>
        </p:nvSpPr>
        <p:spPr/>
        <p:txBody>
          <a:bodyPr/>
          <a:lstStyle/>
          <a:p>
            <a:r>
              <a:rPr lang="en-US" dirty="0"/>
              <a:t>Reinforcement learning from human feedback (RLHF) is a fine-tuning mechanism that uses human annotation—also called human feedback—to help the model adapt to human values and preferences.</a:t>
            </a:r>
          </a:p>
          <a:p>
            <a:r>
              <a:rPr lang="en-US" dirty="0"/>
              <a:t>RLHF is most commonly applied after other forms of fine-tuning, including instruction fine-tuning.</a:t>
            </a:r>
          </a:p>
          <a:p>
            <a:r>
              <a:rPr lang="en-US" dirty="0"/>
              <a:t>Human Alignment : Helpful, Honest and Harmless.</a:t>
            </a:r>
            <a:br>
              <a:rPr lang="en-US" dirty="0"/>
            </a:br>
            <a:endParaRPr lang="en-IN" dirty="0"/>
          </a:p>
        </p:txBody>
      </p:sp>
    </p:spTree>
    <p:extLst>
      <p:ext uri="{BB962C8B-B14F-4D97-AF65-F5344CB8AC3E}">
        <p14:creationId xmlns:p14="http://schemas.microsoft.com/office/powerpoint/2010/main" val="2254895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AD2DF-4F18-4E7C-F66B-4854424B959E}"/>
              </a:ext>
            </a:extLst>
          </p:cNvPr>
          <p:cNvSpPr>
            <a:spLocks noGrp="1"/>
          </p:cNvSpPr>
          <p:nvPr>
            <p:ph type="title"/>
          </p:nvPr>
        </p:nvSpPr>
        <p:spPr/>
        <p:txBody>
          <a:bodyPr/>
          <a:lstStyle/>
          <a:p>
            <a:r>
              <a:rPr lang="en-IN" b="1" dirty="0"/>
              <a:t>Example of Reinforcement Learning</a:t>
            </a:r>
          </a:p>
        </p:txBody>
      </p:sp>
      <p:pic>
        <p:nvPicPr>
          <p:cNvPr id="5" name="Content Placeholder 4">
            <a:extLst>
              <a:ext uri="{FF2B5EF4-FFF2-40B4-BE49-F238E27FC236}">
                <a16:creationId xmlns:a16="http://schemas.microsoft.com/office/drawing/2014/main" id="{70D0AA72-6AD7-56D5-4951-DDFFAD78D89A}"/>
              </a:ext>
            </a:extLst>
          </p:cNvPr>
          <p:cNvPicPr>
            <a:picLocks noGrp="1" noChangeAspect="1"/>
          </p:cNvPicPr>
          <p:nvPr>
            <p:ph idx="1"/>
          </p:nvPr>
        </p:nvPicPr>
        <p:blipFill>
          <a:blip r:embed="rId2"/>
          <a:stretch>
            <a:fillRect/>
          </a:stretch>
        </p:blipFill>
        <p:spPr>
          <a:xfrm>
            <a:off x="2075801" y="2557463"/>
            <a:ext cx="8040397" cy="3317875"/>
          </a:xfrm>
          <a:prstGeom prst="rect">
            <a:avLst/>
          </a:prstGeom>
        </p:spPr>
      </p:pic>
    </p:spTree>
    <p:extLst>
      <p:ext uri="{BB962C8B-B14F-4D97-AF65-F5344CB8AC3E}">
        <p14:creationId xmlns:p14="http://schemas.microsoft.com/office/powerpoint/2010/main" val="806188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8DEF0-5782-A806-1F15-506821696B9D}"/>
              </a:ext>
            </a:extLst>
          </p:cNvPr>
          <p:cNvSpPr>
            <a:spLocks noGrp="1"/>
          </p:cNvSpPr>
          <p:nvPr>
            <p:ph type="title"/>
          </p:nvPr>
        </p:nvSpPr>
        <p:spPr/>
        <p:txBody>
          <a:bodyPr/>
          <a:lstStyle/>
          <a:p>
            <a:r>
              <a:rPr lang="en-IN" b="1" dirty="0"/>
              <a:t>RL in context of GenAI model</a:t>
            </a:r>
          </a:p>
        </p:txBody>
      </p:sp>
      <p:pic>
        <p:nvPicPr>
          <p:cNvPr id="5" name="Content Placeholder 4">
            <a:extLst>
              <a:ext uri="{FF2B5EF4-FFF2-40B4-BE49-F238E27FC236}">
                <a16:creationId xmlns:a16="http://schemas.microsoft.com/office/drawing/2014/main" id="{B5055B4F-720E-9EA3-624D-D722B269B339}"/>
              </a:ext>
            </a:extLst>
          </p:cNvPr>
          <p:cNvPicPr>
            <a:picLocks noGrp="1" noChangeAspect="1"/>
          </p:cNvPicPr>
          <p:nvPr>
            <p:ph idx="1"/>
          </p:nvPr>
        </p:nvPicPr>
        <p:blipFill>
          <a:blip r:embed="rId2"/>
          <a:stretch>
            <a:fillRect/>
          </a:stretch>
        </p:blipFill>
        <p:spPr>
          <a:xfrm>
            <a:off x="2075801" y="2557463"/>
            <a:ext cx="8040397" cy="3317875"/>
          </a:xfrm>
          <a:prstGeom prst="rect">
            <a:avLst/>
          </a:prstGeom>
        </p:spPr>
      </p:pic>
    </p:spTree>
    <p:extLst>
      <p:ext uri="{BB962C8B-B14F-4D97-AF65-F5344CB8AC3E}">
        <p14:creationId xmlns:p14="http://schemas.microsoft.com/office/powerpoint/2010/main" val="1043015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24BF0-46DB-E08E-A09A-516BABAFF7D6}"/>
              </a:ext>
            </a:extLst>
          </p:cNvPr>
          <p:cNvSpPr>
            <a:spLocks noGrp="1"/>
          </p:cNvSpPr>
          <p:nvPr>
            <p:ph type="title"/>
          </p:nvPr>
        </p:nvSpPr>
        <p:spPr/>
        <p:txBody>
          <a:bodyPr/>
          <a:lstStyle/>
          <a:p>
            <a:r>
              <a:rPr lang="en-IN" b="1" dirty="0"/>
              <a:t>Key points from past example</a:t>
            </a:r>
          </a:p>
        </p:txBody>
      </p:sp>
      <p:sp>
        <p:nvSpPr>
          <p:cNvPr id="3" name="Content Placeholder 2">
            <a:extLst>
              <a:ext uri="{FF2B5EF4-FFF2-40B4-BE49-F238E27FC236}">
                <a16:creationId xmlns:a16="http://schemas.microsoft.com/office/drawing/2014/main" id="{09BE7EF7-F764-14D2-0FC0-12F4A3454E0D}"/>
              </a:ext>
            </a:extLst>
          </p:cNvPr>
          <p:cNvSpPr>
            <a:spLocks noGrp="1"/>
          </p:cNvSpPr>
          <p:nvPr>
            <p:ph idx="1"/>
          </p:nvPr>
        </p:nvSpPr>
        <p:spPr/>
        <p:txBody>
          <a:bodyPr>
            <a:normAutofit fontScale="92500"/>
          </a:bodyPr>
          <a:lstStyle/>
          <a:p>
            <a:r>
              <a:rPr lang="en-US" dirty="0"/>
              <a:t>The goal of reinforcement learning is for the agent to learn the optimal policy, or model, for choosing the actions for a given environment that maximizes the reward.</a:t>
            </a:r>
          </a:p>
          <a:p>
            <a:r>
              <a:rPr lang="en-US" dirty="0"/>
              <a:t>In context of GenAI, The model is the agent. The policy consists of the model weights. The RL algorithm will update the model weights to choose a better action, or generate a better next-token, given the environment, state, and objective. The objective is for the model to generate completions that are better aligned with human preferences such as helpfulness, honesty, and harmlessness (HHH). </a:t>
            </a:r>
            <a:br>
              <a:rPr lang="en-US" dirty="0"/>
            </a:br>
            <a:br>
              <a:rPr lang="en-US" dirty="0"/>
            </a:br>
            <a:endParaRPr lang="en-IN" dirty="0"/>
          </a:p>
        </p:txBody>
      </p:sp>
    </p:spTree>
    <p:extLst>
      <p:ext uri="{BB962C8B-B14F-4D97-AF65-F5344CB8AC3E}">
        <p14:creationId xmlns:p14="http://schemas.microsoft.com/office/powerpoint/2010/main" val="295841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DA70A-41A3-3C2B-9AED-028DB8470DAD}"/>
              </a:ext>
            </a:extLst>
          </p:cNvPr>
          <p:cNvSpPr>
            <a:spLocks noGrp="1"/>
          </p:cNvSpPr>
          <p:nvPr>
            <p:ph type="title"/>
          </p:nvPr>
        </p:nvSpPr>
        <p:spPr/>
        <p:txBody>
          <a:bodyPr/>
          <a:lstStyle/>
          <a:p>
            <a:r>
              <a:rPr lang="en-IN" b="1" dirty="0"/>
              <a:t>Train a Custom Reward Model</a:t>
            </a:r>
          </a:p>
        </p:txBody>
      </p:sp>
      <p:sp>
        <p:nvSpPr>
          <p:cNvPr id="3" name="Content Placeholder 2">
            <a:extLst>
              <a:ext uri="{FF2B5EF4-FFF2-40B4-BE49-F238E27FC236}">
                <a16:creationId xmlns:a16="http://schemas.microsoft.com/office/drawing/2014/main" id="{463A0B73-3F70-E0D8-A412-40603F6875FF}"/>
              </a:ext>
            </a:extLst>
          </p:cNvPr>
          <p:cNvSpPr>
            <a:spLocks noGrp="1"/>
          </p:cNvSpPr>
          <p:nvPr>
            <p:ph idx="1"/>
          </p:nvPr>
        </p:nvSpPr>
        <p:spPr/>
        <p:txBody>
          <a:bodyPr>
            <a:normAutofit/>
          </a:bodyPr>
          <a:lstStyle/>
          <a:p>
            <a:r>
              <a:rPr lang="en-US" dirty="0"/>
              <a:t>A reward model is typically a classifier that predicts one of two classes— positive or negative. These are often called binary classifiers and are often based on smaller language models like BERT. </a:t>
            </a:r>
          </a:p>
          <a:p>
            <a:r>
              <a:rPr lang="en-US" dirty="0"/>
              <a:t>Many language-aware binary classifiers already exist to classify sentiment or detect toxic language. If these are not suitable for our use case, then we can train our own reward model. </a:t>
            </a:r>
            <a:br>
              <a:rPr lang="en-US" dirty="0"/>
            </a:br>
            <a:endParaRPr lang="en-IN" dirty="0"/>
          </a:p>
        </p:txBody>
      </p:sp>
    </p:spTree>
    <p:extLst>
      <p:ext uri="{BB962C8B-B14F-4D97-AF65-F5344CB8AC3E}">
        <p14:creationId xmlns:p14="http://schemas.microsoft.com/office/powerpoint/2010/main" val="471502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AF3E-C2C7-78EB-583E-7328852600E0}"/>
              </a:ext>
            </a:extLst>
          </p:cNvPr>
          <p:cNvSpPr>
            <a:spLocks noGrp="1"/>
          </p:cNvSpPr>
          <p:nvPr>
            <p:ph type="title"/>
          </p:nvPr>
        </p:nvSpPr>
        <p:spPr/>
        <p:txBody>
          <a:bodyPr>
            <a:normAutofit fontScale="90000"/>
          </a:bodyPr>
          <a:lstStyle/>
          <a:p>
            <a:r>
              <a:rPr lang="en-IN" b="1" dirty="0"/>
              <a:t>Collect Training Dataset with Human-in-the-Loop</a:t>
            </a:r>
          </a:p>
        </p:txBody>
      </p:sp>
      <p:sp>
        <p:nvSpPr>
          <p:cNvPr id="3" name="Content Placeholder 2">
            <a:extLst>
              <a:ext uri="{FF2B5EF4-FFF2-40B4-BE49-F238E27FC236}">
                <a16:creationId xmlns:a16="http://schemas.microsoft.com/office/drawing/2014/main" id="{EF704327-6803-923F-80FF-2E45BADE4EAA}"/>
              </a:ext>
            </a:extLst>
          </p:cNvPr>
          <p:cNvSpPr>
            <a:spLocks noGrp="1"/>
          </p:cNvSpPr>
          <p:nvPr>
            <p:ph idx="1"/>
          </p:nvPr>
        </p:nvSpPr>
        <p:spPr/>
        <p:txBody>
          <a:bodyPr/>
          <a:lstStyle/>
          <a:p>
            <a:r>
              <a:rPr lang="en-US" dirty="0"/>
              <a:t>The first step to training a custom reward model is to collect data from humans on what is helpful, honest, and harmless. This is called collecting human feedback from human annotators, or labelers. This step typically involves a managed service like SageMaker Ground Truth.</a:t>
            </a:r>
            <a:br>
              <a:rPr lang="en-US" dirty="0"/>
            </a:br>
            <a:endParaRPr lang="en-IN" dirty="0"/>
          </a:p>
        </p:txBody>
      </p:sp>
    </p:spTree>
    <p:extLst>
      <p:ext uri="{BB962C8B-B14F-4D97-AF65-F5344CB8AC3E}">
        <p14:creationId xmlns:p14="http://schemas.microsoft.com/office/powerpoint/2010/main" val="171852733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260</TotalTime>
  <Words>332</Words>
  <Application>Microsoft Office PowerPoint</Application>
  <PresentationFormat>Widescreen</PresentationFormat>
  <Paragraphs>19</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Garamond</vt:lpstr>
      <vt:lpstr>Organic</vt:lpstr>
      <vt:lpstr>Lecture 5</vt:lpstr>
      <vt:lpstr>Objectives of the Lecture</vt:lpstr>
      <vt:lpstr>Introduction</vt:lpstr>
      <vt:lpstr>Example of Reinforcement Learning</vt:lpstr>
      <vt:lpstr>RL in context of GenAI model</vt:lpstr>
      <vt:lpstr>Key points from past example</vt:lpstr>
      <vt:lpstr>Train a Custom Reward Model</vt:lpstr>
      <vt:lpstr>Collect Training Dataset with Human-in-the-Loop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dishant gupta</dc:creator>
  <cp:lastModifiedBy>dishant gupta</cp:lastModifiedBy>
  <cp:revision>1</cp:revision>
  <dcterms:created xsi:type="dcterms:W3CDTF">2026-06-01T05:43:16Z</dcterms:created>
  <dcterms:modified xsi:type="dcterms:W3CDTF">2026-06-01T10:03:42Z</dcterms:modified>
</cp:coreProperties>
</file>