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62" r:id="rId5"/>
    <p:sldId id="265" r:id="rId6"/>
    <p:sldId id="272" r:id="rId7"/>
    <p:sldId id="273" r:id="rId8"/>
    <p:sldId id="274" r:id="rId9"/>
    <p:sldId id="275" r:id="rId10"/>
    <p:sldId id="278" r:id="rId11"/>
    <p:sldId id="276" r:id="rId12"/>
    <p:sldId id="277" r:id="rId13"/>
    <p:sldId id="28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37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005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43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58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83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40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21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70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43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07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88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902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673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695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196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739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091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79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68EB7EF-1E76-44DF-B430-C2C645371BE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077D2F-D19D-49E4-8233-B4243317E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9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53A9-A7EE-E01C-7476-6E4B8F308F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Building Applications with AI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C93D6-F1D1-1651-233D-46648A2525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Unisole.ai</a:t>
            </a:r>
          </a:p>
        </p:txBody>
      </p:sp>
    </p:spTree>
    <p:extLst>
      <p:ext uri="{BB962C8B-B14F-4D97-AF65-F5344CB8AC3E}">
        <p14:creationId xmlns:p14="http://schemas.microsoft.com/office/powerpoint/2010/main" val="52130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094F2-838E-A097-156A-63C977C3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A4C2-08A3-2B37-2294-F7C849F2D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000" b="1" dirty="0"/>
              <a:t>Foundations of AI Agents </a:t>
            </a:r>
            <a:r>
              <a:rPr lang="en-US" sz="2000" dirty="0"/>
              <a:t>— what agents are, how they differ from chatbots and workflows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Agent Architectures </a:t>
            </a:r>
            <a:r>
              <a:rPr lang="en-US" sz="2000" dirty="0"/>
              <a:t>— reasoning loops, planning, tool use, memory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Building Blocks </a:t>
            </a:r>
            <a:r>
              <a:rPr lang="en-US" sz="2000" dirty="0"/>
              <a:t>— LLMs, prompts, function calling, RAG, vector stores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Multi-Agent Systems </a:t>
            </a:r>
            <a:r>
              <a:rPr lang="en-US" sz="2000" dirty="0"/>
              <a:t>— orchestration, communication, role specialization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Evaluation &amp; Observability </a:t>
            </a:r>
            <a:r>
              <a:rPr lang="en-US" sz="2000" dirty="0"/>
              <a:t>— testing, tracing, guardrails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Production &amp; Deployment </a:t>
            </a:r>
            <a:r>
              <a:rPr lang="en-US" sz="2000" dirty="0"/>
              <a:t>— scaling, cost, safety, real-world case studies</a:t>
            </a:r>
          </a:p>
        </p:txBody>
      </p:sp>
    </p:spTree>
    <p:extLst>
      <p:ext uri="{BB962C8B-B14F-4D97-AF65-F5344CB8AC3E}">
        <p14:creationId xmlns:p14="http://schemas.microsoft.com/office/powerpoint/2010/main" val="36174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AE454-C7A3-DB1E-1809-3B32163E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AA7A-1479-61F2-B22E-6E79CACAE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000" b="1" dirty="0"/>
              <a:t>Understand</a:t>
            </a:r>
            <a:r>
              <a:rPr lang="en-US" sz="2000" dirty="0"/>
              <a:t> the core principles and components of AI agents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Design</a:t>
            </a:r>
            <a:r>
              <a:rPr lang="en-US" sz="2000" dirty="0"/>
              <a:t> agent architectures using reasoning, planning, and tool use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Build</a:t>
            </a:r>
            <a:r>
              <a:rPr lang="en-US" sz="2000" dirty="0"/>
              <a:t> working agents with LLMs, function calling, and RAG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Orchestrate</a:t>
            </a:r>
            <a:r>
              <a:rPr lang="en-US" sz="2000" dirty="0"/>
              <a:t> multi-agent systems for complex, real-world tasks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Evaluate</a:t>
            </a:r>
            <a:r>
              <a:rPr lang="en-US" sz="2000" dirty="0"/>
              <a:t> agent behavior with tracing, guardrails, and quality metrics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Deploy</a:t>
            </a:r>
            <a:r>
              <a:rPr lang="en-US" sz="2000" dirty="0"/>
              <a:t> production-grade agents with cost, safety, and scale in mind</a:t>
            </a:r>
          </a:p>
        </p:txBody>
      </p:sp>
    </p:spTree>
    <p:extLst>
      <p:ext uri="{BB962C8B-B14F-4D97-AF65-F5344CB8AC3E}">
        <p14:creationId xmlns:p14="http://schemas.microsoft.com/office/powerpoint/2010/main" val="379150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5E3A-8753-6775-F88D-D59E139D8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EE48A-839F-E1DE-1B05-A4D2F265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b="1" dirty="0"/>
              <a:t>Programming:</a:t>
            </a:r>
            <a:r>
              <a:rPr lang="en-US" sz="1800" dirty="0"/>
              <a:t> Working proficiency in Python (functions, classes, async basics)</a:t>
            </a:r>
          </a:p>
          <a:p>
            <a:pPr marL="285750" indent="-285750">
              <a:buFont typeface="Arial"/>
              <a:buChar char="•"/>
            </a:pPr>
            <a:r>
              <a:rPr lang="en-US" sz="1800" b="1" dirty="0"/>
              <a:t>LLM familiarity:</a:t>
            </a:r>
            <a:r>
              <a:rPr lang="en-US" sz="1800" dirty="0"/>
              <a:t> Hands-on experience with ChatGPT, Claude, or similar — prompting fundamentals</a:t>
            </a:r>
          </a:p>
          <a:p>
            <a:pPr marL="285750" indent="-285750">
              <a:buFont typeface="Arial"/>
              <a:buChar char="•"/>
            </a:pPr>
            <a:r>
              <a:rPr lang="en-US" sz="1800" b="1" dirty="0"/>
              <a:t>APIs &amp; JSON:</a:t>
            </a:r>
            <a:r>
              <a:rPr lang="en-US" sz="1800" dirty="0"/>
              <a:t> Comfortable calling REST APIs and parsing JSON responses</a:t>
            </a:r>
          </a:p>
          <a:p>
            <a:pPr marL="285750" indent="-285750">
              <a:buFont typeface="Arial"/>
              <a:buChar char="•"/>
            </a:pPr>
            <a:r>
              <a:rPr lang="en-US" sz="1800" b="1" dirty="0"/>
              <a:t>ML concepts:</a:t>
            </a:r>
            <a:r>
              <a:rPr lang="en-US" sz="1800" dirty="0"/>
              <a:t> High-level understanding of LLMs, embeddings, and tokens (deep ML theory not required)</a:t>
            </a:r>
          </a:p>
          <a:p>
            <a:pPr marL="285750" indent="-285750">
              <a:buFont typeface="Arial"/>
              <a:buChar char="•"/>
            </a:pPr>
            <a:r>
              <a:rPr lang="en-US" sz="1800" b="1" dirty="0"/>
              <a:t>Dev environment:</a:t>
            </a:r>
            <a:r>
              <a:rPr lang="en-US" sz="1800" dirty="0"/>
              <a:t> Git, virtualenv/uv, and an OpenAI or Anthropic API key for hands-on labs</a:t>
            </a:r>
          </a:p>
          <a:p>
            <a:pPr marL="285750" indent="-285750">
              <a:buFont typeface="Arial"/>
              <a:buChar char="•"/>
            </a:pPr>
            <a:r>
              <a:rPr lang="en-US" sz="1800" b="1" dirty="0"/>
              <a:t>Helpful but optional:</a:t>
            </a:r>
            <a:r>
              <a:rPr lang="en-US" sz="1800" dirty="0"/>
              <a:t> Exposure to LangChain, LlamaIndex, or vector databases</a:t>
            </a:r>
          </a:p>
        </p:txBody>
      </p:sp>
    </p:spTree>
    <p:extLst>
      <p:ext uri="{BB962C8B-B14F-4D97-AF65-F5344CB8AC3E}">
        <p14:creationId xmlns:p14="http://schemas.microsoft.com/office/powerpoint/2010/main" val="2416585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E91F1-A897-B37A-8D15-68261407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Pretraining Revolution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EFAB8-A1EA-4BCB-AEB0-FD40977E1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500" b="1" dirty="0"/>
              <a:t>From autocomplete to cognition.</a:t>
            </a:r>
            <a:r>
              <a:rPr lang="en-US" sz="1500" dirty="0"/>
              <a:t> Scaling laws turned token prediction into emergent reasoning — a 100× compute jump unlocked chain-of-thought, code, and math.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500" b="1" dirty="0"/>
              <a:t>Reasoning is the new substrate.</a:t>
            </a:r>
            <a:r>
              <a:rPr lang="en-US" sz="1500" dirty="0"/>
              <a:t> Frontier models leapt from ~50% to 85%+ on graduate benchmarks (MMLU, GPQA), crossing the threshold for autonomous work.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500" b="1" dirty="0"/>
              <a:t>Inference-time compute compounds.</a:t>
            </a:r>
            <a:r>
              <a:rPr lang="en-US" sz="1500" dirty="0"/>
              <a:t> Test-time reasoning trades 10–100× latency for 2–5× accuracy — a new dial executives must price into design.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500" b="1" dirty="0"/>
              <a:t>The model is the platform.</a:t>
            </a:r>
            <a:r>
              <a:rPr lang="en-US" sz="1500" dirty="0"/>
              <a:t> Apps are now orchestration layers around models — the inversion that founds the agentic era.</a:t>
            </a:r>
          </a:p>
        </p:txBody>
      </p:sp>
      <p:sp>
        <p:nvSpPr>
          <p:cNvPr id="1001" name="Era1"/>
          <p:cNvSpPr/>
          <p:nvPr/>
        </p:nvSpPr>
        <p:spPr>
          <a:xfrm>
            <a:off x="1397000" y="5016500"/>
            <a:ext cx="3048000" cy="889000"/>
          </a:xfrm>
          <a:prstGeom prst="rect">
            <a:avLst/>
          </a:prstGeom>
          <a:solidFill>
            <a:srgbClr val="44709D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ERA 1  ·  PREDICTION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Next-token autocomplete</a:t>
            </a:r>
          </a:p>
          <a:p>
            <a:pPr algn="ctr"/>
            <a:r>
              <a:rPr lang="en-US" sz="1100" b="0" dirty="0">
                <a:solidFill>
                  <a:srgbClr val="DADADA"/>
                </a:solidFill>
              </a:rPr>
              <a:t>Pattern matching at scale</a:t>
            </a:r>
          </a:p>
        </p:txBody>
      </p:sp>
      <p:sp>
        <p:nvSpPr>
          <p:cNvPr id="1002" name="Arr1"/>
          <p:cNvSpPr/>
          <p:nvPr/>
        </p:nvSpPr>
        <p:spPr>
          <a:xfrm>
            <a:off x="4508500" y="5295900"/>
            <a:ext cx="381000" cy="33020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endParaRPr/>
          </a:p>
        </p:txBody>
      </p:sp>
      <p:sp>
        <p:nvSpPr>
          <p:cNvPr id="1003" name="Era2"/>
          <p:cNvSpPr/>
          <p:nvPr/>
        </p:nvSpPr>
        <p:spPr>
          <a:xfrm>
            <a:off x="4953000" y="5016500"/>
            <a:ext cx="3048000" cy="889000"/>
          </a:xfrm>
          <a:prstGeom prst="rect">
            <a:avLst/>
          </a:prstGeom>
          <a:solidFill>
            <a:srgbClr val="83992A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ERA 2  ·  REASONING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Chain-of-thought + tools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</a:rPr>
              <a:t>Solves novel problems</a:t>
            </a:r>
          </a:p>
        </p:txBody>
      </p:sp>
      <p:sp>
        <p:nvSpPr>
          <p:cNvPr id="1004" name="Arr2"/>
          <p:cNvSpPr/>
          <p:nvPr/>
        </p:nvSpPr>
        <p:spPr>
          <a:xfrm>
            <a:off x="8064500" y="5295900"/>
            <a:ext cx="381000" cy="33020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endParaRPr/>
          </a:p>
        </p:txBody>
      </p:sp>
      <p:sp>
        <p:nvSpPr>
          <p:cNvPr id="1005" name="Era3"/>
          <p:cNvSpPr/>
          <p:nvPr/>
        </p:nvSpPr>
        <p:spPr>
          <a:xfrm>
            <a:off x="8509000" y="5016500"/>
            <a:ext cx="3048000" cy="889000"/>
          </a:xfrm>
          <a:prstGeom prst="rect">
            <a:avLst/>
          </a:prstGeom>
          <a:solidFill>
            <a:srgbClr val="D97828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ERA 3  ·  AGENCY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Goal-pursuing systems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</a:rPr>
              <a:t>Plan · Act · Reflect · Repeat</a:t>
            </a:r>
          </a:p>
        </p:txBody>
      </p:sp>
    </p:spTree>
    <p:extLst>
      <p:ext uri="{BB962C8B-B14F-4D97-AF65-F5344CB8AC3E}">
        <p14:creationId xmlns:p14="http://schemas.microsoft.com/office/powerpoint/2010/main" val="2165055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CDDE-E6DF-59E7-1B5D-71DFC490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an AI Agent?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8B4FF-4C6C-906E-DE7D-9C413C817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500" b="1" dirty="0"/>
              <a:t>Not a bot. A goal-pursuer.</a:t>
            </a:r>
            <a:r>
              <a:rPr lang="en-US" sz="1500" dirty="0"/>
              <a:t> An agent is given an objective, not a script. It decides the steps, selects the tools, and adapts when reality diverges from plan.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500" b="1" dirty="0"/>
              <a:t>Four constitutive capabilities.</a:t>
            </a:r>
            <a:r>
              <a:rPr lang="en-US" sz="1500" dirty="0"/>
              <a:t> Perceive (read state) · Reason (decompose goal) · Act (call tools/APIs) · Reflect (self-correct). Remove any one and you have a chatbot, not an agent.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500" b="1" dirty="0"/>
              <a:t>Autonomy is a spectrum, not a switch.</a:t>
            </a:r>
            <a:r>
              <a:rPr lang="en-US" sz="1500" dirty="0"/>
              <a:t> L1 suggests → L2 executes one step → L3 chains steps → L4 owns outcomes. 80% of enterprise pilots stall at L2; the value unlocks at L3+.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500" b="1" dirty="0"/>
              <a:t>Closes the last mile.</a:t>
            </a:r>
            <a:r>
              <a:rPr lang="en-US" sz="1500" dirty="0"/>
              <a:t> Traditional AI predicts; agents act. This collapses the 30–40% productivity gap between recommendation and execution in knowledge work.</a:t>
            </a:r>
          </a:p>
        </p:txBody>
      </p:sp>
      <p:sp>
        <p:nvSpPr>
          <p:cNvPr id="2001" name="Perceive"/>
          <p:cNvSpPr/>
          <p:nvPr/>
        </p:nvSpPr>
        <p:spPr>
          <a:xfrm>
            <a:off x="1397000" y="5016500"/>
            <a:ext cx="2222500" cy="889000"/>
          </a:xfrm>
          <a:prstGeom prst="rect">
            <a:avLst/>
          </a:prstGeom>
          <a:solidFill>
            <a:srgbClr val="44709D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1 · PERCEIVE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Read state</a:t>
            </a:r>
          </a:p>
          <a:p>
            <a:pPr algn="ctr"/>
            <a:r>
              <a:rPr lang="en-US" sz="900" b="0" dirty="0">
                <a:solidFill>
                  <a:srgbClr val="FFFFFF"/>
                </a:solidFill>
              </a:rPr>
              <a:t>Context · memory</a:t>
            </a:r>
          </a:p>
        </p:txBody>
      </p:sp>
      <p:sp>
        <p:nvSpPr>
          <p:cNvPr id="2002" name="A1"/>
          <p:cNvSpPr/>
          <p:nvPr/>
        </p:nvSpPr>
        <p:spPr>
          <a:xfrm>
            <a:off x="3683000" y="5295900"/>
            <a:ext cx="317500" cy="33020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endParaRPr/>
          </a:p>
        </p:txBody>
      </p:sp>
      <p:sp>
        <p:nvSpPr>
          <p:cNvPr id="2003" name="Reason"/>
          <p:cNvSpPr/>
          <p:nvPr/>
        </p:nvSpPr>
        <p:spPr>
          <a:xfrm>
            <a:off x="4064000" y="5016500"/>
            <a:ext cx="2222500" cy="889000"/>
          </a:xfrm>
          <a:prstGeom prst="rect">
            <a:avLst/>
          </a:prstGeom>
          <a:solidFill>
            <a:srgbClr val="83992A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2 · REASON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Decompose goal</a:t>
            </a:r>
          </a:p>
          <a:p>
            <a:pPr algn="ctr"/>
            <a:r>
              <a:rPr lang="en-US" sz="900" b="0" dirty="0">
                <a:solidFill>
                  <a:srgbClr val="FFFFFF"/>
                </a:solidFill>
              </a:rPr>
              <a:t>Plan · prioritize</a:t>
            </a:r>
          </a:p>
        </p:txBody>
      </p:sp>
      <p:sp>
        <p:nvSpPr>
          <p:cNvPr id="2004" name="A2"/>
          <p:cNvSpPr/>
          <p:nvPr/>
        </p:nvSpPr>
        <p:spPr>
          <a:xfrm>
            <a:off x="6350000" y="5295900"/>
            <a:ext cx="317500" cy="33020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endParaRPr/>
          </a:p>
        </p:txBody>
      </p:sp>
      <p:sp>
        <p:nvSpPr>
          <p:cNvPr id="2005" name="Act"/>
          <p:cNvSpPr/>
          <p:nvPr/>
        </p:nvSpPr>
        <p:spPr>
          <a:xfrm>
            <a:off x="6731000" y="5016500"/>
            <a:ext cx="2222500" cy="889000"/>
          </a:xfrm>
          <a:prstGeom prst="rect">
            <a:avLst/>
          </a:prstGeom>
          <a:solidFill>
            <a:srgbClr val="D97828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3 · ACT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Call tools / APIs</a:t>
            </a:r>
          </a:p>
          <a:p>
            <a:pPr algn="ctr"/>
            <a:r>
              <a:rPr lang="en-US" sz="900" b="0" dirty="0">
                <a:solidFill>
                  <a:srgbClr val="FFFFFF"/>
                </a:solidFill>
              </a:rPr>
              <a:t>Execute · observe</a:t>
            </a:r>
          </a:p>
        </p:txBody>
      </p:sp>
      <p:sp>
        <p:nvSpPr>
          <p:cNvPr id="2006" name="A3"/>
          <p:cNvSpPr/>
          <p:nvPr/>
        </p:nvSpPr>
        <p:spPr>
          <a:xfrm>
            <a:off x="9017000" y="5295900"/>
            <a:ext cx="317500" cy="33020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endParaRPr/>
          </a:p>
        </p:txBody>
      </p:sp>
      <p:sp>
        <p:nvSpPr>
          <p:cNvPr id="2007" name="Reflect"/>
          <p:cNvSpPr/>
          <p:nvPr/>
        </p:nvSpPr>
        <p:spPr>
          <a:xfrm>
            <a:off x="9398000" y="5016500"/>
            <a:ext cx="2222500" cy="889000"/>
          </a:xfrm>
          <a:prstGeom prst="rect">
            <a:avLst/>
          </a:prstGeom>
          <a:solidFill>
            <a:srgbClr val="A23C33"/>
          </a:solidFill>
          <a:ln>
            <a:noFill/>
          </a:ln>
        </p:spPr>
        <p:txBody>
          <a:bodyPr wrap="square" lIns="45720" tIns="36000" rIns="45720" bIns="36000" anchor="ctr" anchorCtr="1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4 · REFLECT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Self-correct</a:t>
            </a:r>
          </a:p>
          <a:p>
            <a:pPr algn="ctr"/>
            <a:r>
              <a:rPr lang="en-US" sz="900" b="0" dirty="0">
                <a:solidFill>
                  <a:srgbClr val="FFFFFF"/>
                </a:solidFill>
              </a:rPr>
              <a:t>Re-plan or finish</a:t>
            </a:r>
          </a:p>
        </p:txBody>
      </p:sp>
    </p:spTree>
    <p:extLst>
      <p:ext uri="{BB962C8B-B14F-4D97-AF65-F5344CB8AC3E}">
        <p14:creationId xmlns:p14="http://schemas.microsoft.com/office/powerpoint/2010/main" val="2971545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C421-80AE-4361-291A-53247693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Agent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EFA32-288B-4EC0-B0F5-E5893624A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413000"/>
            <a:ext cx="9601200" cy="457200"/>
          </a:xfrm>
        </p:spPr>
        <p:txBody>
          <a:bodyPr/>
          <a:lstStyle/>
          <a:p>
            <a:pPr algn="ctr">
              <a:buNone/>
            </a:pPr>
            <a:r>
              <a:rPr lang="en-US" sz="1500" i="1" dirty="0">
                <a:solidFill>
                  <a:srgbClr val="555555"/>
                </a:solidFill>
              </a:rPr>
              <a:t>Eight archetypes — each with a distinct value pool, risk profile, and time-to-deploy.</a:t>
            </a:r>
          </a:p>
        </p:txBody>
      </p:sp>
      <p:sp>
        <p:nvSpPr>
          <p:cNvPr id="3001" name="Business Task"/>
          <p:cNvSpPr/>
          <p:nvPr/>
        </p:nvSpPr>
        <p:spPr>
          <a:xfrm>
            <a:off x="825500" y="3048000"/>
            <a:ext cx="2540000" cy="12700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54000" tIns="36000" rIns="54000" bIns="3600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Business Task</a:t>
            </a:r>
          </a:p>
          <a:p>
            <a:pPr algn="ctr"/>
            <a:r>
              <a:rPr lang="en-US" sz="1400" b="0" dirty="0">
                <a:solidFill>
                  <a:srgbClr val="F0F0F0"/>
                </a:solidFill>
              </a:rPr>
              <a:t>Workflow execution — finance, HR, ops</a:t>
            </a:r>
          </a:p>
        </p:txBody>
      </p:sp>
      <p:sp>
        <p:nvSpPr>
          <p:cNvPr id="3002" name="Conversational"/>
          <p:cNvSpPr/>
          <p:nvPr/>
        </p:nvSpPr>
        <p:spPr>
          <a:xfrm>
            <a:off x="3568700" y="3048000"/>
            <a:ext cx="2540000" cy="12700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54000" tIns="36000" rIns="54000" bIns="3600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Conversational</a:t>
            </a:r>
          </a:p>
          <a:p>
            <a:pPr algn="ctr"/>
            <a:r>
              <a:rPr lang="en-US" sz="1400" b="0" dirty="0">
                <a:solidFill>
                  <a:srgbClr val="F0F0F0"/>
                </a:solidFill>
              </a:rPr>
              <a:t>Customer- &amp; employee-facing chat</a:t>
            </a:r>
          </a:p>
        </p:txBody>
      </p:sp>
      <p:sp>
        <p:nvSpPr>
          <p:cNvPr id="3003" name="Research"/>
          <p:cNvSpPr/>
          <p:nvPr/>
        </p:nvSpPr>
        <p:spPr>
          <a:xfrm>
            <a:off x="6311900" y="3048000"/>
            <a:ext cx="2540000" cy="1270000"/>
          </a:xfrm>
          <a:prstGeom prst="roundRect">
            <a:avLst/>
          </a:prstGeom>
          <a:solidFill>
            <a:srgbClr val="D97828"/>
          </a:solidFill>
          <a:ln>
            <a:noFill/>
          </a:ln>
        </p:spPr>
        <p:txBody>
          <a:bodyPr wrap="square" lIns="54000" tIns="36000" rIns="54000" bIns="3600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Research</a:t>
            </a:r>
          </a:p>
          <a:p>
            <a:pPr algn="ctr"/>
            <a:r>
              <a:rPr lang="en-US" sz="1400" b="0" dirty="0">
                <a:solidFill>
                  <a:srgbClr val="F0F0F0"/>
                </a:solidFill>
              </a:rPr>
              <a:t>Multi-source synthesis &amp; reports</a:t>
            </a:r>
          </a:p>
        </p:txBody>
      </p:sp>
      <p:sp>
        <p:nvSpPr>
          <p:cNvPr id="3004" name="Analytics"/>
          <p:cNvSpPr/>
          <p:nvPr/>
        </p:nvSpPr>
        <p:spPr>
          <a:xfrm>
            <a:off x="9055100" y="3048000"/>
            <a:ext cx="2540000" cy="1270000"/>
          </a:xfrm>
          <a:prstGeom prst="roundRect">
            <a:avLst/>
          </a:prstGeom>
          <a:solidFill>
            <a:srgbClr val="A23C33"/>
          </a:solidFill>
          <a:ln>
            <a:noFill/>
          </a:ln>
        </p:spPr>
        <p:txBody>
          <a:bodyPr wrap="square" lIns="54000" tIns="36000" rIns="54000" bIns="3600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Analytics</a:t>
            </a:r>
          </a:p>
          <a:p>
            <a:pPr algn="ctr"/>
            <a:r>
              <a:rPr lang="en-US" sz="1400" b="0" dirty="0">
                <a:solidFill>
                  <a:srgbClr val="F0F0F0"/>
                </a:solidFill>
              </a:rPr>
              <a:t>Query data · generate insights</a:t>
            </a:r>
          </a:p>
        </p:txBody>
      </p:sp>
      <p:sp>
        <p:nvSpPr>
          <p:cNvPr id="3005" name="Developer"/>
          <p:cNvSpPr/>
          <p:nvPr/>
        </p:nvSpPr>
        <p:spPr>
          <a:xfrm>
            <a:off x="825500" y="4546600"/>
            <a:ext cx="2540000" cy="1270000"/>
          </a:xfrm>
          <a:prstGeom prst="roundRect">
            <a:avLst/>
          </a:prstGeom>
          <a:solidFill>
            <a:srgbClr val="3C9770"/>
          </a:solidFill>
          <a:ln>
            <a:noFill/>
          </a:ln>
        </p:spPr>
        <p:txBody>
          <a:bodyPr wrap="square" lIns="54000" tIns="36000" rIns="54000" bIns="3600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Developer</a:t>
            </a:r>
          </a:p>
          <a:p>
            <a:pPr algn="ctr"/>
            <a:r>
              <a:rPr lang="en-US" sz="1400" b="0" dirty="0">
                <a:solidFill>
                  <a:srgbClr val="F0F0F0"/>
                </a:solidFill>
              </a:rPr>
              <a:t>Code, test, debug, ship</a:t>
            </a:r>
          </a:p>
        </p:txBody>
      </p:sp>
      <p:sp>
        <p:nvSpPr>
          <p:cNvPr id="3006" name="Domain-Specific"/>
          <p:cNvSpPr/>
          <p:nvPr/>
        </p:nvSpPr>
        <p:spPr>
          <a:xfrm>
            <a:off x="3568700" y="4546600"/>
            <a:ext cx="2540000" cy="1270000"/>
          </a:xfrm>
          <a:prstGeom prst="roundRect">
            <a:avLst/>
          </a:prstGeom>
          <a:solidFill>
            <a:srgbClr val="DEB340"/>
          </a:solidFill>
          <a:ln>
            <a:noFill/>
          </a:ln>
        </p:spPr>
        <p:txBody>
          <a:bodyPr wrap="square" lIns="54000" tIns="36000" rIns="54000" bIns="3600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Domain-Specific</a:t>
            </a:r>
          </a:p>
          <a:p>
            <a:pPr algn="ctr"/>
            <a:r>
              <a:rPr lang="en-US" sz="1400" b="0" dirty="0">
                <a:solidFill>
                  <a:srgbClr val="F0F0F0"/>
                </a:solidFill>
              </a:rPr>
              <a:t>Legal · clinical · financial vertical</a:t>
            </a:r>
          </a:p>
        </p:txBody>
      </p:sp>
      <p:sp>
        <p:nvSpPr>
          <p:cNvPr id="3007" name="Browser / LAM"/>
          <p:cNvSpPr/>
          <p:nvPr/>
        </p:nvSpPr>
        <p:spPr>
          <a:xfrm>
            <a:off x="6311900" y="4546600"/>
            <a:ext cx="2540000" cy="12700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54000" tIns="36000" rIns="54000" bIns="3600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Browser / LAM</a:t>
            </a:r>
          </a:p>
          <a:p>
            <a:pPr algn="ctr"/>
            <a:r>
              <a:rPr lang="en-US" sz="1400" b="0" dirty="0">
                <a:solidFill>
                  <a:srgbClr val="F0F0F0"/>
                </a:solidFill>
              </a:rPr>
              <a:t>Acts on UIs like a human</a:t>
            </a:r>
          </a:p>
        </p:txBody>
      </p:sp>
      <p:sp>
        <p:nvSpPr>
          <p:cNvPr id="3008" name="Sensory (V/V)"/>
          <p:cNvSpPr/>
          <p:nvPr/>
        </p:nvSpPr>
        <p:spPr>
          <a:xfrm>
            <a:off x="9055100" y="4546600"/>
            <a:ext cx="2540000" cy="1270000"/>
          </a:xfrm>
          <a:prstGeom prst="roundRect">
            <a:avLst/>
          </a:prstGeom>
          <a:solidFill>
            <a:srgbClr val="A23C33"/>
          </a:solidFill>
          <a:ln>
            <a:noFill/>
          </a:ln>
        </p:spPr>
        <p:txBody>
          <a:bodyPr wrap="square" lIns="54000" tIns="36000" rIns="54000" bIns="3600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Sensory (V/V)</a:t>
            </a:r>
          </a:p>
          <a:p>
            <a:pPr algn="ctr"/>
            <a:r>
              <a:rPr lang="en-US" sz="1400" b="0" dirty="0">
                <a:solidFill>
                  <a:srgbClr val="F0F0F0"/>
                </a:solidFill>
              </a:rPr>
              <a:t>Voice &amp; vision modalities</a:t>
            </a:r>
          </a:p>
        </p:txBody>
      </p:sp>
    </p:spTree>
    <p:extLst>
      <p:ext uri="{BB962C8B-B14F-4D97-AF65-F5344CB8AC3E}">
        <p14:creationId xmlns:p14="http://schemas.microsoft.com/office/powerpoint/2010/main" val="519846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3187-9AF5-ADD9-6AA7-E938A77B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Sync vs. Async: The Real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C8750-2B1F-44EA-9AED-1E6FDD0A5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413000"/>
            <a:ext cx="9601200" cy="457200"/>
          </a:xfrm>
        </p:spPr>
        <p:txBody>
          <a:bodyPr/>
          <a:lstStyle/>
          <a:p>
            <a:pPr algn="ctr">
              <a:buNone/>
            </a:pPr>
            <a:r>
              <a:rPr lang="en-US" sz="1500" i="1" dirty="0">
                <a:solidFill>
                  <a:srgbClr val="555555"/>
                </a:solidFill>
              </a:rPr>
              <a:t>The transition from "ask &amp; wait" to "delegate &amp; verify" is the defining shift of the agentic era.</a:t>
            </a:r>
          </a:p>
        </p:txBody>
      </p:sp>
      <p:sp>
        <p:nvSpPr>
          <p:cNvPr id="4001" name="Sync"/>
          <p:cNvSpPr/>
          <p:nvPr/>
        </p:nvSpPr>
        <p:spPr>
          <a:xfrm>
            <a:off x="762000" y="2984500"/>
            <a:ext cx="5207000" cy="3048000"/>
          </a:xfrm>
          <a:prstGeom prst="roundRect">
            <a:avLst/>
          </a:prstGeom>
          <a:solidFill>
            <a:srgbClr val="F4ECEB"/>
          </a:solidFill>
          <a:ln w="12700">
            <a:solidFill>
              <a:srgbClr val="A23C33"/>
            </a:solidFill>
          </a:ln>
        </p:spPr>
        <p:txBody>
          <a:bodyPr wrap="square" lIns="180000" tIns="144000" rIns="144000" bIns="108000" anchor="t"/>
          <a:lstStyle/>
          <a:p>
            <a:pPr algn="l"/>
            <a:r>
              <a:rPr lang="en-US" sz="1500" b="1" dirty="0">
                <a:solidFill>
                  <a:srgbClr val="A23C33"/>
                </a:solidFill>
              </a:rPr>
              <a:t>SYNCHRONOUS</a:t>
            </a:r>
          </a:p>
          <a:p>
            <a:pPr algn="l"/>
            <a:r>
              <a:rPr lang="en-US" sz="1400" b="0" dirty="0">
                <a:solidFill>
                  <a:srgbClr val="555555"/>
                </a:solidFill>
              </a:rPr>
              <a:t>Ask · Wait · Receive</a:t>
            </a:r>
          </a:p>
          <a:p>
            <a:endParaRPr lang="en-US" sz="1400" b="0" dirty="0">
              <a:solidFill>
                <a:srgbClr val="555555"/>
              </a:solidFill>
            </a:endParaRPr>
          </a:p>
          <a:p>
            <a:pPr marL="171450" indent="-171450">
              <a:spcAft>
                <a:spcPts val="300"/>
              </a:spcAft>
              <a:buFont typeface="Arial"/>
              <a:buChar char="▸"/>
            </a:pPr>
            <a:r>
              <a:rPr lang="en-US" sz="1400" dirty="0">
                <a:solidFill>
                  <a:srgbClr val="212121"/>
                </a:solidFill>
              </a:rPr>
              <a:t>Human-in-the-loop on every step</a:t>
            </a:r>
          </a:p>
          <a:p>
            <a:pPr marL="171450" indent="-171450">
              <a:spcAft>
                <a:spcPts val="300"/>
              </a:spcAft>
              <a:buFont typeface="Arial"/>
              <a:buChar char="▸"/>
            </a:pPr>
            <a:r>
              <a:rPr lang="en-US" sz="1400" dirty="0">
                <a:solidFill>
                  <a:srgbClr val="212121"/>
                </a:solidFill>
              </a:rPr>
              <a:t>Sub-second latency expected</a:t>
            </a:r>
          </a:p>
          <a:p>
            <a:pPr marL="171450" indent="-171450">
              <a:spcAft>
                <a:spcPts val="300"/>
              </a:spcAft>
              <a:buFont typeface="Arial"/>
              <a:buChar char="▸"/>
            </a:pPr>
            <a:r>
              <a:rPr lang="en-US" sz="1400" dirty="0">
                <a:solidFill>
                  <a:srgbClr val="212121"/>
                </a:solidFill>
              </a:rPr>
              <a:t>One conversation, one task</a:t>
            </a:r>
          </a:p>
          <a:p>
            <a:pPr marL="171450" indent="-171450">
              <a:spcAft>
                <a:spcPts val="300"/>
              </a:spcAft>
              <a:buFont typeface="Arial"/>
              <a:buChar char="▸"/>
            </a:pPr>
            <a:r>
              <a:rPr lang="en-US" sz="1400" dirty="0">
                <a:solidFill>
                  <a:srgbClr val="212121"/>
                </a:solidFill>
              </a:rPr>
              <a:t>Chat-style UX (ChatGPT, Copilot)</a:t>
            </a:r>
          </a:p>
          <a:p>
            <a:pPr marL="171450" indent="-171450">
              <a:spcAft>
                <a:spcPts val="300"/>
              </a:spcAft>
              <a:buFont typeface="Arial"/>
              <a:buChar char="▸"/>
            </a:pPr>
            <a:r>
              <a:rPr lang="en-US" sz="1400" dirty="0">
                <a:solidFill>
                  <a:srgbClr val="212121"/>
                </a:solidFill>
              </a:rPr>
              <a:t>Throughput capped by human attention</a:t>
            </a:r>
          </a:p>
        </p:txBody>
      </p:sp>
      <p:sp>
        <p:nvSpPr>
          <p:cNvPr id="4002" name="Async"/>
          <p:cNvSpPr/>
          <p:nvPr/>
        </p:nvSpPr>
        <p:spPr>
          <a:xfrm>
            <a:off x="6223000" y="2984500"/>
            <a:ext cx="5207000" cy="3048000"/>
          </a:xfrm>
          <a:prstGeom prst="roundRect">
            <a:avLst/>
          </a:prstGeom>
          <a:solidFill>
            <a:srgbClr val="ECF1E8"/>
          </a:solidFill>
          <a:ln w="12700">
            <a:solidFill>
              <a:srgbClr val="83992A"/>
            </a:solidFill>
          </a:ln>
        </p:spPr>
        <p:txBody>
          <a:bodyPr wrap="square" lIns="180000" tIns="144000" rIns="144000" bIns="108000" anchor="t"/>
          <a:lstStyle/>
          <a:p>
            <a:pPr algn="l"/>
            <a:r>
              <a:rPr lang="en-US" sz="1500" b="1" dirty="0">
                <a:solidFill>
                  <a:srgbClr val="83992A"/>
                </a:solidFill>
              </a:rPr>
              <a:t>ASYNCHRONOUS</a:t>
            </a:r>
          </a:p>
          <a:p>
            <a:pPr algn="l"/>
            <a:r>
              <a:rPr lang="en-US" sz="1400" b="0" dirty="0">
                <a:solidFill>
                  <a:srgbClr val="555555"/>
                </a:solidFill>
              </a:rPr>
              <a:t>Delegate · Trust · Verify</a:t>
            </a:r>
          </a:p>
          <a:p>
            <a:endParaRPr lang="en-US" sz="1400" b="0" dirty="0">
              <a:solidFill>
                <a:srgbClr val="555555"/>
              </a:solidFill>
            </a:endParaRPr>
          </a:p>
          <a:p>
            <a:pPr marL="171450" indent="-171450">
              <a:spcAft>
                <a:spcPts val="300"/>
              </a:spcAft>
              <a:buFont typeface="Arial"/>
              <a:buChar char="▸"/>
            </a:pPr>
            <a:r>
              <a:rPr lang="en-US" sz="1400" dirty="0">
                <a:solidFill>
                  <a:srgbClr val="212121"/>
                </a:solidFill>
              </a:rPr>
              <a:t>Human approves outcomes, not steps</a:t>
            </a:r>
          </a:p>
          <a:p>
            <a:pPr marL="171450" indent="-171450">
              <a:spcAft>
                <a:spcPts val="300"/>
              </a:spcAft>
              <a:buFont typeface="Arial"/>
              <a:buChar char="▸"/>
            </a:pPr>
            <a:r>
              <a:rPr lang="en-US" sz="1400" dirty="0">
                <a:solidFill>
                  <a:srgbClr val="212121"/>
                </a:solidFill>
              </a:rPr>
              <a:t>Minutes-to-hours runtime acceptable</a:t>
            </a:r>
          </a:p>
          <a:p>
            <a:pPr marL="171450" indent="-171450">
              <a:spcAft>
                <a:spcPts val="300"/>
              </a:spcAft>
              <a:buFont typeface="Arial"/>
              <a:buChar char="▸"/>
            </a:pPr>
            <a:r>
              <a:rPr lang="en-US" sz="1400" dirty="0">
                <a:solidFill>
                  <a:srgbClr val="212121"/>
                </a:solidFill>
              </a:rPr>
              <a:t>Many tasks running in parallel</a:t>
            </a:r>
          </a:p>
          <a:p>
            <a:pPr marL="171450" indent="-171450">
              <a:spcAft>
                <a:spcPts val="300"/>
              </a:spcAft>
              <a:buFont typeface="Arial"/>
              <a:buChar char="▸"/>
            </a:pPr>
            <a:r>
              <a:rPr lang="en-US" sz="1400" dirty="0">
                <a:solidFill>
                  <a:srgbClr val="212121"/>
                </a:solidFill>
              </a:rPr>
              <a:t>Inbox / queue-style UX (Devin, Manus)</a:t>
            </a:r>
          </a:p>
          <a:p>
            <a:pPr marL="171450" indent="-171450">
              <a:spcAft>
                <a:spcPts val="300"/>
              </a:spcAft>
              <a:buFont typeface="Arial"/>
              <a:buChar char="▸"/>
            </a:pPr>
            <a:r>
              <a:rPr lang="en-US" sz="1400" dirty="0">
                <a:solidFill>
                  <a:srgbClr val="212121"/>
                </a:solidFill>
              </a:rPr>
              <a:t>Throughput scales with compute, not headcount</a:t>
            </a:r>
          </a:p>
        </p:txBody>
      </p:sp>
    </p:spTree>
    <p:extLst>
      <p:ext uri="{BB962C8B-B14F-4D97-AF65-F5344CB8AC3E}">
        <p14:creationId xmlns:p14="http://schemas.microsoft.com/office/powerpoint/2010/main" val="200571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1000-5E9B-DDC5-3D34-374313EA2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60213"/>
            <a:ext cx="9601196" cy="612988"/>
          </a:xfrm>
        </p:spPr>
        <p:txBody>
          <a:bodyPr>
            <a:normAutofit/>
          </a:bodyPr>
          <a:lstStyle/>
          <a:p>
            <a:r>
              <a:rPr lang="en-US" sz="3000" b="1" dirty="0"/>
              <a:t>Taxonomy of Autonomous Agents (7 Practical Use Cases)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ADCE3-EB20-7D50-C9C5-5D9A42315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1742439"/>
            <a:ext cx="10180320" cy="4255347"/>
          </a:xfrm>
        </p:spPr>
        <p:txBody>
          <a:bodyPr>
            <a:normAutofit/>
          </a:bodyPr>
          <a:lstStyle/>
          <a:p>
            <a:pPr marL="342900" indent="-342900">
              <a:spcAft>
                <a:spcPts val="400"/>
              </a:spcAft>
              <a:buFont typeface="+mj-lt"/>
              <a:buAutoNum type="arabicPeriod"/>
            </a:pPr>
            <a:r>
              <a:rPr lang="en-US" sz="1600" b="1" dirty="0"/>
              <a:t>Customer Support Agent:</a:t>
            </a:r>
            <a:r>
              <a:rPr lang="en-US" sz="1600" dirty="0"/>
              <a:t> Handles common inquiries, processes refunds, updates orders, and escalates complex issues to human agents to provide 24/7 support.</a:t>
            </a:r>
          </a:p>
          <a:p>
            <a:pPr marL="342900" indent="-342900">
              <a:spcAft>
                <a:spcPts val="400"/>
              </a:spcAft>
              <a:buFont typeface="+mj-lt"/>
              <a:buAutoNum type="arabicPeriod"/>
            </a:pPr>
            <a:r>
              <a:rPr lang="en-US" sz="1600" b="1" dirty="0"/>
              <a:t>Financial Services Agent:</a:t>
            </a:r>
            <a:r>
              <a:rPr lang="en-US" sz="1600" dirty="0"/>
              <a:t> Assists with account management, loan processing, fraud investigation, and investment portfolio rebalancing while detecting suspicious activities in real-time.</a:t>
            </a:r>
          </a:p>
          <a:p>
            <a:pPr marL="342900" indent="-342900">
              <a:spcAft>
                <a:spcPts val="400"/>
              </a:spcAft>
              <a:buFont typeface="+mj-lt"/>
              <a:buAutoNum type="arabicPeriod"/>
            </a:pPr>
            <a:r>
              <a:rPr lang="en-US" sz="1600" b="1" dirty="0"/>
              <a:t>Healthcare Patient Intake &amp; Triage Agent:</a:t>
            </a:r>
            <a:r>
              <a:rPr lang="en-US" sz="1600" dirty="0"/>
              <a:t> Registers new patients, verifies insurance, assesses symptoms to prioritize care, schedules appointments, and coordinates referrals.</a:t>
            </a:r>
          </a:p>
          <a:p>
            <a:pPr marL="342900" indent="-342900">
              <a:spcAft>
                <a:spcPts val="400"/>
              </a:spcAft>
              <a:buFont typeface="+mj-lt"/>
              <a:buAutoNum type="arabicPeriod"/>
            </a:pPr>
            <a:r>
              <a:rPr lang="en-US" sz="1600" b="1" dirty="0"/>
              <a:t>IT Help Desk Agent:</a:t>
            </a:r>
            <a:r>
              <a:rPr lang="en-US" sz="1600" dirty="0"/>
              <a:t> Manages user access, troubleshoots network/system issues, deploys software updates, and responds to security incidents.</a:t>
            </a:r>
          </a:p>
          <a:p>
            <a:pPr marL="342900" indent="-342900">
              <a:spcAft>
                <a:spcPts val="400"/>
              </a:spcAft>
              <a:buFont typeface="+mj-lt"/>
              <a:buAutoNum type="arabicPeriod"/>
            </a:pPr>
            <a:r>
              <a:rPr lang="en-US" sz="1600" b="1" dirty="0"/>
              <a:t>Legal Document Review Agent:</a:t>
            </a:r>
            <a:r>
              <a:rPr lang="en-US" sz="1600" dirty="0"/>
              <a:t> Assists legal teams by reviewing contracts, conducting legal research, performing client intake/conflict checks, managing discovery, and tracking deadlines.</a:t>
            </a:r>
          </a:p>
          <a:p>
            <a:pPr marL="342900" indent="-342900">
              <a:spcAft>
                <a:spcPts val="400"/>
              </a:spcAft>
              <a:buFont typeface="+mj-lt"/>
              <a:buAutoNum type="arabicPeriod"/>
            </a:pPr>
            <a:r>
              <a:rPr lang="en-US" sz="1600" b="1" dirty="0"/>
              <a:t>Supply Chain and Logistics Agent:</a:t>
            </a:r>
            <a:r>
              <a:rPr lang="en-US" sz="1600" dirty="0"/>
              <a:t> Optimizes inventory, tracks shipments, evaluates suppliers, forecasts demand, and dynamically manages disruptions.</a:t>
            </a:r>
          </a:p>
        </p:txBody>
      </p:sp>
    </p:spTree>
    <p:extLst>
      <p:ext uri="{BB962C8B-B14F-4D97-AF65-F5344CB8AC3E}">
        <p14:creationId xmlns:p14="http://schemas.microsoft.com/office/powerpoint/2010/main" val="1595129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CA2EAE-7487-3565-E556-CDC18633FF98}"/>
              </a:ext>
            </a:extLst>
          </p:cNvPr>
          <p:cNvSpPr txBox="1"/>
          <p:nvPr/>
        </p:nvSpPr>
        <p:spPr>
          <a:xfrm>
            <a:off x="914400" y="1036320"/>
            <a:ext cx="10302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building systems, choosing the correct tier of complexity prevents overengineering. There are four distinct decision tiers based on four key factors: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input variability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reasoning complexity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performance/compliance constraints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and maintenance burden.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C44A3F-BEC5-580B-6C46-506D5A27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882870"/>
              </p:ext>
            </p:extLst>
          </p:nvPr>
        </p:nvGraphicFramePr>
        <p:xfrm>
          <a:off x="1071880" y="2790646"/>
          <a:ext cx="9601200" cy="307848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3543859664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7984939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924131043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64784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Characteristic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Traditional Code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Workflow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Autonomous Agent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30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Input Structure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Fully predictable schemas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Mostly predictable with finite branches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Highly unstructured or novel inputs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92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Explainability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 transparency; easily auditable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Explicit branch-by-branch audit trail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Black-box components requiring additional tooling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90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Latency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Ultra-low latency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Moderate latency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Higher latency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096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Adaptability &amp; Learning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None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Limited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(learning from feedback)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345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159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F5E09-9471-5F3B-3BAD-AD16BFAF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19" y="850053"/>
            <a:ext cx="9860278" cy="73236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Architectural Principles for Agentic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C8729-44FD-03F8-E8EA-D807181B00BF}"/>
              </a:ext>
            </a:extLst>
          </p:cNvPr>
          <p:cNvSpPr txBox="1"/>
          <p:nvPr/>
        </p:nvSpPr>
        <p:spPr>
          <a:xfrm>
            <a:off x="1270000" y="1582420"/>
            <a:ext cx="939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ensure sustainability and mitigate high cloud compute or engineering costs, five design principles must be followed: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10B508-5B40-BEEC-DC15-B696C65D1A65}"/>
              </a:ext>
            </a:extLst>
          </p:cNvPr>
          <p:cNvSpPr txBox="1"/>
          <p:nvPr/>
        </p:nvSpPr>
        <p:spPr>
          <a:xfrm>
            <a:off x="1158240" y="2814320"/>
            <a:ext cx="9860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Scalability:</a:t>
            </a:r>
            <a:r>
              <a:rPr lang="en-US" dirty="0"/>
              <a:t> Systems must handle traffic spikes via distributed architectures.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Modularity:</a:t>
            </a:r>
            <a:r>
              <a:rPr lang="en-US" dirty="0"/>
              <a:t> Designing independent, interchangeable components connected through clear interfaces.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Continuous Learning:</a:t>
            </a:r>
            <a:r>
              <a:rPr lang="en-US" dirty="0"/>
              <a:t> Implementing mechanisms like in-context learning and user feedback loops.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Resilience:</a:t>
            </a:r>
            <a:r>
              <a:rPr lang="en-US" dirty="0"/>
              <a:t> Gracefully handling errors, timeouts, and security threats.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Future-proofing:</a:t>
            </a:r>
            <a:r>
              <a:rPr lang="en-US" dirty="0"/>
              <a:t> Building systems around open infrastructure standards to adapt to evolving model technology.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48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B85D-481C-2F03-80A3-54788118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5868"/>
          </a:xfrm>
        </p:spPr>
        <p:txBody>
          <a:bodyPr/>
          <a:lstStyle/>
          <a:p>
            <a:r>
              <a:rPr lang="en-US" b="1" dirty="0"/>
              <a:t>Agentic Frameworks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4AC2E-653E-41A0-370D-BB6F8A3FF581}"/>
              </a:ext>
            </a:extLst>
          </p:cNvPr>
          <p:cNvSpPr txBox="1"/>
          <p:nvPr/>
        </p:nvSpPr>
        <p:spPr>
          <a:xfrm>
            <a:off x="1076960" y="2915920"/>
            <a:ext cx="84937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 err="1"/>
              <a:t>Langchain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Crew AI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AutoGen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r>
              <a:rPr lang="en-IN" dirty="0"/>
              <a:t>And many more that we will see in future lectures 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871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7629-AB3D-CCC4-5429-FC59350DA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Example: Customer-Support Refund Agent</a:t>
            </a:r>
          </a:p>
        </p:txBody>
      </p:sp>
      <p:sp>
        <p:nvSpPr>
          <p:cNvPr id="8000" name="InputLabel"/>
          <p:cNvSpPr/>
          <p:nvPr/>
        </p:nvSpPr>
        <p:spPr>
          <a:xfrm>
            <a:off x="762000" y="22225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 anchorCtr="1"/>
          <a:lstStyle/>
          <a:p>
            <a:pPr algn="ctr"/>
            <a:r>
              <a:rPr lang="en-US" sz="1000" b="1" dirty="0">
                <a:solidFill>
                  <a:srgbClr val="555555"/>
                </a:solidFill>
              </a:rPr>
              <a:t>INPUTS</a:t>
            </a:r>
          </a:p>
        </p:txBody>
      </p:sp>
      <p:sp>
        <p:nvSpPr>
          <p:cNvPr id="8001" name="MsgCard"/>
          <p:cNvSpPr/>
          <p:nvPr/>
        </p:nvSpPr>
        <p:spPr>
          <a:xfrm>
            <a:off x="762000" y="2603500"/>
            <a:ext cx="2032000" cy="101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09D"/>
            </a:solidFill>
          </a:ln>
        </p:spPr>
        <p:txBody>
          <a:bodyPr wrap="square" lIns="72000" tIns="54000" rIns="72000" bIns="54000" anchor="ctr" anchorCtr="1"/>
          <a:lstStyle/>
          <a:p>
            <a:pPr algn="ctr"/>
            <a:r>
              <a:rPr lang="en-US" sz="850" b="1" dirty="0">
                <a:solidFill>
                  <a:srgbClr val="44709D"/>
                </a:solidFill>
              </a:rPr>
              <a:t>✉  CUSTOMER MESSAGE</a:t>
            </a:r>
          </a:p>
          <a:p>
            <a:pPr algn="ctr"/>
            <a:r>
              <a:rPr lang="en-US" sz="1100" b="1" dirty="0">
                <a:solidFill>
                  <a:srgbClr val="212121"/>
                </a:solidFill>
              </a:rPr>
              <a:t>Free-form email</a:t>
            </a:r>
          </a:p>
          <a:p>
            <a:pPr algn="ctr"/>
            <a:r>
              <a:rPr lang="en-US" sz="800" b="0" dirty="0">
                <a:solidFill>
                  <a:srgbClr val="555555"/>
                </a:solidFill>
              </a:rPr>
              <a:t>"My mug arrived broken — please refund #4421."</a:t>
            </a:r>
          </a:p>
        </p:txBody>
      </p:sp>
      <p:sp>
        <p:nvSpPr>
          <p:cNvPr id="8002" name="OrderCard"/>
          <p:cNvSpPr/>
          <p:nvPr/>
        </p:nvSpPr>
        <p:spPr>
          <a:xfrm>
            <a:off x="762000" y="3746500"/>
            <a:ext cx="2032000" cy="101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09D"/>
            </a:solidFill>
          </a:ln>
        </p:spPr>
        <p:txBody>
          <a:bodyPr wrap="square" lIns="72000" tIns="54000" rIns="72000" bIns="54000" anchor="ctr" anchorCtr="1"/>
          <a:lstStyle/>
          <a:p>
            <a:pPr algn="ctr"/>
            <a:r>
              <a:rPr lang="en-US" sz="850" b="1" dirty="0">
                <a:solidFill>
                  <a:srgbClr val="44709D"/>
                </a:solidFill>
              </a:rPr>
              <a:t>📦  ORDER RECORD</a:t>
            </a:r>
          </a:p>
          <a:p>
            <a:pPr algn="ctr"/>
            <a:r>
              <a:rPr lang="en-US" sz="1100" b="1" dirty="0">
                <a:solidFill>
                  <a:srgbClr val="212121"/>
                </a:solidFill>
              </a:rPr>
              <a:t>Backend lookup</a:t>
            </a:r>
          </a:p>
          <a:p>
            <a:pPr algn="ctr"/>
            <a:r>
              <a:rPr lang="en-US" sz="800" b="0" dirty="0">
                <a:solidFill>
                  <a:srgbClr val="555555"/>
                </a:solidFill>
              </a:rPr>
              <a:t>id, status, address, items, payment</a:t>
            </a:r>
          </a:p>
        </p:txBody>
      </p:sp>
      <p:sp>
        <p:nvSpPr>
          <p:cNvPr id="8003" name="AgentCore"/>
          <p:cNvSpPr/>
          <p:nvPr/>
        </p:nvSpPr>
        <p:spPr>
          <a:xfrm>
            <a:off x="3683000" y="2730500"/>
            <a:ext cx="2794000" cy="19050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72000" tIns="90000" rIns="72000" bIns="90000" anchor="ctr" anchorCtr="1"/>
          <a:lstStyle/>
          <a:p>
            <a:pPr algn="ctr"/>
            <a:r>
              <a:rPr lang="en-US" sz="1000" b="1" dirty="0">
                <a:solidFill>
                  <a:srgbClr val="DEEAF6"/>
                </a:solidFill>
              </a:rPr>
              <a:t>AGENT</a:t>
            </a:r>
          </a:p>
          <a:p>
            <a:pPr algn="ctr"/>
            <a:r>
              <a:rPr lang="en-US" sz="1700" b="1" dirty="0">
                <a:solidFill>
                  <a:srgbClr val="FFFFFF"/>
                </a:solidFill>
              </a:rPr>
              <a:t>Foundation Model</a:t>
            </a:r>
          </a:p>
          <a:p>
            <a:pPr algn="ctr"/>
            <a:r>
              <a:rPr lang="en-US" sz="600" b="0" dirty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lang="en-US" sz="1000" b="0" dirty="0">
                <a:solidFill>
                  <a:srgbClr val="DEEAF6"/>
                </a:solidFill>
              </a:rPr>
              <a:t>Reads message + order</a:t>
            </a:r>
          </a:p>
          <a:p>
            <a:pPr algn="ctr"/>
            <a:r>
              <a:rPr lang="en-US" sz="1000" b="0" dirty="0">
                <a:solidFill>
                  <a:srgbClr val="DEEAF6"/>
                </a:solidFill>
              </a:rPr>
              <a:t>Decides which tool to call</a:t>
            </a:r>
          </a:p>
          <a:p>
            <a:pPr algn="ctr"/>
            <a:r>
              <a:rPr lang="en-US" sz="1000" b="0" dirty="0">
                <a:solidFill>
                  <a:srgbClr val="DEEAF6"/>
                </a:solidFill>
              </a:rPr>
              <a:t>Fills tool parameters</a:t>
            </a:r>
          </a:p>
        </p:txBody>
      </p:sp>
      <p:sp>
        <p:nvSpPr>
          <p:cNvPr id="8004" name="ToolsLabel"/>
          <p:cNvSpPr/>
          <p:nvPr/>
        </p:nvSpPr>
        <p:spPr>
          <a:xfrm>
            <a:off x="7366000" y="23749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 anchorCtr="1"/>
          <a:lstStyle/>
          <a:p>
            <a:pPr algn="ctr"/>
            <a:r>
              <a:rPr lang="en-US" sz="1000" b="1" dirty="0">
                <a:solidFill>
                  <a:srgbClr val="555555"/>
                </a:solidFill>
              </a:rPr>
              <a:t>TOOLS</a:t>
            </a:r>
          </a:p>
        </p:txBody>
      </p:sp>
      <p:sp>
        <p:nvSpPr>
          <p:cNvPr id="8005" name="Tool0"/>
          <p:cNvSpPr/>
          <p:nvPr/>
        </p:nvSpPr>
        <p:spPr>
          <a:xfrm>
            <a:off x="7366000" y="2730500"/>
            <a:ext cx="2540000" cy="53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3992A"/>
            </a:solidFill>
          </a:ln>
        </p:spPr>
        <p:txBody>
          <a:bodyPr wrap="square" lIns="72000" tIns="36000" rIns="36000" bIns="36000" anchor="ctr" anchorCtr="1"/>
          <a:lstStyle/>
          <a:p>
            <a:pPr algn="ctr"/>
            <a:r>
              <a:rPr lang="en-US" sz="1100" b="1" dirty="0">
                <a:solidFill>
                  <a:srgbClr val="83992A"/>
                </a:solidFill>
              </a:rPr>
              <a:t>issue_refund( … )</a:t>
            </a:r>
          </a:p>
          <a:p>
            <a:pPr algn="ctr"/>
            <a:r>
              <a:rPr lang="en-US" sz="800" b="0" dirty="0">
                <a:solidFill>
                  <a:srgbClr val="555555"/>
                </a:solidFill>
              </a:rPr>
              <a:t>Reverses payment · notifies finance</a:t>
            </a:r>
          </a:p>
        </p:txBody>
      </p:sp>
      <p:sp>
        <p:nvSpPr>
          <p:cNvPr id="8006" name="Tool1"/>
          <p:cNvSpPr/>
          <p:nvPr/>
        </p:nvSpPr>
        <p:spPr>
          <a:xfrm>
            <a:off x="7366000" y="3416300"/>
            <a:ext cx="2540000" cy="53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828"/>
            </a:solidFill>
          </a:ln>
        </p:spPr>
        <p:txBody>
          <a:bodyPr wrap="square" lIns="72000" tIns="36000" rIns="36000" bIns="36000" anchor="ctr" anchorCtr="1"/>
          <a:lstStyle/>
          <a:p>
            <a:pPr algn="ctr"/>
            <a:r>
              <a:rPr lang="en-US" sz="1100" b="1" dirty="0">
                <a:solidFill>
                  <a:srgbClr val="D97828"/>
                </a:solidFill>
              </a:rPr>
              <a:t>cancel_order( … )</a:t>
            </a:r>
          </a:p>
          <a:p>
            <a:pPr algn="ctr"/>
            <a:r>
              <a:rPr lang="en-US" sz="800" b="0" dirty="0">
                <a:solidFill>
                  <a:srgbClr val="555555"/>
                </a:solidFill>
              </a:rPr>
              <a:t>Halts fulfillment · releases stock</a:t>
            </a:r>
          </a:p>
        </p:txBody>
      </p:sp>
      <p:sp>
        <p:nvSpPr>
          <p:cNvPr id="8007" name="Tool2"/>
          <p:cNvSpPr/>
          <p:nvPr/>
        </p:nvSpPr>
        <p:spPr>
          <a:xfrm>
            <a:off x="7366000" y="4102100"/>
            <a:ext cx="2540000" cy="53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770"/>
            </a:solidFill>
          </a:ln>
        </p:spPr>
        <p:txBody>
          <a:bodyPr wrap="square" lIns="72000" tIns="36000" rIns="36000" bIns="36000" anchor="ctr" anchorCtr="1"/>
          <a:lstStyle/>
          <a:p>
            <a:pPr algn="ctr"/>
            <a:r>
              <a:rPr lang="en-US" sz="1100" b="1" dirty="0">
                <a:solidFill>
                  <a:srgbClr val="3C9770"/>
                </a:solidFill>
              </a:rPr>
              <a:t>update_address_for_order( … )</a:t>
            </a:r>
          </a:p>
          <a:p>
            <a:pPr algn="ctr"/>
            <a:r>
              <a:rPr lang="en-US" sz="800" b="0" dirty="0">
                <a:solidFill>
                  <a:srgbClr val="555555"/>
                </a:solidFill>
              </a:rPr>
              <a:t>Edits shipping before dispatch</a:t>
            </a:r>
          </a:p>
        </p:txBody>
      </p:sp>
      <p:sp>
        <p:nvSpPr>
          <p:cNvPr id="8008" name="ConfirmLabel"/>
          <p:cNvSpPr/>
          <p:nvPr/>
        </p:nvSpPr>
        <p:spPr>
          <a:xfrm>
            <a:off x="3683000" y="5016500"/>
            <a:ext cx="647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 anchorCtr="1"/>
          <a:lstStyle/>
          <a:p>
            <a:pPr algn="ctr"/>
            <a:r>
              <a:rPr lang="en-US" sz="1000" b="1" dirty="0">
                <a:solidFill>
                  <a:srgbClr val="555555"/>
                </a:solidFill>
              </a:rPr>
              <a:t>OUTPUT</a:t>
            </a:r>
          </a:p>
        </p:txBody>
      </p:sp>
      <p:sp>
        <p:nvSpPr>
          <p:cNvPr id="8009" name="Confirm"/>
          <p:cNvSpPr/>
          <p:nvPr/>
        </p:nvSpPr>
        <p:spPr>
          <a:xfrm>
            <a:off x="3683000" y="5397500"/>
            <a:ext cx="6477000" cy="889000"/>
          </a:xfrm>
          <a:prstGeom prst="roundRect">
            <a:avLst/>
          </a:prstGeom>
          <a:solidFill>
            <a:srgbClr val="F4ECEB"/>
          </a:solidFill>
          <a:ln w="15875">
            <a:solidFill>
              <a:srgbClr val="A23C33"/>
            </a:solidFill>
          </a:ln>
        </p:spPr>
        <p:txBody>
          <a:bodyPr wrap="square" lIns="108000" tIns="54000" rIns="108000" bIns="54000" anchor="ctr" anchorCtr="1"/>
          <a:lstStyle/>
          <a:p>
            <a:pPr algn="ctr"/>
            <a:r>
              <a:rPr lang="en-US" sz="900" b="1" dirty="0">
                <a:solidFill>
                  <a:srgbClr val="A23C33"/>
                </a:solidFill>
              </a:rPr>
              <a:t>✓  CONFIRMATION EMAIL</a:t>
            </a:r>
          </a:p>
          <a:p>
            <a:pPr algn="ctr"/>
            <a:r>
              <a:rPr lang="en-US" sz="1000" b="0" dirty="0">
                <a:solidFill>
                  <a:srgbClr val="212121"/>
                </a:solidFill>
              </a:rPr>
              <a:t>"Your refund of $24 for order #4421 has been processed. You'll see it on your card in 3–5 days."</a:t>
            </a:r>
          </a:p>
        </p:txBody>
      </p:sp>
      <p:cxnSp>
        <p:nvCxnSpPr>
          <p:cNvPr id="8010" name="ArrInMsg"/>
          <p:cNvCxnSpPr/>
          <p:nvPr/>
        </p:nvCxnSpPr>
        <p:spPr>
          <a:xfrm>
            <a:off x="2819400" y="3111500"/>
            <a:ext cx="838200" cy="190500"/>
          </a:xfrm>
          <a:prstGeom prst="straightConnector1">
            <a:avLst/>
          </a:prstGeom>
          <a:ln w="19050">
            <a:solidFill>
              <a:srgbClr val="212121"/>
            </a:solidFill>
            <a:tailEnd type="triangle" w="med" len="med"/>
          </a:ln>
        </p:spPr>
      </p:cxnSp>
      <p:cxnSp>
        <p:nvCxnSpPr>
          <p:cNvPr id="8011" name="ArrInOrd"/>
          <p:cNvCxnSpPr/>
          <p:nvPr/>
        </p:nvCxnSpPr>
        <p:spPr>
          <a:xfrm flipV="1">
            <a:off x="2819400" y="4064000"/>
            <a:ext cx="838200" cy="190500"/>
          </a:xfrm>
          <a:prstGeom prst="straightConnector1">
            <a:avLst/>
          </a:prstGeom>
          <a:ln w="19050">
            <a:solidFill>
              <a:srgbClr val="212121"/>
            </a:solidFill>
            <a:tailEnd type="triangle" w="med" len="med"/>
          </a:ln>
        </p:spPr>
      </p:cxnSp>
      <p:cxnSp>
        <p:nvCxnSpPr>
          <p:cNvPr id="8012" name="ArrTool0"/>
          <p:cNvCxnSpPr/>
          <p:nvPr/>
        </p:nvCxnSpPr>
        <p:spPr>
          <a:xfrm flipV="1">
            <a:off x="6502400" y="2997200"/>
            <a:ext cx="838200" cy="685800"/>
          </a:xfrm>
          <a:prstGeom prst="straightConnector1">
            <a:avLst/>
          </a:prstGeom>
          <a:ln w="15875">
            <a:solidFill>
              <a:srgbClr val="212121"/>
            </a:solidFill>
            <a:tailEnd type="triangle" w="med" len="med"/>
          </a:ln>
        </p:spPr>
      </p:cxnSp>
      <p:cxnSp>
        <p:nvCxnSpPr>
          <p:cNvPr id="8013" name="ArrTool1"/>
          <p:cNvCxnSpPr/>
          <p:nvPr/>
        </p:nvCxnSpPr>
        <p:spPr>
          <a:xfrm>
            <a:off x="6502400" y="3683000"/>
            <a:ext cx="838200" cy="12700"/>
          </a:xfrm>
          <a:prstGeom prst="straightConnector1">
            <a:avLst/>
          </a:prstGeom>
          <a:ln w="15875">
            <a:solidFill>
              <a:srgbClr val="212121"/>
            </a:solidFill>
            <a:tailEnd type="triangle" w="med" len="med"/>
          </a:ln>
        </p:spPr>
      </p:cxnSp>
      <p:cxnSp>
        <p:nvCxnSpPr>
          <p:cNvPr id="8014" name="ArrTool2"/>
          <p:cNvCxnSpPr/>
          <p:nvPr/>
        </p:nvCxnSpPr>
        <p:spPr>
          <a:xfrm>
            <a:off x="6502400" y="3683000"/>
            <a:ext cx="838200" cy="685800"/>
          </a:xfrm>
          <a:prstGeom prst="straightConnector1">
            <a:avLst/>
          </a:prstGeom>
          <a:ln w="15875">
            <a:solidFill>
              <a:srgbClr val="212121"/>
            </a:solidFill>
            <a:tailEnd type="triangle" w="med" len="med"/>
          </a:ln>
        </p:spPr>
      </p:cxnSp>
      <p:cxnSp>
        <p:nvCxnSpPr>
          <p:cNvPr id="8015" name="ArrOut"/>
          <p:cNvCxnSpPr/>
          <p:nvPr/>
        </p:nvCxnSpPr>
        <p:spPr>
          <a:xfrm>
            <a:off x="8636000" y="4686300"/>
            <a:ext cx="12700" cy="685800"/>
          </a:xfrm>
          <a:prstGeom prst="straightConnector1">
            <a:avLst/>
          </a:prstGeom>
          <a:ln w="19050">
            <a:solidFill>
              <a:srgbClr val="212121"/>
            </a:solidFill>
            <a:tailEnd type="triangle" w="med" len="med"/>
          </a:ln>
        </p:spPr>
      </p:cxnSp>
      <p:sp>
        <p:nvSpPr>
          <p:cNvPr id="8016" name="Caption"/>
          <p:cNvSpPr/>
          <p:nvPr/>
        </p:nvSpPr>
        <p:spPr>
          <a:xfrm>
            <a:off x="762000" y="64135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 anchorCtr="1"/>
          <a:lstStyle/>
          <a:p>
            <a:pPr algn="ctr"/>
            <a:r>
              <a:rPr lang="en-US" sz="1000" b="0" dirty="0">
                <a:solidFill>
                  <a:srgbClr val="555555"/>
                </a:solidFill>
              </a:rPr>
              <a:t>Narrow enough to ship quickly · valuable enough to free human time · rich enough to showcase intelligent behavior</a:t>
            </a:r>
          </a:p>
        </p:txBody>
      </p:sp>
    </p:spTree>
    <p:extLst>
      <p:ext uri="{BB962C8B-B14F-4D97-AF65-F5344CB8AC3E}">
        <p14:creationId xmlns:p14="http://schemas.microsoft.com/office/powerpoint/2010/main" val="4241801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B93AE66-9BBD-4AA6-B1C5-F714F0ABE6E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e630805-55b8-4e6a-8b14-bcf6c173baf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248</TotalTime>
  <Words>1234</Words>
  <Application>Microsoft Office PowerPoint</Application>
  <PresentationFormat>Widescreen</PresentationFormat>
  <Paragraphs>161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Garamond</vt:lpstr>
      <vt:lpstr>Google Sans Text</vt:lpstr>
      <vt:lpstr>Organic</vt:lpstr>
      <vt:lpstr>Building Applications with AI Agents</vt:lpstr>
      <vt:lpstr>Outline</vt:lpstr>
      <vt:lpstr>Objectives</vt:lpstr>
      <vt:lpstr>Pre-requisites</vt:lpstr>
      <vt:lpstr>The Pretraining Revolution</vt:lpstr>
      <vt:lpstr>What Is an AI Agent?</vt:lpstr>
      <vt:lpstr>The Agent Taxonomy</vt:lpstr>
      <vt:lpstr>Sync vs. Async: The Real Shift</vt:lpstr>
      <vt:lpstr>Taxonomy of Autonomous Agents (7 Practical Use Cases)</vt:lpstr>
      <vt:lpstr>PowerPoint Presentation</vt:lpstr>
      <vt:lpstr>Architectural Principles for Agentic Systems</vt:lpstr>
      <vt:lpstr>Agentic Frameworks</vt:lpstr>
      <vt:lpstr>Example: Customer-Support Refund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dishant gupta</dc:creator>
  <cp:lastModifiedBy>dishant gupta</cp:lastModifiedBy>
  <cp:revision>1</cp:revision>
  <dcterms:created xsi:type="dcterms:W3CDTF">2026-05-24T07:00:04Z</dcterms:created>
  <dcterms:modified xsi:type="dcterms:W3CDTF">2026-05-24T11:08:58Z</dcterms:modified>
</cp:coreProperties>
</file>