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3" r:id="rId16"/>
    <p:sldId id="276" r:id="rId17"/>
    <p:sldId id="279" r:id="rId18"/>
    <p:sldId id="281" r:id="rId19"/>
    <p:sldId id="283" r:id="rId20"/>
    <p:sldId id="285" r:id="rId21"/>
    <p:sldId id="287" r:id="rId22"/>
    <p:sldId id="289" r:id="rId23"/>
    <p:sldId id="291" r:id="rId24"/>
    <p:sldId id="293" r:id="rId25"/>
    <p:sldId id="29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37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66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58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22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78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519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0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716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949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265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48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629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881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194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820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712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027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413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0ABDF5-5541-4E62-8F94-D3519EC0796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F579D5-00CA-4735-ADE7-FB316B524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30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821BB-30B4-296B-6B82-3ECE13FEB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Advanced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4D28C-AB72-A611-E5AF-C5CA153254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Unisole Empower</a:t>
            </a:r>
          </a:p>
        </p:txBody>
      </p:sp>
    </p:spTree>
    <p:extLst>
      <p:ext uri="{BB962C8B-B14F-4D97-AF65-F5344CB8AC3E}">
        <p14:creationId xmlns:p14="http://schemas.microsoft.com/office/powerpoint/2010/main" val="985577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45F2-9413-AAF1-23BD-A01E686F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 of the Course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0B01CD-D9F6-48A4-DD1E-8988A61832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0922" y="2526008"/>
            <a:ext cx="1025015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GenAI Lifecycle &amp; Deployment: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Master the complete generative AI lifecycle from initial use-case definition to securely deploying production-grade models on managed infrastructure like Amazon SageMaker, Bedrock, and the Hugging Face Model Hub.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Adaptation, Tuning, &amp; Alignment: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 to customize massive foundation models for specific domains using prompt engineering, Parameter-Efficient Fine-Tuning (PEFT), and Reinforcement Learning from Human Feedback (RLHF), backed by rigorous evaluation protocols.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Architectures (RAG &amp; Agents):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sophisticated AI applications by architecting context-aware Retrieval-Augmented Generation (RAG) pipelines and developing autonomous, multi-step AI agents using frameworks like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Generative AI: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Expand generative capabilities beyond standard text processing by implementing, evaluating, and fine-tuning multimodal models that handle image, audio, and video formats.</a:t>
            </a:r>
          </a:p>
        </p:txBody>
      </p:sp>
    </p:spTree>
    <p:extLst>
      <p:ext uri="{BB962C8B-B14F-4D97-AF65-F5344CB8AC3E}">
        <p14:creationId xmlns:p14="http://schemas.microsoft.com/office/powerpoint/2010/main" val="664289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B0B3-879B-B61A-4A55-8B9386BC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Prerequisites of the course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9024DA-4C2E-9A1B-A9C5-33421F092B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709" y="2577377"/>
            <a:ext cx="993058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&amp; ML Framework Proficiency: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Strong, hands-on coding experience with Python and practical working knowledge of industry-standard deep learning libraries, specifically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TensorFlow.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&amp; NLP Foundations: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solid conceptual grasp of neural network mechanics (including forward/backpropagation, gradients, and activation functions) and basic familiarity with how language models process data.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Integration &amp; Systems Logic: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Comfort interacting with external data sources and web APIs, along with the ability to understand application-level frameworks to manage how data flows through multi-step programmatic architectures.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Cloud Literacy: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high-level understanding of cloud computing environments; while deep AWS expertise is not strictly required to grasp the concepts, foundational knowledge will significantly aid in the infrastructure and deployment modules.</a:t>
            </a:r>
          </a:p>
        </p:txBody>
      </p:sp>
    </p:spTree>
    <p:extLst>
      <p:ext uri="{BB962C8B-B14F-4D97-AF65-F5344CB8AC3E}">
        <p14:creationId xmlns:p14="http://schemas.microsoft.com/office/powerpoint/2010/main" val="4219115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EAD5-C36D-A7F9-70F1-E7CDC14A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 Cases and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5C8B2-0AF6-D4FF-C719-CEA7601EF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Text Summarization, Rewriting, Information Extraction </a:t>
            </a:r>
          </a:p>
          <a:p>
            <a:r>
              <a:rPr lang="en-IN" dirty="0"/>
              <a:t>Question Answering (QA) and Visual Question answering, detecting toxic and harmful content</a:t>
            </a:r>
          </a:p>
          <a:p>
            <a:r>
              <a:rPr lang="en-IN" dirty="0"/>
              <a:t>Classification and Content Moderation, Source Code generation, translation</a:t>
            </a:r>
          </a:p>
          <a:p>
            <a:r>
              <a:rPr lang="en-IN" dirty="0"/>
              <a:t>Mask personally identifiable information (PII), Personalized marketing and ads </a:t>
            </a:r>
          </a:p>
        </p:txBody>
      </p:sp>
    </p:spTree>
    <p:extLst>
      <p:ext uri="{BB962C8B-B14F-4D97-AF65-F5344CB8AC3E}">
        <p14:creationId xmlns:p14="http://schemas.microsoft.com/office/powerpoint/2010/main" val="1811877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EF00-9B59-BA82-0B6A-A8C03C12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Foundational Models and Model Hubs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132F2-FEF0-BE11-B83E-256A56296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Foundational models are pre-trained upon massive amount of data. </a:t>
            </a:r>
          </a:p>
          <a:p>
            <a:r>
              <a:rPr lang="en-IN" dirty="0"/>
              <a:t>Model hubs include hugging face, </a:t>
            </a:r>
            <a:r>
              <a:rPr lang="en-IN" dirty="0" err="1"/>
              <a:t>pytorch</a:t>
            </a:r>
            <a:r>
              <a:rPr lang="en-IN" dirty="0"/>
              <a:t> hub, amazon </a:t>
            </a:r>
            <a:r>
              <a:rPr lang="en-IN" dirty="0" err="1"/>
              <a:t>sagemaker</a:t>
            </a:r>
            <a:r>
              <a:rPr lang="en-IN" dirty="0"/>
              <a:t> jumpstart and many more. </a:t>
            </a:r>
          </a:p>
        </p:txBody>
      </p:sp>
    </p:spTree>
    <p:extLst>
      <p:ext uri="{BB962C8B-B14F-4D97-AF65-F5344CB8AC3E}">
        <p14:creationId xmlns:p14="http://schemas.microsoft.com/office/powerpoint/2010/main" val="1291914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F501-3A49-18C8-70F3-31378C432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Generative AI lifecycle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B9E3DC-E4EF-A4E2-09AD-D18F5E460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2592" y="2557464"/>
            <a:ext cx="4337847" cy="319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1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ACCE-3A76-84B6-D8DC-E2D8B9D3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AWS for Generative 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81CE51-66C9-CBDF-D9FB-D024909F5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57993"/>
            <a:ext cx="5454120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FB2C85-73B7-7D6E-E803-F87A0F178790}"/>
              </a:ext>
            </a:extLst>
          </p:cNvPr>
          <p:cNvSpPr txBox="1"/>
          <p:nvPr/>
        </p:nvSpPr>
        <p:spPr>
          <a:xfrm>
            <a:off x="6990735" y="2930013"/>
            <a:ext cx="37460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offers a range of frameworks and infrastructure to build foundation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Amazon SageMaker for model training and model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offers its own accelerators optimized for training (AWS </a:t>
            </a:r>
            <a:r>
              <a:rPr lang="en-US" dirty="0" err="1"/>
              <a:t>Trainium</a:t>
            </a:r>
            <a:r>
              <a:rPr lang="en-US" dirty="0"/>
              <a:t>) and deploying generative models (AWS </a:t>
            </a:r>
            <a:r>
              <a:rPr lang="en-US" dirty="0" err="1"/>
              <a:t>Inferentia</a:t>
            </a:r>
            <a:r>
              <a:rPr lang="en-US" dirty="0"/>
              <a:t>).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987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F1FDA-A8D6-C761-EF7F-0B454CFAA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Amazon Bedrock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23D9-7562-268E-9729-A9756E839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Amazon Bedrock is a fully managed service that provides access to models from Amazon (e.g., Titan) and popular third-party providers (e.g., AI21 Labs, Anthropic, Cohere, and Stability AI). </a:t>
            </a:r>
          </a:p>
          <a:p>
            <a:r>
              <a:rPr lang="en-US" dirty="0"/>
              <a:t>This allows us to quickly get started experimenting with available foundation models. </a:t>
            </a:r>
          </a:p>
          <a:p>
            <a:r>
              <a:rPr lang="en-US" dirty="0"/>
              <a:t>Bedrock also allows us to privately customize foundation models with our own data as well as integrate and deploy those models into generative AI applications.</a:t>
            </a:r>
          </a:p>
          <a:p>
            <a:r>
              <a:rPr lang="en-US" dirty="0"/>
              <a:t>Agents for Bedrock are fully managed and allow for additional customization with the integration of proprietary external data sources and the ability to complete tasks. 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6539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7E68-0328-6D3B-2DA5-76D014C5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Amazon SageMaker JumpStart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348E-9661-7AAE-2BA3-4763111E3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Amazon SageMaker JumpStart provides access to both public and proprietary foundation models through a model hub that includes the ability to easily deploy a foundation model to Amazon SageMaker model deployment real-time endpoints. </a:t>
            </a:r>
          </a:p>
          <a:p>
            <a:r>
              <a:rPr lang="en-US" dirty="0"/>
              <a:t>SageMaker JumpStart provides the ability to fine-tune available models utilizing SageMaker model training. </a:t>
            </a:r>
          </a:p>
          <a:p>
            <a:r>
              <a:rPr lang="en-US" dirty="0"/>
              <a:t>SageMaker JumpStart automatically generates notebooks with code for deploying and fine-tuning models available on the model hub.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109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3C5BD-1593-B135-D583-01350BACF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Generative AI on AWS?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1FF4B-CE32-4717-A0E0-B91509723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Increased flexibility and choice</a:t>
            </a:r>
          </a:p>
          <a:p>
            <a:r>
              <a:rPr lang="en-IN" dirty="0"/>
              <a:t>Enterprise-grade security and governance capabilities</a:t>
            </a:r>
          </a:p>
          <a:p>
            <a:r>
              <a:rPr lang="en-IN" dirty="0"/>
              <a:t>State-of-the-art generative AI capabilities</a:t>
            </a:r>
          </a:p>
          <a:p>
            <a:r>
              <a:rPr lang="en-IN" dirty="0"/>
              <a:t>Low operational overhead</a:t>
            </a:r>
          </a:p>
          <a:p>
            <a:r>
              <a:rPr lang="en-IN" dirty="0"/>
              <a:t>Strong history of continuous innovation</a:t>
            </a:r>
          </a:p>
        </p:txBody>
      </p:sp>
    </p:spTree>
    <p:extLst>
      <p:ext uri="{BB962C8B-B14F-4D97-AF65-F5344CB8AC3E}">
        <p14:creationId xmlns:p14="http://schemas.microsoft.com/office/powerpoint/2010/main" val="225004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5BCB-AC82-6485-E652-5D47F02A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Building Generative AI Applications on AWS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86290B-0C86-3CDF-CFAD-B26C20023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8229" y="2445703"/>
            <a:ext cx="5544011" cy="366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23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B747F5-B12F-DDE3-7595-DEC94D58F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093" y="726123"/>
            <a:ext cx="7438708" cy="510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18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0100-89D6-937F-B9CB-3EC9D0FC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Are: Recap &amp; What's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49561-88EB-1488-9885-6A4B6989C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>
                <a:solidFill>
                  <a:srgbClr val="44709D"/>
                </a:solidFill>
              </a:rPr>
              <a:t>What we covered (Slides 1–12)</a:t>
            </a:r>
          </a:p>
          <a:p>
            <a:pPr marL="285750" indent="-285750">
              <a:lnSpc>
                <a:spcPts val="1900"/>
              </a:lnSpc>
              <a:buFont typeface="Arial"/>
              <a:buChar char="•"/>
            </a:pPr>
            <a:r>
              <a:rPr lang="en-US" sz="1600" dirty="0"/>
              <a:t>Course objectives, prerequisites, and generative AI use cases &amp; tasks</a:t>
            </a:r>
          </a:p>
          <a:p>
            <a:pPr marL="285750" indent="-285750">
              <a:lnSpc>
                <a:spcPts val="1900"/>
              </a:lnSpc>
              <a:buFont typeface="Arial"/>
              <a:buChar char="•"/>
            </a:pPr>
            <a:r>
              <a:rPr lang="en-US" sz="1600" dirty="0"/>
              <a:t>Foundation models, model hubs, and the generative AI project lifecycle</a:t>
            </a:r>
          </a:p>
          <a:p>
            <a:pPr marL="285750" indent="-285750">
              <a:lnSpc>
                <a:spcPts val="1900"/>
              </a:lnSpc>
              <a:buFont typeface="Arial"/>
              <a:buChar char="•"/>
            </a:pPr>
            <a:r>
              <a:rPr lang="en-US" sz="1600" dirty="0"/>
              <a:t>Building generative AI on AWS: Amazon Bedrock and SageMaker JumpStart</a:t>
            </a:r>
          </a:p>
          <a:p>
            <a:pPr>
              <a:buNone/>
            </a:pPr>
            <a:r>
              <a:rPr lang="en-US" sz="2000" b="1" dirty="0">
                <a:solidFill>
                  <a:srgbClr val="83992A"/>
                </a:solidFill>
              </a:rPr>
              <a:t>What's next: Chapter 2 — Prompt Engineering &amp; In-Context Learning</a:t>
            </a:r>
          </a:p>
          <a:p>
            <a:pPr marL="285750" indent="-285750">
              <a:lnSpc>
                <a:spcPts val="1900"/>
              </a:lnSpc>
              <a:buFont typeface="Arial"/>
              <a:buChar char="•"/>
            </a:pPr>
            <a:r>
              <a:rPr lang="en-US" sz="1600" dirty="0"/>
              <a:t>Prompts, completions, and tokens — how models read and write text</a:t>
            </a:r>
          </a:p>
          <a:p>
            <a:pPr marL="285750" indent="-285750">
              <a:lnSpc>
                <a:spcPts val="1900"/>
              </a:lnSpc>
              <a:buFont typeface="Arial"/>
              <a:buChar char="•"/>
            </a:pPr>
            <a:r>
              <a:rPr lang="en-US" sz="1600" dirty="0"/>
              <a:t>Prompt structure, in-context learning (zero / one / few-shot)</a:t>
            </a:r>
          </a:p>
          <a:p>
            <a:pPr marL="285750" indent="-285750">
              <a:lnSpc>
                <a:spcPts val="1900"/>
              </a:lnSpc>
              <a:buFont typeface="Arial"/>
              <a:buChar char="•"/>
            </a:pPr>
            <a:r>
              <a:rPr lang="en-US" sz="1600" dirty="0"/>
              <a:t>Prompt-engineering best practices, chain-of-thought, and inference parameters</a:t>
            </a:r>
          </a:p>
        </p:txBody>
      </p:sp>
    </p:spTree>
    <p:extLst>
      <p:ext uri="{BB962C8B-B14F-4D97-AF65-F5344CB8AC3E}">
        <p14:creationId xmlns:p14="http://schemas.microsoft.com/office/powerpoint/2010/main" val="3988579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3AFD9-4B75-8FE2-B4BF-06A686C0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Chapter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6219D-79C7-3178-CF32-2D8963535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Prompt Engineering &amp; In-Context Learning</a:t>
            </a:r>
          </a:p>
        </p:txBody>
      </p:sp>
    </p:spTree>
    <p:extLst>
      <p:ext uri="{BB962C8B-B14F-4D97-AF65-F5344CB8AC3E}">
        <p14:creationId xmlns:p14="http://schemas.microsoft.com/office/powerpoint/2010/main" val="3232896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964E-4C56-EF0F-0917-20C74488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Prompts &amp; Completions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56294-DB36-63F4-0C59-8EEEE55D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40000"/>
            <a:ext cx="9601196" cy="1651000"/>
          </a:xfrm>
        </p:spPr>
        <p:txBody>
          <a:bodyPr/>
          <a:lstStyle/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A </a:t>
            </a:r>
            <a:r>
              <a:rPr lang="en-US" sz="1700" b="1" dirty="0"/>
              <a:t>prompt</a:t>
            </a:r>
            <a:r>
              <a:rPr lang="en-US" sz="1700" dirty="0"/>
              <a:t> is the text input you send to the model — instructions, context, and constraints for a task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The model returns a </a:t>
            </a:r>
            <a:r>
              <a:rPr lang="en-US" sz="1700" b="1" dirty="0"/>
              <a:t>completion</a:t>
            </a:r>
            <a:r>
              <a:rPr lang="en-US" sz="1700" dirty="0"/>
              <a:t> — text, image, video, or audio it was trained to produce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Expect to iterate: models can be "chatty," so refine prompts to get a precise response</a:t>
            </a:r>
          </a:p>
        </p:txBody>
      </p:sp>
      <p:sp>
        <p:nvSpPr>
          <p:cNvPr id="201" name="flow201"/>
          <p:cNvSpPr/>
          <p:nvPr/>
        </p:nvSpPr>
        <p:spPr>
          <a:xfrm>
            <a:off x="1397000" y="4381500"/>
            <a:ext cx="2921000" cy="12065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Prompt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instructions + context + input</a:t>
            </a:r>
          </a:p>
        </p:txBody>
      </p:sp>
      <p:sp>
        <p:nvSpPr>
          <p:cNvPr id="202" name="arr202"/>
          <p:cNvSpPr/>
          <p:nvPr/>
        </p:nvSpPr>
        <p:spPr>
          <a:xfrm>
            <a:off x="4508500" y="4737100"/>
            <a:ext cx="889000" cy="508000"/>
          </a:xfrm>
          <a:prstGeom prst="rightArrow">
            <a:avLst/>
          </a:prstGeom>
          <a:solidFill>
            <a:srgbClr val="DEB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flow203"/>
          <p:cNvSpPr/>
          <p:nvPr/>
        </p:nvSpPr>
        <p:spPr>
          <a:xfrm>
            <a:off x="5588000" y="4381500"/>
            <a:ext cx="2540000" cy="120650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inference</a:t>
            </a:r>
          </a:p>
        </p:txBody>
      </p:sp>
      <p:sp>
        <p:nvSpPr>
          <p:cNvPr id="204" name="arr204"/>
          <p:cNvSpPr/>
          <p:nvPr/>
        </p:nvSpPr>
        <p:spPr>
          <a:xfrm>
            <a:off x="8318500" y="4737100"/>
            <a:ext cx="889000" cy="508000"/>
          </a:xfrm>
          <a:prstGeom prst="rightArrow">
            <a:avLst/>
          </a:prstGeom>
          <a:solidFill>
            <a:srgbClr val="DEB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flow205"/>
          <p:cNvSpPr/>
          <p:nvPr/>
        </p:nvSpPr>
        <p:spPr>
          <a:xfrm>
            <a:off x="9080500" y="4381500"/>
            <a:ext cx="2667000" cy="1206500"/>
          </a:xfrm>
          <a:prstGeom prst="roundRect">
            <a:avLst/>
          </a:prstGeom>
          <a:solidFill>
            <a:srgbClr val="5E6E1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Completion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generated output</a:t>
            </a:r>
          </a:p>
        </p:txBody>
      </p:sp>
    </p:spTree>
    <p:extLst>
      <p:ext uri="{BB962C8B-B14F-4D97-AF65-F5344CB8AC3E}">
        <p14:creationId xmlns:p14="http://schemas.microsoft.com/office/powerpoint/2010/main" val="1269310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29B90-12A0-6437-26EF-35AB8D42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0CEE1-9204-3D05-0A24-348549F99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40000"/>
            <a:ext cx="9601196" cy="1905000"/>
          </a:xfrm>
        </p:spPr>
        <p:txBody>
          <a:bodyPr/>
          <a:lstStyle/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Models don't read words — they convert text into </a:t>
            </a:r>
            <a:r>
              <a:rPr lang="en-US" sz="1700" b="1" dirty="0"/>
              <a:t>tokens</a:t>
            </a:r>
            <a:r>
              <a:rPr lang="en-US" sz="1700" dirty="0"/>
              <a:t> (word fragments)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A model's vocabulary is typically </a:t>
            </a:r>
            <a:r>
              <a:rPr lang="en-US" sz="1700" b="1" dirty="0"/>
              <a:t>30,000–100,000 tokens</a:t>
            </a:r>
            <a:r>
              <a:rPr lang="en-US" sz="1700" dirty="0"/>
              <a:t> — enough to represent any text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Rule of thumb: </a:t>
            </a:r>
            <a:r>
              <a:rPr lang="en-US" sz="1700" b="1" dirty="0"/>
              <a:t>~1.3 tokens per word</a:t>
            </a:r>
            <a:r>
              <a:rPr lang="en-US" sz="1700" dirty="0"/>
              <a:t> — used to estimate cost (often priced per million tokens)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Math under the hood: tokens become numbers for probability and matrix operations</a:t>
            </a:r>
          </a:p>
        </p:txBody>
      </p:sp>
      <p:sp>
        <p:nvSpPr>
          <p:cNvPr id="301" name="tok301"/>
          <p:cNvSpPr/>
          <p:nvPr/>
        </p:nvSpPr>
        <p:spPr>
          <a:xfrm>
            <a:off x="1397000" y="5080000"/>
            <a:ext cx="2286000" cy="711200"/>
          </a:xfrm>
          <a:prstGeom prst="roundRect">
            <a:avLst/>
          </a:prstGeom>
          <a:solidFill>
            <a:srgbClr val="DADADA"/>
          </a:solidFill>
          <a:ln>
            <a:noFill/>
          </a:ln>
        </p:spPr>
        <p:txBody>
          <a:bodyPr lIns="36000" rIns="36000" anchor="ctr"/>
          <a:lstStyle/>
          <a:p>
            <a:pPr algn="ctr"/>
            <a:r>
              <a:rPr lang="en-US" sz="1500" b="1" dirty="0">
                <a:solidFill>
                  <a:srgbClr val="212121"/>
                </a:solidFill>
              </a:rPr>
              <a:t>"tokenization"</a:t>
            </a:r>
          </a:p>
        </p:txBody>
      </p:sp>
      <p:sp>
        <p:nvSpPr>
          <p:cNvPr id="302" name="tok302"/>
          <p:cNvSpPr/>
          <p:nvPr/>
        </p:nvSpPr>
        <p:spPr>
          <a:xfrm>
            <a:off x="3810000" y="5207000"/>
            <a:ext cx="698500" cy="457200"/>
          </a:xfrm>
          <a:prstGeom prst="rightArrow">
            <a:avLst/>
          </a:prstGeom>
          <a:solidFill>
            <a:srgbClr val="DEB340"/>
          </a:solidFill>
          <a:ln>
            <a:noFill/>
          </a:ln>
        </p:spPr>
        <p:txBody>
          <a:bodyPr lIns="36000" rIns="36000" anchor="ctr"/>
          <a:lstStyle/>
          <a:p>
            <a:endParaRPr/>
          </a:p>
        </p:txBody>
      </p:sp>
      <p:sp>
        <p:nvSpPr>
          <p:cNvPr id="303" name="tok303"/>
          <p:cNvSpPr/>
          <p:nvPr/>
        </p:nvSpPr>
        <p:spPr>
          <a:xfrm>
            <a:off x="4699000" y="5080000"/>
            <a:ext cx="1079500" cy="711200"/>
          </a:xfrm>
          <a:prstGeom prst="roundRect">
            <a:avLst/>
          </a:prstGeom>
          <a:solidFill>
            <a:srgbClr val="5E6E1E"/>
          </a:solidFill>
          <a:ln>
            <a:noFill/>
          </a:ln>
        </p:spPr>
        <p:txBody>
          <a:bodyPr lIns="36000" r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token</a:t>
            </a:r>
          </a:p>
        </p:txBody>
      </p:sp>
      <p:sp>
        <p:nvSpPr>
          <p:cNvPr id="304" name="tok304"/>
          <p:cNvSpPr/>
          <p:nvPr/>
        </p:nvSpPr>
        <p:spPr>
          <a:xfrm>
            <a:off x="5930900" y="5080000"/>
            <a:ext cx="584200" cy="711200"/>
          </a:xfrm>
          <a:prstGeom prst="roundRect">
            <a:avLst/>
          </a:prstGeom>
          <a:solidFill>
            <a:srgbClr val="2C7256"/>
          </a:solidFill>
          <a:ln>
            <a:noFill/>
          </a:ln>
        </p:spPr>
        <p:txBody>
          <a:bodyPr lIns="36000" r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iz</a:t>
            </a:r>
          </a:p>
        </p:txBody>
      </p:sp>
      <p:sp>
        <p:nvSpPr>
          <p:cNvPr id="305" name="tok305"/>
          <p:cNvSpPr/>
          <p:nvPr/>
        </p:nvSpPr>
        <p:spPr>
          <a:xfrm>
            <a:off x="6667500" y="5080000"/>
            <a:ext cx="1079500" cy="7112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lIns="36000" r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ation</a:t>
            </a:r>
          </a:p>
        </p:txBody>
      </p:sp>
      <p:sp>
        <p:nvSpPr>
          <p:cNvPr id="306" name="tok306"/>
          <p:cNvSpPr/>
          <p:nvPr/>
        </p:nvSpPr>
        <p:spPr>
          <a:xfrm>
            <a:off x="8026400" y="5080000"/>
            <a:ext cx="1905000" cy="711200"/>
          </a:xfrm>
          <a:prstGeom prst="roundRect">
            <a:avLst/>
          </a:prstGeom>
          <a:solidFill>
            <a:srgbClr val="A23C33"/>
          </a:solidFill>
          <a:ln>
            <a:noFill/>
          </a:ln>
        </p:spPr>
        <p:txBody>
          <a:bodyPr lIns="36000" r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= 3 tokens</a:t>
            </a:r>
          </a:p>
        </p:txBody>
      </p:sp>
    </p:spTree>
    <p:extLst>
      <p:ext uri="{BB962C8B-B14F-4D97-AF65-F5344CB8AC3E}">
        <p14:creationId xmlns:p14="http://schemas.microsoft.com/office/powerpoint/2010/main" val="1970106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B0CC-BFF5-B5E0-1A6C-923445C1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7DF42-EE36-6FBC-2EF4-CCE4C3ACF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40000"/>
            <a:ext cx="9601196" cy="1905000"/>
          </a:xfrm>
        </p:spPr>
        <p:txBody>
          <a:bodyPr/>
          <a:lstStyle/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The skill of crafting prompts to get the most out of a generative model — part </a:t>
            </a:r>
            <a:r>
              <a:rPr lang="en-US" sz="1700" b="1" dirty="0"/>
              <a:t>art</a:t>
            </a:r>
            <a:r>
              <a:rPr lang="en-US" sz="1700" dirty="0"/>
              <a:t>, part </a:t>
            </a:r>
            <a:r>
              <a:rPr lang="en-US" sz="1700" b="1" dirty="0"/>
              <a:t>science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Chat models use </a:t>
            </a:r>
            <a:r>
              <a:rPr lang="en-US" sz="1700" b="1" dirty="0"/>
              <a:t>input / output indicators</a:t>
            </a:r>
            <a:r>
              <a:rPr lang="en-US" sz="1700" dirty="0"/>
              <a:t> to mark user vs. model turns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Prompt structure is </a:t>
            </a:r>
            <a:r>
              <a:rPr lang="en-US" sz="1700" b="1" dirty="0"/>
              <a:t>model-specific</a:t>
            </a:r>
            <a:r>
              <a:rPr lang="en-US" sz="1700" dirty="0"/>
              <a:t> — always check the model card before experimenting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700" dirty="0"/>
              <a:t>The </a:t>
            </a:r>
            <a:r>
              <a:rPr lang="en-US" sz="1700" b="1" dirty="0"/>
              <a:t>context window</a:t>
            </a:r>
            <a:r>
              <a:rPr lang="en-US" sz="1700" dirty="0"/>
              <a:t> caps total input + output tokens and varies widely by model:</a:t>
            </a:r>
          </a:p>
        </p:txBody>
      </p:sp>
      <p:sp>
        <p:nvSpPr>
          <p:cNvPr id="321" name="cw321"/>
          <p:cNvSpPr/>
          <p:nvPr/>
        </p:nvSpPr>
        <p:spPr>
          <a:xfrm>
            <a:off x="1397000" y="4927600"/>
            <a:ext cx="2260600" cy="1168400"/>
          </a:xfrm>
          <a:prstGeom prst="roundRect">
            <a:avLst/>
          </a:prstGeom>
          <a:solidFill>
            <a:srgbClr val="A23C33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FLAN-T5</a:t>
            </a:r>
          </a:p>
          <a:p>
            <a:pPr algn="ctr"/>
            <a:r>
              <a:rPr lang="en-US" sz="1800" b="1" dirty="0">
                <a:solidFill>
                  <a:srgbClr val="FFFFFF"/>
                </a:solidFill>
              </a:rPr>
              <a:t>512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</a:rPr>
              <a:t>tokens</a:t>
            </a:r>
          </a:p>
        </p:txBody>
      </p:sp>
      <p:sp>
        <p:nvSpPr>
          <p:cNvPr id="322" name="cw322"/>
          <p:cNvSpPr/>
          <p:nvPr/>
        </p:nvSpPr>
        <p:spPr>
          <a:xfrm>
            <a:off x="3886200" y="4927600"/>
            <a:ext cx="2260600" cy="1168400"/>
          </a:xfrm>
          <a:prstGeom prst="roundRect">
            <a:avLst/>
          </a:prstGeom>
          <a:solidFill>
            <a:srgbClr val="B05E1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Falcon</a:t>
            </a:r>
          </a:p>
          <a:p>
            <a:pPr algn="ctr"/>
            <a:r>
              <a:rPr lang="en-US" sz="1800" b="1" dirty="0">
                <a:solidFill>
                  <a:srgbClr val="FFFFFF"/>
                </a:solidFill>
              </a:rPr>
              <a:t>2,048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</a:rPr>
              <a:t>tokens</a:t>
            </a:r>
          </a:p>
        </p:txBody>
      </p:sp>
      <p:sp>
        <p:nvSpPr>
          <p:cNvPr id="323" name="cw323"/>
          <p:cNvSpPr/>
          <p:nvPr/>
        </p:nvSpPr>
        <p:spPr>
          <a:xfrm>
            <a:off x="6375400" y="4927600"/>
            <a:ext cx="2260600" cy="1168400"/>
          </a:xfrm>
          <a:prstGeom prst="roundRect">
            <a:avLst/>
          </a:prstGeom>
          <a:solidFill>
            <a:srgbClr val="2C7256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Llama 2</a:t>
            </a:r>
          </a:p>
          <a:p>
            <a:pPr algn="ctr"/>
            <a:r>
              <a:rPr lang="en-US" sz="1800" b="1" dirty="0">
                <a:solidFill>
                  <a:srgbClr val="FFFFFF"/>
                </a:solidFill>
              </a:rPr>
              <a:t>4,096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</a:rPr>
              <a:t>tokens</a:t>
            </a:r>
          </a:p>
        </p:txBody>
      </p:sp>
      <p:sp>
        <p:nvSpPr>
          <p:cNvPr id="324" name="cw324"/>
          <p:cNvSpPr/>
          <p:nvPr/>
        </p:nvSpPr>
        <p:spPr>
          <a:xfrm>
            <a:off x="8864600" y="4927600"/>
            <a:ext cx="2260600" cy="11684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Claude</a:t>
            </a:r>
          </a:p>
          <a:p>
            <a:pPr algn="ctr"/>
            <a:r>
              <a:rPr lang="en-US" sz="1800" b="1" dirty="0">
                <a:solidFill>
                  <a:srgbClr val="FFFFFF"/>
                </a:solidFill>
              </a:rPr>
              <a:t>100,000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</a:rPr>
              <a:t>tokens</a:t>
            </a:r>
          </a:p>
        </p:txBody>
      </p:sp>
    </p:spTree>
    <p:extLst>
      <p:ext uri="{BB962C8B-B14F-4D97-AF65-F5344CB8AC3E}">
        <p14:creationId xmlns:p14="http://schemas.microsoft.com/office/powerpoint/2010/main" val="4276225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5050-5D33-726F-CB6F-C651A4B0F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Prompt Structure: The Four Parts</a:t>
            </a:r>
            <a:endParaRPr lang="en-IN"/>
          </a:p>
        </p:txBody>
      </p:sp>
      <p:sp>
        <p:nvSpPr>
          <p:cNvPr id="341" name="lab341"/>
          <p:cNvSpPr/>
          <p:nvPr/>
        </p:nvSpPr>
        <p:spPr>
          <a:xfrm>
            <a:off x="1397000" y="2603500"/>
            <a:ext cx="2921000" cy="8636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lIns="91440" rIns="45720" anchor="ctr"/>
          <a:lstStyle/>
          <a:p>
            <a:r>
              <a:rPr lang="en-US" sz="1700" b="1" dirty="0">
                <a:solidFill>
                  <a:srgbClr val="FFFFFF"/>
                </a:solidFill>
              </a:rPr>
              <a:t>Instruction</a:t>
            </a:r>
          </a:p>
        </p:txBody>
      </p:sp>
      <p:sp>
        <p:nvSpPr>
          <p:cNvPr id="342" name="desc342"/>
          <p:cNvSpPr/>
          <p:nvPr/>
        </p:nvSpPr>
        <p:spPr>
          <a:xfrm>
            <a:off x="4508500" y="2603500"/>
            <a:ext cx="6286500" cy="863600"/>
          </a:xfrm>
          <a:prstGeom prst="roundRect">
            <a:avLst/>
          </a:prstGeom>
          <a:solidFill>
            <a:srgbClr val="F2F2F2"/>
          </a:solidFill>
          <a:ln>
            <a:solidFill>
              <a:srgbClr val="44709D"/>
            </a:solidFill>
          </a:ln>
        </p:spPr>
        <p:txBody>
          <a:bodyPr lIns="91440" rIns="91440" anchor="ctr"/>
          <a:lstStyle/>
          <a:p>
            <a:r>
              <a:rPr lang="en-US" sz="1500" dirty="0">
                <a:solidFill>
                  <a:srgbClr val="212121"/>
                </a:solidFill>
              </a:rPr>
              <a:t>What you want the model to do (e.g. “Summarize the text”)</a:t>
            </a:r>
          </a:p>
        </p:txBody>
      </p:sp>
      <p:sp>
        <p:nvSpPr>
          <p:cNvPr id="343" name="lab343"/>
          <p:cNvSpPr/>
          <p:nvPr/>
        </p:nvSpPr>
        <p:spPr>
          <a:xfrm>
            <a:off x="1397000" y="3594100"/>
            <a:ext cx="2921000" cy="863600"/>
          </a:xfrm>
          <a:prstGeom prst="roundRect">
            <a:avLst/>
          </a:prstGeom>
          <a:solidFill>
            <a:srgbClr val="2C7256"/>
          </a:solidFill>
          <a:ln>
            <a:noFill/>
          </a:ln>
        </p:spPr>
        <p:txBody>
          <a:bodyPr lIns="91440" rIns="45720" anchor="ctr"/>
          <a:lstStyle/>
          <a:p>
            <a:r>
              <a:rPr lang="en-US" sz="1700" b="1" dirty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344" name="desc344"/>
          <p:cNvSpPr/>
          <p:nvPr/>
        </p:nvSpPr>
        <p:spPr>
          <a:xfrm>
            <a:off x="4508500" y="3594100"/>
            <a:ext cx="6286500" cy="863600"/>
          </a:xfrm>
          <a:prstGeom prst="roundRect">
            <a:avLst/>
          </a:prstGeom>
          <a:solidFill>
            <a:srgbClr val="F2F2F2"/>
          </a:solidFill>
          <a:ln>
            <a:solidFill>
              <a:srgbClr val="3C9770"/>
            </a:solidFill>
          </a:ln>
        </p:spPr>
        <p:txBody>
          <a:bodyPr lIns="91440" rIns="91440" anchor="ctr"/>
          <a:lstStyle/>
          <a:p>
            <a:r>
              <a:rPr lang="en-US" sz="1500" dirty="0">
                <a:solidFill>
                  <a:srgbClr val="212121"/>
                </a:solidFill>
              </a:rPr>
              <a:t>Background info &amp; few-shot examples that frame the task</a:t>
            </a:r>
          </a:p>
        </p:txBody>
      </p:sp>
      <p:sp>
        <p:nvSpPr>
          <p:cNvPr id="345" name="lab345"/>
          <p:cNvSpPr/>
          <p:nvPr/>
        </p:nvSpPr>
        <p:spPr>
          <a:xfrm>
            <a:off x="1397000" y="4584700"/>
            <a:ext cx="2921000" cy="863600"/>
          </a:xfrm>
          <a:prstGeom prst="roundRect">
            <a:avLst/>
          </a:prstGeom>
          <a:solidFill>
            <a:srgbClr val="B05E18"/>
          </a:solidFill>
          <a:ln>
            <a:noFill/>
          </a:ln>
        </p:spPr>
        <p:txBody>
          <a:bodyPr lIns="91440" rIns="45720" anchor="ctr"/>
          <a:lstStyle/>
          <a:p>
            <a:r>
              <a:rPr lang="en-US" sz="1700" b="1" dirty="0">
                <a:solidFill>
                  <a:srgbClr val="FFFFFF"/>
                </a:solidFill>
              </a:rPr>
              <a:t>Input Data</a:t>
            </a:r>
          </a:p>
        </p:txBody>
      </p:sp>
      <p:sp>
        <p:nvSpPr>
          <p:cNvPr id="346" name="desc346"/>
          <p:cNvSpPr/>
          <p:nvPr/>
        </p:nvSpPr>
        <p:spPr>
          <a:xfrm>
            <a:off x="4508500" y="4584700"/>
            <a:ext cx="6286500" cy="863600"/>
          </a:xfrm>
          <a:prstGeom prst="roundRect">
            <a:avLst/>
          </a:prstGeom>
          <a:solidFill>
            <a:srgbClr val="F2F2F2"/>
          </a:solidFill>
          <a:ln>
            <a:solidFill>
              <a:srgbClr val="D97828"/>
            </a:solidFill>
          </a:ln>
        </p:spPr>
        <p:txBody>
          <a:bodyPr lIns="91440" rIns="91440" anchor="ctr"/>
          <a:lstStyle/>
          <a:p>
            <a:r>
              <a:rPr lang="en-US" sz="1500" dirty="0">
                <a:solidFill>
                  <a:srgbClr val="212121"/>
                </a:solidFill>
              </a:rPr>
              <a:t>The actual content the model should act on</a:t>
            </a:r>
          </a:p>
        </p:txBody>
      </p:sp>
      <p:sp>
        <p:nvSpPr>
          <p:cNvPr id="347" name="lab347"/>
          <p:cNvSpPr/>
          <p:nvPr/>
        </p:nvSpPr>
        <p:spPr>
          <a:xfrm>
            <a:off x="1397000" y="5575300"/>
            <a:ext cx="2921000" cy="863600"/>
          </a:xfrm>
          <a:prstGeom prst="roundRect">
            <a:avLst/>
          </a:prstGeom>
          <a:solidFill>
            <a:srgbClr val="5E6E1E"/>
          </a:solidFill>
          <a:ln>
            <a:noFill/>
          </a:ln>
        </p:spPr>
        <p:txBody>
          <a:bodyPr lIns="91440" rIns="45720" anchor="ctr"/>
          <a:lstStyle/>
          <a:p>
            <a:r>
              <a:rPr lang="en-US" sz="1700" b="1" dirty="0">
                <a:solidFill>
                  <a:srgbClr val="FFFFFF"/>
                </a:solidFill>
              </a:rPr>
              <a:t>Output Indicator</a:t>
            </a:r>
          </a:p>
        </p:txBody>
      </p:sp>
      <p:sp>
        <p:nvSpPr>
          <p:cNvPr id="348" name="desc348"/>
          <p:cNvSpPr/>
          <p:nvPr/>
        </p:nvSpPr>
        <p:spPr>
          <a:xfrm>
            <a:off x="4508500" y="5575300"/>
            <a:ext cx="6286500" cy="863600"/>
          </a:xfrm>
          <a:prstGeom prst="roundRect">
            <a:avLst/>
          </a:prstGeom>
          <a:solidFill>
            <a:srgbClr val="F2F2F2"/>
          </a:solidFill>
          <a:ln>
            <a:solidFill>
              <a:srgbClr val="83992A"/>
            </a:solidFill>
          </a:ln>
        </p:spPr>
        <p:txBody>
          <a:bodyPr lIns="91440" rIns="91440" anchor="ctr"/>
          <a:lstStyle/>
          <a:p>
            <a:r>
              <a:rPr lang="en-US" sz="1500" dirty="0">
                <a:solidFill>
                  <a:srgbClr val="212121"/>
                </a:solidFill>
              </a:rPr>
              <a:t>Cue that signals where the model’s answer begins</a:t>
            </a:r>
          </a:p>
        </p:txBody>
      </p:sp>
    </p:spTree>
    <p:extLst>
      <p:ext uri="{BB962C8B-B14F-4D97-AF65-F5344CB8AC3E}">
        <p14:creationId xmlns:p14="http://schemas.microsoft.com/office/powerpoint/2010/main" val="1837994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5101-850E-4A60-8161-C79A576F9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In-Context Learning</a:t>
            </a:r>
          </a:p>
        </p:txBody>
      </p:sp>
      <p:sp>
        <p:nvSpPr>
          <p:cNvPr id="361" name="t361"/>
          <p:cNvSpPr/>
          <p:nvPr/>
        </p:nvSpPr>
        <p:spPr>
          <a:xfrm>
            <a:off x="1397000" y="2438400"/>
            <a:ext cx="9398000" cy="50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600" i="1" dirty="0">
                <a:solidFill>
                  <a:srgbClr val="212121"/>
                </a:solidFill>
              </a:rPr>
              <a:t>Add example prompt-completion pairs to the context so the model learns on the fly — without changing its weights.</a:t>
            </a:r>
          </a:p>
        </p:txBody>
      </p:sp>
      <p:sp>
        <p:nvSpPr>
          <p:cNvPr id="362" name="card362"/>
          <p:cNvSpPr/>
          <p:nvPr/>
        </p:nvSpPr>
        <p:spPr>
          <a:xfrm>
            <a:off x="1397000" y="3175000"/>
            <a:ext cx="3048000" cy="2667000"/>
          </a:xfrm>
          <a:prstGeom prst="roundRect">
            <a:avLst/>
          </a:prstGeom>
          <a:solidFill>
            <a:srgbClr val="FFFFFF"/>
          </a:solidFill>
          <a:ln>
            <a:solidFill>
              <a:srgbClr val="44709D"/>
            </a:solidFill>
          </a:ln>
        </p:spPr>
        <p:txBody>
          <a:bodyPr lIns="100000" tIns="100000" rIns="100000" anchor="t"/>
          <a:lstStyle/>
          <a:p>
            <a:pPr algn="ctr"/>
            <a:r>
              <a:rPr lang="en-US" sz="1900" b="1" dirty="0">
                <a:solidFill>
                  <a:srgbClr val="44709D"/>
                </a:solidFill>
              </a:rPr>
              <a:t>Zero-shot</a:t>
            </a:r>
          </a:p>
          <a:p>
            <a:pPr algn="ctr">
              <a:spcBef>
                <a:spcPts val="200"/>
              </a:spcBef>
            </a:pPr>
            <a:r>
              <a:rPr lang="en-US" sz="1300" b="1" dirty="0">
                <a:solidFill>
                  <a:srgbClr val="A23C33"/>
                </a:solidFill>
              </a:rPr>
              <a:t>0 examples</a:t>
            </a:r>
          </a:p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rgbClr val="212121"/>
                </a:solidFill>
              </a:rPr>
              <a:t>Model relies on prior knowledge to generalize to unseen tasks. Largest models do this surprisingly well.</a:t>
            </a:r>
          </a:p>
        </p:txBody>
      </p:sp>
      <p:sp>
        <p:nvSpPr>
          <p:cNvPr id="363" name="card363"/>
          <p:cNvSpPr/>
          <p:nvPr/>
        </p:nvSpPr>
        <p:spPr>
          <a:xfrm>
            <a:off x="4699000" y="3175000"/>
            <a:ext cx="3048000" cy="2667000"/>
          </a:xfrm>
          <a:prstGeom prst="roundRect">
            <a:avLst/>
          </a:prstGeom>
          <a:solidFill>
            <a:srgbClr val="FFFFFF"/>
          </a:solidFill>
          <a:ln>
            <a:solidFill>
              <a:srgbClr val="3C9770"/>
            </a:solidFill>
          </a:ln>
        </p:spPr>
        <p:txBody>
          <a:bodyPr lIns="100000" tIns="100000" rIns="100000" anchor="t"/>
          <a:lstStyle/>
          <a:p>
            <a:pPr algn="ctr"/>
            <a:r>
              <a:rPr lang="en-US" sz="1900" b="1" dirty="0">
                <a:solidFill>
                  <a:srgbClr val="3C9770"/>
                </a:solidFill>
              </a:rPr>
              <a:t>One-shot</a:t>
            </a:r>
          </a:p>
          <a:p>
            <a:pPr algn="ctr">
              <a:spcBef>
                <a:spcPts val="200"/>
              </a:spcBef>
            </a:pPr>
            <a:r>
              <a:rPr lang="en-US" sz="1300" b="1" dirty="0">
                <a:solidFill>
                  <a:srgbClr val="A23C33"/>
                </a:solidFill>
              </a:rPr>
              <a:t>1 example</a:t>
            </a:r>
          </a:p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rgbClr val="212121"/>
                </a:solidFill>
              </a:rPr>
              <a:t>A single prompt-completion pair guides the response toward the desired format.</a:t>
            </a:r>
          </a:p>
        </p:txBody>
      </p:sp>
      <p:sp>
        <p:nvSpPr>
          <p:cNvPr id="364" name="card364"/>
          <p:cNvSpPr/>
          <p:nvPr/>
        </p:nvSpPr>
        <p:spPr>
          <a:xfrm>
            <a:off x="8001000" y="3175000"/>
            <a:ext cx="3048000" cy="2667000"/>
          </a:xfrm>
          <a:prstGeom prst="roundRect">
            <a:avLst/>
          </a:prstGeom>
          <a:solidFill>
            <a:srgbClr val="FFFFFF"/>
          </a:solidFill>
          <a:ln>
            <a:solidFill>
              <a:srgbClr val="83992A"/>
            </a:solidFill>
          </a:ln>
        </p:spPr>
        <p:txBody>
          <a:bodyPr lIns="100000" tIns="100000" rIns="100000" anchor="t"/>
          <a:lstStyle/>
          <a:p>
            <a:pPr algn="ctr"/>
            <a:r>
              <a:rPr lang="en-US" sz="1900" b="1" dirty="0">
                <a:solidFill>
                  <a:srgbClr val="83992A"/>
                </a:solidFill>
              </a:rPr>
              <a:t>Few-shot</a:t>
            </a:r>
          </a:p>
          <a:p>
            <a:pPr algn="ctr">
              <a:spcBef>
                <a:spcPts val="200"/>
              </a:spcBef>
            </a:pPr>
            <a:r>
              <a:rPr lang="en-US" sz="1300" b="1" dirty="0">
                <a:solidFill>
                  <a:srgbClr val="A23C33"/>
                </a:solidFill>
              </a:rPr>
              <a:t>2–5+ examples</a:t>
            </a:r>
          </a:p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rgbClr val="212121"/>
                </a:solidFill>
              </a:rPr>
              <a:t>Several consistent examples; the model closely follows their pattern. Smaller models benefit most.</a:t>
            </a:r>
          </a:p>
        </p:txBody>
      </p:sp>
    </p:spTree>
    <p:extLst>
      <p:ext uri="{BB962C8B-B14F-4D97-AF65-F5344CB8AC3E}">
        <p14:creationId xmlns:p14="http://schemas.microsoft.com/office/powerpoint/2010/main" val="1372231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960E-3BB0-F611-8ECF-7043AD9E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In-Context Learning: Tips &amp;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16995-561B-9707-7BCF-6A257006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40000"/>
            <a:ext cx="9601196" cy="3365500"/>
          </a:xfrm>
        </p:spPr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83992A"/>
                </a:solidFill>
              </a:rPr>
              <a:t>Best practices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600" dirty="0"/>
              <a:t>Start with zero-shot; move to one- or few-shot only if results fall short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600" dirty="0"/>
              <a:t>Use consistent, representative examples — and keep within the context window</a:t>
            </a:r>
          </a:p>
          <a:p>
            <a:pPr>
              <a:buNone/>
            </a:pPr>
            <a:r>
              <a:rPr lang="en-US" sz="1800" b="1" dirty="0">
                <a:solidFill>
                  <a:srgbClr val="A23C33"/>
                </a:solidFill>
              </a:rPr>
              <a:t>Watch out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600" dirty="0"/>
              <a:t>Mislabeled examples can "trick" the model into the wrong behavior — double-check pairs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600" dirty="0"/>
              <a:t>Still stuck after 5–6 examples? Switch models, </a:t>
            </a:r>
            <a:r>
              <a:rPr lang="en-US" sz="1600" b="1" dirty="0"/>
              <a:t>fine-tune</a:t>
            </a:r>
            <a:r>
              <a:rPr lang="en-US" sz="1600" dirty="0"/>
              <a:t>, or use </a:t>
            </a:r>
            <a:r>
              <a:rPr lang="en-US" sz="1600" b="1" dirty="0"/>
              <a:t>RAG</a:t>
            </a:r>
            <a:r>
              <a:rPr lang="en-US" sz="1600" dirty="0"/>
              <a:t>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3983038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2B22-C568-4952-699D-46D04927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Prompt-Engineering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9B397-7880-848D-55A9-3B61BD1DF9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57175" indent="-257175">
              <a:lnSpc>
                <a:spcPts val="1850"/>
              </a:lnSpc>
              <a:spcAft>
                <a:spcPts val="500"/>
              </a:spcAft>
              <a:buFont typeface="Arial"/>
              <a:buChar char="•"/>
            </a:pPr>
            <a:r>
              <a:rPr lang="en-US" sz="1500" b="1" dirty="0"/>
              <a:t>Be clear &amp; concise. </a:t>
            </a:r>
            <a:r>
              <a:rPr lang="en-US" sz="1500" dirty="0"/>
              <a:t>If it confuses a human, it confuses the model.</a:t>
            </a:r>
          </a:p>
          <a:p>
            <a:pPr marL="257175" indent="-257175">
              <a:lnSpc>
                <a:spcPts val="1850"/>
              </a:lnSpc>
              <a:spcAft>
                <a:spcPts val="500"/>
              </a:spcAft>
              <a:buFont typeface="Arial"/>
              <a:buChar char="•"/>
            </a:pPr>
            <a:r>
              <a:rPr lang="en-US" sz="1500" b="1" dirty="0"/>
              <a:t>Be creative. </a:t>
            </a:r>
            <a:r>
              <a:rPr lang="en-US" sz="1500" dirty="0"/>
              <a:t>Novel prompts can yield better, surprising results.</a:t>
            </a:r>
          </a:p>
          <a:p>
            <a:pPr marL="257175" indent="-257175">
              <a:lnSpc>
                <a:spcPts val="1850"/>
              </a:lnSpc>
              <a:spcAft>
                <a:spcPts val="500"/>
              </a:spcAft>
              <a:buFont typeface="Arial"/>
              <a:buChar char="•"/>
            </a:pPr>
            <a:r>
              <a:rPr lang="en-US" sz="1500" b="1" dirty="0"/>
              <a:t>Put the instruction last </a:t>
            </a:r>
            <a:r>
              <a:rPr lang="en-US" sz="1500" dirty="0"/>
              <a:t>when the input text is long.</a:t>
            </a:r>
          </a:p>
          <a:p>
            <a:pPr marL="257175" indent="-257175">
              <a:lnSpc>
                <a:spcPts val="1850"/>
              </a:lnSpc>
              <a:spcAft>
                <a:spcPts val="500"/>
              </a:spcAft>
              <a:buFont typeface="Arial"/>
              <a:buChar char="•"/>
            </a:pPr>
            <a:r>
              <a:rPr lang="en-US" sz="1500" b="1" dirty="0"/>
              <a:t>Convey the subject clearly. </a:t>
            </a:r>
            <a:r>
              <a:rPr lang="en-US" sz="1500" dirty="0"/>
              <a:t>State who, what, where, when, why, how.</a:t>
            </a:r>
          </a:p>
          <a:p>
            <a:pPr marL="257175" indent="-257175">
              <a:lnSpc>
                <a:spcPts val="1850"/>
              </a:lnSpc>
              <a:spcAft>
                <a:spcPts val="500"/>
              </a:spcAft>
              <a:buFont typeface="Arial"/>
              <a:buChar char="•"/>
            </a:pPr>
            <a:r>
              <a:rPr lang="en-US" sz="1500" b="1" dirty="0"/>
              <a:t>Use explicit directives. </a:t>
            </a:r>
            <a:r>
              <a:rPr lang="en-US" sz="1500" dirty="0"/>
              <a:t>“Summarize in a single sentence:”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9B8A4-36D7-43D4-92D5-C4C52C7410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57175" indent="-257175">
              <a:lnSpc>
                <a:spcPts val="1850"/>
              </a:lnSpc>
              <a:spcAft>
                <a:spcPts val="500"/>
              </a:spcAft>
              <a:buFont typeface="Arial"/>
              <a:buChar char="•"/>
            </a:pPr>
            <a:r>
              <a:rPr lang="en-US" sz="1500" b="1" dirty="0"/>
              <a:t>Avoid negatives. </a:t>
            </a:r>
            <a:r>
              <a:rPr lang="en-US" sz="1500" dirty="0"/>
              <a:t>“in 5 sentences or less” &gt; “no more than 5.”</a:t>
            </a:r>
          </a:p>
          <a:p>
            <a:pPr marL="257175" indent="-257175">
              <a:lnSpc>
                <a:spcPts val="1850"/>
              </a:lnSpc>
              <a:spcAft>
                <a:spcPts val="500"/>
              </a:spcAft>
              <a:buFont typeface="Arial"/>
              <a:buChar char="•"/>
            </a:pPr>
            <a:r>
              <a:rPr lang="en-US" sz="1500" b="1" dirty="0"/>
              <a:t>Specify size &amp; format. </a:t>
            </a:r>
            <a:r>
              <a:rPr lang="en-US" sz="1500" dirty="0"/>
              <a:t>“List the top 3…”, give an example layout.</a:t>
            </a:r>
          </a:p>
          <a:p>
            <a:pPr marL="257175" indent="-257175">
              <a:lnSpc>
                <a:spcPts val="1850"/>
              </a:lnSpc>
              <a:spcAft>
                <a:spcPts val="500"/>
              </a:spcAft>
              <a:buFont typeface="Arial"/>
              <a:buChar char="•"/>
            </a:pPr>
            <a:r>
              <a:rPr lang="en-US" sz="1500" b="1" dirty="0"/>
              <a:t>Add context &amp; few-shot examples. </a:t>
            </a:r>
            <a:r>
              <a:rPr lang="en-US" sz="1500" dirty="0"/>
              <a:t>Frame the task.</a:t>
            </a:r>
          </a:p>
          <a:p>
            <a:pPr marL="257175" indent="-257175">
              <a:lnSpc>
                <a:spcPts val="1850"/>
              </a:lnSpc>
              <a:spcAft>
                <a:spcPts val="500"/>
              </a:spcAft>
              <a:buFont typeface="Arial"/>
              <a:buChar char="•"/>
            </a:pPr>
            <a:r>
              <a:rPr lang="en-US" sz="1500" b="1" dirty="0"/>
              <a:t>Allow “I don’t know.” </a:t>
            </a:r>
            <a:r>
              <a:rPr lang="en-US" sz="1500" dirty="0"/>
              <a:t>Reduces hallucinated answers.</a:t>
            </a:r>
          </a:p>
          <a:p>
            <a:pPr marL="257175" indent="-257175">
              <a:lnSpc>
                <a:spcPts val="1850"/>
              </a:lnSpc>
              <a:spcAft>
                <a:spcPts val="500"/>
              </a:spcAft>
              <a:buFont typeface="Arial"/>
              <a:buChar char="•"/>
            </a:pPr>
            <a:r>
              <a:rPr lang="en-US" sz="1500" b="1" dirty="0"/>
              <a:t>Add constraints &amp; evaluate. </a:t>
            </a:r>
            <a:r>
              <a:rPr lang="en-US" sz="1500" dirty="0"/>
              <a:t>Limit length/format, then review output.</a:t>
            </a:r>
          </a:p>
        </p:txBody>
      </p:sp>
    </p:spTree>
    <p:extLst>
      <p:ext uri="{BB962C8B-B14F-4D97-AF65-F5344CB8AC3E}">
        <p14:creationId xmlns:p14="http://schemas.microsoft.com/office/powerpoint/2010/main" val="4004703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EFB5-8F42-52D9-A8F9-EA96A7D9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Hallucinations &amp; Chain-of-Thought</a:t>
            </a:r>
          </a:p>
        </p:txBody>
      </p:sp>
      <p:sp>
        <p:nvSpPr>
          <p:cNvPr id="381" name="h381"/>
          <p:cNvSpPr/>
          <p:nvPr/>
        </p:nvSpPr>
        <p:spPr>
          <a:xfrm>
            <a:off x="1397000" y="2603500"/>
            <a:ext cx="4572000" cy="1905000"/>
          </a:xfrm>
          <a:prstGeom prst="roundRect">
            <a:avLst/>
          </a:prstGeom>
          <a:solidFill>
            <a:srgbClr val="FCEFEE"/>
          </a:solidFill>
          <a:ln w="19050">
            <a:solidFill>
              <a:srgbClr val="A23C33"/>
            </a:solidFill>
          </a:ln>
        </p:spPr>
        <p:txBody>
          <a:bodyPr lIns="91440" tIns="73152" rIns="91440" bIns="73152" anchor="ctr"/>
          <a:lstStyle/>
          <a:p>
            <a:pPr algn="ctr"/>
            <a:r>
              <a:rPr lang="en-US" sz="1800" b="1" dirty="0">
                <a:solidFill>
                  <a:srgbClr val="A23C33"/>
                </a:solidFill>
              </a:rPr>
              <a:t>⚠ Hallucination</a:t>
            </a:r>
          </a:p>
          <a:p>
            <a:pPr algn="ctr">
              <a:spcBef>
                <a:spcPts val="500"/>
              </a:spcBef>
            </a:pPr>
            <a:r>
              <a:rPr lang="en-US" sz="1400" dirty="0">
                <a:solidFill>
                  <a:srgbClr val="212121"/>
                </a:solidFill>
              </a:rPr>
              <a:t>The model confidently states something false. Reducing max tokens only hides it — it doesn’t fix it.</a:t>
            </a:r>
          </a:p>
        </p:txBody>
      </p:sp>
      <p:sp>
        <p:nvSpPr>
          <p:cNvPr id="382" name="h382"/>
          <p:cNvSpPr/>
          <p:nvPr/>
        </p:nvSpPr>
        <p:spPr>
          <a:xfrm>
            <a:off x="6324600" y="2603500"/>
            <a:ext cx="4572000" cy="1905000"/>
          </a:xfrm>
          <a:prstGeom prst="roundRect">
            <a:avLst/>
          </a:prstGeom>
          <a:solidFill>
            <a:srgbClr val="EAF5EF"/>
          </a:solidFill>
          <a:ln w="19050">
            <a:solidFill>
              <a:srgbClr val="3C9770"/>
            </a:solidFill>
          </a:ln>
        </p:spPr>
        <p:txBody>
          <a:bodyPr lIns="91440" tIns="73152" rIns="91440" bIns="73152" anchor="ctr"/>
          <a:lstStyle/>
          <a:p>
            <a:pPr algn="ctr"/>
            <a:r>
              <a:rPr lang="en-US" sz="1800" b="1" dirty="0">
                <a:solidFill>
                  <a:srgbClr val="3C9770"/>
                </a:solidFill>
              </a:rPr>
              <a:t>☞ Chain-of-Thought</a:t>
            </a:r>
          </a:p>
          <a:p>
            <a:pPr algn="ctr">
              <a:spcBef>
                <a:spcPts val="500"/>
              </a:spcBef>
            </a:pPr>
            <a:r>
              <a:rPr lang="en-US" sz="1400" dirty="0">
                <a:solidFill>
                  <a:srgbClr val="212121"/>
                </a:solidFill>
              </a:rPr>
              <a:t>Ask the model to “think step-by-step” so it reasons through complex tasks and finds the right answer.</a:t>
            </a:r>
          </a:p>
        </p:txBody>
      </p:sp>
      <p:sp>
        <p:nvSpPr>
          <p:cNvPr id="383" name="h383"/>
          <p:cNvSpPr/>
          <p:nvPr/>
        </p:nvSpPr>
        <p:spPr>
          <a:xfrm>
            <a:off x="1397000" y="5016500"/>
            <a:ext cx="2260600" cy="812800"/>
          </a:xfrm>
          <a:prstGeom prst="roundRect">
            <a:avLst/>
          </a:prstGeom>
          <a:solidFill>
            <a:srgbClr val="B05E18"/>
          </a:solidFill>
          <a:ln>
            <a:noFill/>
          </a:ln>
        </p:spPr>
        <p:txBody>
          <a:bodyPr lIns="91440" tIns="73152" rIns="91440" bIns="73152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384" name="h384"/>
          <p:cNvSpPr/>
          <p:nvPr/>
        </p:nvSpPr>
        <p:spPr>
          <a:xfrm>
            <a:off x="3632200" y="5219700"/>
            <a:ext cx="304800" cy="40640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txBody>
          <a:bodyPr lIns="91440" tIns="73152" rIns="91440" bIns="73152" anchor="ctr"/>
          <a:lstStyle/>
          <a:p>
            <a:endParaRPr/>
          </a:p>
        </p:txBody>
      </p:sp>
      <p:sp>
        <p:nvSpPr>
          <p:cNvPr id="385" name="h385"/>
          <p:cNvSpPr/>
          <p:nvPr/>
        </p:nvSpPr>
        <p:spPr>
          <a:xfrm>
            <a:off x="3911600" y="5016500"/>
            <a:ext cx="2260600" cy="8128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lIns="91440" tIns="73152" rIns="91440" bIns="73152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386" name="h386"/>
          <p:cNvSpPr/>
          <p:nvPr/>
        </p:nvSpPr>
        <p:spPr>
          <a:xfrm>
            <a:off x="6146800" y="5219700"/>
            <a:ext cx="304800" cy="40640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txBody>
          <a:bodyPr lIns="91440" tIns="73152" rIns="91440" bIns="73152" anchor="ctr"/>
          <a:lstStyle/>
          <a:p>
            <a:endParaRPr/>
          </a:p>
        </p:txBody>
      </p:sp>
      <p:sp>
        <p:nvSpPr>
          <p:cNvPr id="387" name="h387"/>
          <p:cNvSpPr/>
          <p:nvPr/>
        </p:nvSpPr>
        <p:spPr>
          <a:xfrm>
            <a:off x="6426200" y="5016500"/>
            <a:ext cx="2260600" cy="8128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lIns="91440" tIns="73152" rIns="91440" bIns="73152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388" name="h388"/>
          <p:cNvSpPr/>
          <p:nvPr/>
        </p:nvSpPr>
        <p:spPr>
          <a:xfrm>
            <a:off x="8661400" y="5219700"/>
            <a:ext cx="304800" cy="40640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txBody>
          <a:bodyPr lIns="91440" tIns="73152" rIns="91440" bIns="73152" anchor="ctr"/>
          <a:lstStyle/>
          <a:p>
            <a:endParaRPr/>
          </a:p>
        </p:txBody>
      </p:sp>
      <p:sp>
        <p:nvSpPr>
          <p:cNvPr id="389" name="h389"/>
          <p:cNvSpPr/>
          <p:nvPr/>
        </p:nvSpPr>
        <p:spPr>
          <a:xfrm>
            <a:off x="8940800" y="5016500"/>
            <a:ext cx="2260600" cy="812800"/>
          </a:xfrm>
          <a:prstGeom prst="roundRect">
            <a:avLst/>
          </a:prstGeom>
          <a:solidFill>
            <a:srgbClr val="5E6E1E"/>
          </a:solidFill>
          <a:ln>
            <a:noFill/>
          </a:ln>
        </p:spPr>
        <p:txBody>
          <a:bodyPr lIns="91440" tIns="73152" rIns="91440" bIns="73152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Correct Answer</a:t>
            </a:r>
          </a:p>
        </p:txBody>
      </p:sp>
    </p:spTree>
    <p:extLst>
      <p:ext uri="{BB962C8B-B14F-4D97-AF65-F5344CB8AC3E}">
        <p14:creationId xmlns:p14="http://schemas.microsoft.com/office/powerpoint/2010/main" val="2150220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D0E2-5AEC-7E98-D368-000A6071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Inference Parameters: Sampling</a:t>
            </a:r>
          </a:p>
        </p:txBody>
      </p:sp>
      <p:sp>
        <p:nvSpPr>
          <p:cNvPr id="401" name="s401"/>
          <p:cNvSpPr/>
          <p:nvPr/>
        </p:nvSpPr>
        <p:spPr>
          <a:xfrm>
            <a:off x="1397000" y="2540000"/>
            <a:ext cx="9499600" cy="787400"/>
          </a:xfrm>
          <a:prstGeom prst="roundRect">
            <a:avLst/>
          </a:prstGeom>
          <a:solidFill>
            <a:srgbClr val="8C6D3F"/>
          </a:solidFill>
          <a:ln>
            <a:noFill/>
          </a:ln>
        </p:spPr>
        <p:txBody>
          <a:bodyPr lIns="137160" tIns="73152" rIns="137160" bIns="73152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Max new tokens — </a:t>
            </a:r>
            <a:r>
              <a:rPr lang="en-US" sz="1600" dirty="0">
                <a:solidFill>
                  <a:srgbClr val="FFFFFF"/>
                </a:solidFill>
              </a:rPr>
              <a:t>caps the length of the response. Note: it does not prevent hallucinations, only shortens them.</a:t>
            </a:r>
          </a:p>
        </p:txBody>
      </p:sp>
      <p:sp>
        <p:nvSpPr>
          <p:cNvPr id="402" name="s402"/>
          <p:cNvSpPr/>
          <p:nvPr/>
        </p:nvSpPr>
        <p:spPr>
          <a:xfrm>
            <a:off x="1397000" y="3619500"/>
            <a:ext cx="4572000" cy="222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09D"/>
            </a:solidFill>
          </a:ln>
        </p:spPr>
        <p:txBody>
          <a:bodyPr lIns="137160" tIns="73152" rIns="137160" bIns="73152" anchor="ctr"/>
          <a:lstStyle/>
          <a:p>
            <a:pPr algn="ctr"/>
            <a:r>
              <a:rPr lang="en-US" sz="1900" b="1" dirty="0">
                <a:solidFill>
                  <a:srgbClr val="44709D"/>
                </a:solidFill>
              </a:rPr>
              <a:t>Greedy Sampling</a:t>
            </a:r>
          </a:p>
          <a:p>
            <a:pPr marL="200025" indent="-200025"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Always picks the highest-probability token</a:t>
            </a:r>
          </a:p>
          <a:p>
            <a:pPr marL="200025" indent="-200025"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Simple; the default in most models</a:t>
            </a:r>
          </a:p>
          <a:p>
            <a:pPr marL="200025" indent="-200025"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Can repeat words on longer text</a:t>
            </a:r>
          </a:p>
        </p:txBody>
      </p:sp>
      <p:sp>
        <p:nvSpPr>
          <p:cNvPr id="403" name="s403"/>
          <p:cNvSpPr/>
          <p:nvPr/>
        </p:nvSpPr>
        <p:spPr>
          <a:xfrm>
            <a:off x="6324600" y="3619500"/>
            <a:ext cx="4572000" cy="222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3992A"/>
            </a:solidFill>
          </a:ln>
        </p:spPr>
        <p:txBody>
          <a:bodyPr lIns="137160" tIns="73152" rIns="137160" bIns="73152" anchor="ctr"/>
          <a:lstStyle/>
          <a:p>
            <a:pPr algn="ctr"/>
            <a:r>
              <a:rPr lang="en-US" sz="1900" b="1" dirty="0">
                <a:solidFill>
                  <a:srgbClr val="83992A"/>
                </a:solidFill>
              </a:rPr>
              <a:t>Random Sampling</a:t>
            </a:r>
          </a:p>
          <a:p>
            <a:pPr marL="200025" indent="-200025"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Picks via weighted random across tokens</a:t>
            </a:r>
          </a:p>
          <a:p>
            <a:pPr marL="200025" indent="-200025"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More natural, less repetition</a:t>
            </a:r>
          </a:p>
          <a:p>
            <a:pPr marL="200025" indent="-200025"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Risk: may drift off-topic if too creative</a:t>
            </a:r>
          </a:p>
        </p:txBody>
      </p:sp>
    </p:spTree>
    <p:extLst>
      <p:ext uri="{BB962C8B-B14F-4D97-AF65-F5344CB8AC3E}">
        <p14:creationId xmlns:p14="http://schemas.microsoft.com/office/powerpoint/2010/main" val="1889263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02AE-AE08-0011-3632-BBB3CBEB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Top-k, Top-p &amp; Temperature</a:t>
            </a:r>
          </a:p>
        </p:txBody>
      </p:sp>
      <p:sp>
        <p:nvSpPr>
          <p:cNvPr id="421" name="s421"/>
          <p:cNvSpPr/>
          <p:nvPr/>
        </p:nvSpPr>
        <p:spPr>
          <a:xfrm>
            <a:off x="1397000" y="2984500"/>
            <a:ext cx="3048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09D"/>
            </a:solidFill>
          </a:ln>
        </p:spPr>
        <p:txBody>
          <a:bodyPr lIns="100000" tIns="91440" rIns="100000" bIns="73152" anchor="t"/>
          <a:lstStyle/>
          <a:p>
            <a:pPr algn="ctr"/>
            <a:r>
              <a:rPr lang="en-US" sz="2000" b="1" dirty="0">
                <a:solidFill>
                  <a:srgbClr val="44709D"/>
                </a:solidFill>
              </a:rPr>
              <a:t>Top-k</a:t>
            </a: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400" dirty="0">
                <a:solidFill>
                  <a:srgbClr val="212121"/>
                </a:solidFill>
              </a:rPr>
              <a:t>Sample only from the k highest-probability tokens. Higher k → more variety; k = 1 is greedy.</a:t>
            </a:r>
          </a:p>
        </p:txBody>
      </p:sp>
      <p:sp>
        <p:nvSpPr>
          <p:cNvPr id="422" name="s422"/>
          <p:cNvSpPr/>
          <p:nvPr/>
        </p:nvSpPr>
        <p:spPr>
          <a:xfrm>
            <a:off x="1625600" y="4889500"/>
            <a:ext cx="2590800" cy="4826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lIns="100000" tIns="91440" rIns="100000" bIns="73152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Limits to k best tokens</a:t>
            </a:r>
          </a:p>
        </p:txBody>
      </p:sp>
      <p:sp>
        <p:nvSpPr>
          <p:cNvPr id="423" name="s423"/>
          <p:cNvSpPr/>
          <p:nvPr/>
        </p:nvSpPr>
        <p:spPr>
          <a:xfrm>
            <a:off x="4673600" y="2984500"/>
            <a:ext cx="3048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770"/>
            </a:solidFill>
          </a:ln>
        </p:spPr>
        <p:txBody>
          <a:bodyPr lIns="100000" tIns="91440" rIns="100000" bIns="73152" anchor="t"/>
          <a:lstStyle/>
          <a:p>
            <a:pPr algn="ctr"/>
            <a:r>
              <a:rPr lang="en-US" sz="2000" b="1" dirty="0">
                <a:solidFill>
                  <a:srgbClr val="3C9770"/>
                </a:solidFill>
              </a:rPr>
              <a:t>Top-p</a:t>
            </a: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400" dirty="0">
                <a:solidFill>
                  <a:srgbClr val="212121"/>
                </a:solidFill>
              </a:rPr>
              <a:t>Sample from the smallest set whose cumulative probability ≤ p. Adapts to the distribution.</a:t>
            </a:r>
          </a:p>
        </p:txBody>
      </p:sp>
      <p:sp>
        <p:nvSpPr>
          <p:cNvPr id="424" name="s424"/>
          <p:cNvSpPr/>
          <p:nvPr/>
        </p:nvSpPr>
        <p:spPr>
          <a:xfrm>
            <a:off x="4902200" y="4889500"/>
            <a:ext cx="2590800" cy="482600"/>
          </a:xfrm>
          <a:prstGeom prst="roundRect">
            <a:avLst/>
          </a:prstGeom>
          <a:solidFill>
            <a:srgbClr val="2C7256"/>
          </a:solidFill>
          <a:ln>
            <a:noFill/>
          </a:ln>
        </p:spPr>
        <p:txBody>
          <a:bodyPr lIns="100000" tIns="91440" rIns="100000" bIns="73152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Cumulative probability ≤ p</a:t>
            </a:r>
          </a:p>
        </p:txBody>
      </p:sp>
      <p:sp>
        <p:nvSpPr>
          <p:cNvPr id="425" name="s425"/>
          <p:cNvSpPr/>
          <p:nvPr/>
        </p:nvSpPr>
        <p:spPr>
          <a:xfrm>
            <a:off x="7950200" y="2984500"/>
            <a:ext cx="3048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828"/>
            </a:solidFill>
          </a:ln>
        </p:spPr>
        <p:txBody>
          <a:bodyPr lIns="100000" tIns="91440" rIns="100000" bIns="73152" anchor="t"/>
          <a:lstStyle/>
          <a:p>
            <a:pPr algn="ctr"/>
            <a:r>
              <a:rPr lang="en-US" sz="2000" b="1" dirty="0">
                <a:solidFill>
                  <a:srgbClr val="D97828"/>
                </a:solidFill>
              </a:rPr>
              <a:t>Temperature</a:t>
            </a: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400" dirty="0">
                <a:solidFill>
                  <a:srgbClr val="212121"/>
                </a:solidFill>
              </a:rPr>
              <a:t>Reshapes the whole distribution. Low → focused &amp; repetitive; high → flat &amp; creative.</a:t>
            </a:r>
          </a:p>
        </p:txBody>
      </p:sp>
      <p:sp>
        <p:nvSpPr>
          <p:cNvPr id="426" name="s426"/>
          <p:cNvSpPr/>
          <p:nvPr/>
        </p:nvSpPr>
        <p:spPr>
          <a:xfrm>
            <a:off x="8178800" y="4889500"/>
            <a:ext cx="2590800" cy="482600"/>
          </a:xfrm>
          <a:prstGeom prst="roundRect">
            <a:avLst/>
          </a:prstGeom>
          <a:solidFill>
            <a:srgbClr val="B05E18"/>
          </a:solidFill>
          <a:ln>
            <a:noFill/>
          </a:ln>
        </p:spPr>
        <p:txBody>
          <a:bodyPr lIns="100000" tIns="91440" rIns="100000" bIns="73152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Start around 0.8</a:t>
            </a:r>
          </a:p>
        </p:txBody>
      </p:sp>
    </p:spTree>
    <p:extLst>
      <p:ext uri="{BB962C8B-B14F-4D97-AF65-F5344CB8AC3E}">
        <p14:creationId xmlns:p14="http://schemas.microsoft.com/office/powerpoint/2010/main" val="1156356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C05C-C686-BF06-006D-239CC79EE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Chapter 2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B55E4-2318-A9C9-6AAD-9E9DEDAE4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40000"/>
            <a:ext cx="9601196" cy="3365500"/>
          </a:xfrm>
        </p:spPr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44709D"/>
                </a:solidFill>
              </a:rPr>
              <a:t>What you learned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600" dirty="0"/>
              <a:t>Models read and write </a:t>
            </a:r>
            <a:r>
              <a:rPr lang="en-US" sz="1600" b="1" dirty="0"/>
              <a:t>tokens</a:t>
            </a:r>
            <a:r>
              <a:rPr lang="en-US" sz="1600" dirty="0"/>
              <a:t>; prompts have a clear structure: instruction, context, input data, output indicator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600" b="1" dirty="0"/>
              <a:t>In-context learning</a:t>
            </a:r>
            <a:r>
              <a:rPr lang="en-US" sz="1600" dirty="0"/>
              <a:t> (zero/one/few-shot) steers behavior for a single request — no weights change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600" dirty="0"/>
              <a:t>Clear prompts, </a:t>
            </a:r>
            <a:r>
              <a:rPr lang="en-US" sz="1600" b="1" dirty="0"/>
              <a:t>chain-of-thought</a:t>
            </a:r>
            <a:r>
              <a:rPr lang="en-US" sz="1600" dirty="0"/>
              <a:t>, and inference params (max tokens, top-k, top-p, temperature) shape the output</a:t>
            </a:r>
          </a:p>
          <a:p>
            <a:pPr>
              <a:buNone/>
            </a:pPr>
            <a:r>
              <a:rPr lang="en-US" sz="1800" b="1" dirty="0">
                <a:solidFill>
                  <a:srgbClr val="83992A"/>
                </a:solidFill>
              </a:rPr>
              <a:t>Coming up next</a:t>
            </a:r>
          </a:p>
          <a:p>
            <a:pPr marL="285750" indent="-285750">
              <a:lnSpc>
                <a:spcPts val="2000"/>
              </a:lnSpc>
              <a:buFont typeface="Arial"/>
              <a:buChar char="•"/>
            </a:pPr>
            <a:r>
              <a:rPr lang="en-US" sz="1600" dirty="0"/>
              <a:t>These techniques don’t change model weights — next we </a:t>
            </a:r>
            <a:r>
              <a:rPr lang="en-US" sz="1600" b="1" dirty="0"/>
              <a:t>fine-tune</a:t>
            </a:r>
            <a:r>
              <a:rPr lang="en-US" sz="1600" dirty="0"/>
              <a:t> models on your own data</a:t>
            </a:r>
          </a:p>
        </p:txBody>
      </p:sp>
    </p:spTree>
    <p:extLst>
      <p:ext uri="{BB962C8B-B14F-4D97-AF65-F5344CB8AC3E}">
        <p14:creationId xmlns:p14="http://schemas.microsoft.com/office/powerpoint/2010/main" val="25795004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53EE06-41E8-44B0-96A0-BBFB4BA1E9D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a44fc2d-03e2-4b1d-9d5f-4650673797a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170</TotalTime>
  <Words>1573</Words>
  <Application>Microsoft Office PowerPoint</Application>
  <PresentationFormat>Widescreen</PresentationFormat>
  <Paragraphs>163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Garamond</vt:lpstr>
      <vt:lpstr>Organic</vt:lpstr>
      <vt:lpstr>Advanced Generative AI</vt:lpstr>
      <vt:lpstr>Objectives of the Course</vt:lpstr>
      <vt:lpstr>Prerequisites of the course</vt:lpstr>
      <vt:lpstr>Use Cases and Tasks</vt:lpstr>
      <vt:lpstr>Foundational Models and Model Hubs</vt:lpstr>
      <vt:lpstr>Generative AI lifecycle</vt:lpstr>
      <vt:lpstr>AWS for Generative AI</vt:lpstr>
      <vt:lpstr>Amazon Bedrock </vt:lpstr>
      <vt:lpstr>Amazon SageMaker JumpStart</vt:lpstr>
      <vt:lpstr>Why Generative AI on AWS?</vt:lpstr>
      <vt:lpstr>Building Generative AI Applications on AWS</vt:lpstr>
      <vt:lpstr>PowerPoint Presentation</vt:lpstr>
      <vt:lpstr>Where We Are: Recap &amp; What's Next</vt:lpstr>
      <vt:lpstr>Chapter 2</vt:lpstr>
      <vt:lpstr>Prompts &amp; Completions</vt:lpstr>
      <vt:lpstr>Tokens</vt:lpstr>
      <vt:lpstr>Prompt Engineering</vt:lpstr>
      <vt:lpstr>Prompt Structure: The Four Parts</vt:lpstr>
      <vt:lpstr>In-Context Learning</vt:lpstr>
      <vt:lpstr>In-Context Learning: Tips &amp; Limits</vt:lpstr>
      <vt:lpstr>Prompt-Engineering Best Practices</vt:lpstr>
      <vt:lpstr>Hallucinations &amp; Chain-of-Thought</vt:lpstr>
      <vt:lpstr>Inference Parameters: Sampling</vt:lpstr>
      <vt:lpstr>Top-k, Top-p &amp; Temperature</vt:lpstr>
      <vt:lpstr>Chapter 2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dishant gupta</dc:creator>
  <cp:lastModifiedBy>dishant gupta</cp:lastModifiedBy>
  <cp:revision>1</cp:revision>
  <dcterms:created xsi:type="dcterms:W3CDTF">2026-05-31T13:55:11Z</dcterms:created>
  <dcterms:modified xsi:type="dcterms:W3CDTF">2026-05-31T16:45:38Z</dcterms:modified>
</cp:coreProperties>
</file>