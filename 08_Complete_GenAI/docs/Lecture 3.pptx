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9" r:id="rId11"/>
    <p:sldId id="270" r:id="rId12"/>
    <p:sldId id="272" r:id="rId13"/>
    <p:sldId id="273" r:id="rId14"/>
    <p:sldId id="275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37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2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7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76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2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42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59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7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69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5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0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02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09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7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86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153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5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7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80C858-6F51-4810-924C-6F794DA3540C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DA7293-F15F-4C25-B81F-B40324BFE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9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D031-2FFA-CFD3-C1BC-69BBFE997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Lecture 3 (Advanced Generative 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8A6D-0ACB-BA88-3BCC-EB4EE0734E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Unisole empower</a:t>
            </a:r>
          </a:p>
        </p:txBody>
      </p:sp>
    </p:spTree>
    <p:extLst>
      <p:ext uri="{BB962C8B-B14F-4D97-AF65-F5344CB8AC3E}">
        <p14:creationId xmlns:p14="http://schemas.microsoft.com/office/powerpoint/2010/main" val="304178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1B01-2527-2395-DF8E-41C09A1F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 of Lecture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C821-5BA3-1F9B-8473-5B58495B4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2000" dirty="0"/>
              <a:t>Understand why training large foundation models runs into GPU memory limits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Apply </a:t>
            </a:r>
            <a:r>
              <a:rPr lang="en-IN" sz="2000" b="1" dirty="0"/>
              <a:t>quantization</a:t>
            </a:r>
            <a:r>
              <a:rPr lang="en-IN" sz="2000" dirty="0"/>
              <a:t> to reduce required GPU RAM using lower-precision data types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Optimize the self-attention layers with </a:t>
            </a:r>
            <a:r>
              <a:rPr lang="en-IN" sz="2000" b="1" dirty="0"/>
              <a:t>FlashAttention</a:t>
            </a:r>
            <a:r>
              <a:rPr lang="en-IN" sz="2000" dirty="0"/>
              <a:t> and </a:t>
            </a:r>
            <a:r>
              <a:rPr lang="en-IN" sz="2000" b="1" dirty="0"/>
              <a:t>grouped-query attention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Scale training across many GPUs with </a:t>
            </a:r>
            <a:r>
              <a:rPr lang="en-IN" sz="2000" b="1" dirty="0"/>
              <a:t>DDP</a:t>
            </a:r>
            <a:r>
              <a:rPr lang="en-IN" sz="2000" dirty="0"/>
              <a:t> and </a:t>
            </a:r>
            <a:r>
              <a:rPr lang="en-IN" sz="2000" b="1" dirty="0"/>
              <a:t>FSDP</a:t>
            </a:r>
            <a:r>
              <a:rPr lang="en-IN" sz="2000" dirty="0"/>
              <a:t> distributed strategies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Run distributed training on AWS with Amazon SageMaker, the Neuron SDK and AWS Trainium</a:t>
            </a:r>
          </a:p>
        </p:txBody>
      </p:sp>
    </p:spTree>
    <p:extLst>
      <p:ext uri="{BB962C8B-B14F-4D97-AF65-F5344CB8AC3E}">
        <p14:creationId xmlns:p14="http://schemas.microsoft.com/office/powerpoint/2010/main" val="253028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F60D-D586-BD69-0DEA-CE9BD11B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Memory 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E9E5-CD81-599F-DA61-6D7279A96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large foundation models run out of GPU memory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58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22DC-5401-679E-14D9-68FC0867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Models Run Out of Memory</a:t>
            </a:r>
            <a:endParaRPr lang="en-I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4859DB-2385-44FE-9BD0-A09454461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04932"/>
              </p:ext>
            </p:extLst>
          </p:nvPr>
        </p:nvGraphicFramePr>
        <p:xfrm>
          <a:off x="1295400" y="3149600"/>
          <a:ext cx="5461000" cy="253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3497337248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9675580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Memory state (per parameter)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Bytes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228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Model parameters (weights)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21256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Adam optimizer (2 states)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6655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Gradients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298121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Activations + temp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553404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TOTAL to train</a:t>
                      </a:r>
                    </a:p>
                  </a:txBody>
                  <a:tcPr anchor="ctr">
                    <a:solidFill>
                      <a:srgbClr val="DEB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24</a:t>
                      </a:r>
                    </a:p>
                  </a:txBody>
                  <a:tcPr anchor="ctr">
                    <a:solidFill>
                      <a:srgbClr val="DEB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4928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6630D0F-D962-413E-A613-F49B413906F5}"/>
              </a:ext>
            </a:extLst>
          </p:cNvPr>
          <p:cNvSpPr txBox="1"/>
          <p:nvPr/>
        </p:nvSpPr>
        <p:spPr>
          <a:xfrm>
            <a:off x="7112000" y="2870200"/>
            <a:ext cx="381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44709D"/>
                </a:solidFill>
              </a:rPr>
              <a:t>GPU RAM for a 1B-param model (FP32)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28232-1A7C-4952-88EE-423470319464}"/>
              </a:ext>
            </a:extLst>
          </p:cNvPr>
          <p:cNvSpPr txBox="1"/>
          <p:nvPr/>
        </p:nvSpPr>
        <p:spPr>
          <a:xfrm>
            <a:off x="7429500" y="5892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/>
              <a:t>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D927D-90AF-47DB-87B6-E61A9BDEEA96}"/>
              </a:ext>
            </a:extLst>
          </p:cNvPr>
          <p:cNvSpPr txBox="1"/>
          <p:nvPr/>
        </p:nvSpPr>
        <p:spPr>
          <a:xfrm>
            <a:off x="9207500" y="5892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/>
              <a:t>Load + Train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E09BB0-CCE3-487F-914F-A6458AD977E6}"/>
              </a:ext>
            </a:extLst>
          </p:cNvPr>
          <p:cNvSpPr/>
          <p:nvPr/>
        </p:nvSpPr>
        <p:spPr>
          <a:xfrm>
            <a:off x="7620000" y="5651500"/>
            <a:ext cx="1143000" cy="317500"/>
          </a:xfrm>
          <a:prstGeom prst="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6C2CBE-64BA-4510-B8E6-C661A565AE71}"/>
              </a:ext>
            </a:extLst>
          </p:cNvPr>
          <p:cNvSpPr txBox="1"/>
          <p:nvPr/>
        </p:nvSpPr>
        <p:spPr>
          <a:xfrm>
            <a:off x="7429500" y="53213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3C9770"/>
                </a:solidFill>
              </a:rPr>
              <a:t>4 GB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F483E-E0B5-4082-A606-7585D706E3DD}"/>
              </a:ext>
            </a:extLst>
          </p:cNvPr>
          <p:cNvSpPr/>
          <p:nvPr/>
        </p:nvSpPr>
        <p:spPr>
          <a:xfrm>
            <a:off x="9398000" y="4064000"/>
            <a:ext cx="1143000" cy="19050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683F4-BDBF-4FED-8BD8-5E079F876400}"/>
              </a:ext>
            </a:extLst>
          </p:cNvPr>
          <p:cNvSpPr txBox="1"/>
          <p:nvPr/>
        </p:nvSpPr>
        <p:spPr>
          <a:xfrm>
            <a:off x="9207500" y="3733800"/>
            <a:ext cx="1524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A23C33"/>
                </a:solidFill>
              </a:rPr>
              <a:t>24 GB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4CD53E-8B3A-4805-BA14-A93C066A1FFB}"/>
              </a:ext>
            </a:extLst>
          </p:cNvPr>
          <p:cNvSpPr txBox="1"/>
          <p:nvPr/>
        </p:nvSpPr>
        <p:spPr>
          <a:xfrm>
            <a:off x="8318500" y="4572000"/>
            <a:ext cx="1524000" cy="381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500" b="1">
                <a:solidFill>
                  <a:srgbClr val="D97828"/>
                </a:solidFill>
              </a:rPr>
              <a:t>≈ 6× more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39AD7-07AD-48F4-9FE2-724882E6F990}"/>
              </a:ext>
            </a:extLst>
          </p:cNvPr>
          <p:cNvSpPr txBox="1"/>
          <p:nvPr/>
        </p:nvSpPr>
        <p:spPr>
          <a:xfrm>
            <a:off x="1295400" y="24892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3C9770"/>
                </a:solidFill>
              </a:rPr>
              <a:t>A single FP32 parameter = 4 bytes. Loading a 1B-parameter model needs 4 GB — but training it needs ~6× more.</a:t>
            </a:r>
            <a:endParaRPr lang="en-IN" sz="1500" i="1">
              <a:solidFill>
                <a:srgbClr val="3C97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56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8925-66D9-C866-9669-5A8CAB29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AWS Trainium — Purpose-Built ML Accelerators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144E6-A407-4384-9315-CCAFD9E2E6D9}"/>
              </a:ext>
            </a:extLst>
          </p:cNvPr>
          <p:cNvSpPr txBox="1"/>
          <p:nvPr/>
        </p:nvSpPr>
        <p:spPr>
          <a:xfrm>
            <a:off x="1295400" y="2540000"/>
            <a:ext cx="5461000" cy="19236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700" dirty="0"/>
              <a:t>NVIDIA A100 / H100 GPUs support only up to </a:t>
            </a:r>
            <a:r>
              <a:rPr lang="en-IN" sz="1700" b="1" dirty="0"/>
              <a:t>80 GB</a:t>
            </a:r>
            <a:r>
              <a:rPr lang="en-IN" sz="1700" dirty="0"/>
              <a:t> of GPU RAM — a hard ceiling for very large models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AWS </a:t>
            </a:r>
            <a:r>
              <a:rPr lang="en-IN" sz="1700" b="1" dirty="0"/>
              <a:t>Trainium</a:t>
            </a:r>
            <a:r>
              <a:rPr lang="en-IN" sz="1700" dirty="0"/>
              <a:t> is a purpose-built accelerator for cost-efficient training of 100B+ parameter models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Accessed through the </a:t>
            </a:r>
            <a:r>
              <a:rPr lang="en-IN" sz="1700" b="1" dirty="0"/>
              <a:t>Trn</a:t>
            </a:r>
            <a:r>
              <a:rPr lang="en-IN" sz="1700" dirty="0"/>
              <a:t> instance family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Optimized for </a:t>
            </a:r>
            <a:r>
              <a:rPr lang="en-IN" sz="1700" b="1" dirty="0"/>
              <a:t>quantization</a:t>
            </a:r>
            <a:r>
              <a:rPr lang="en-IN" sz="1700" dirty="0"/>
              <a:t> and </a:t>
            </a:r>
            <a:r>
              <a:rPr lang="en-IN" sz="1700" b="1" dirty="0"/>
              <a:t>distributed training</a:t>
            </a:r>
            <a:r>
              <a:rPr lang="en-IN" sz="1700" dirty="0"/>
              <a:t>, with broad data-type support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529E4B-CECB-440C-BF0C-258A9E1E638A}"/>
              </a:ext>
            </a:extLst>
          </p:cNvPr>
          <p:cNvSpPr/>
          <p:nvPr/>
        </p:nvSpPr>
        <p:spPr>
          <a:xfrm>
            <a:off x="7239000" y="2667000"/>
            <a:ext cx="3683000" cy="2921000"/>
          </a:xfrm>
          <a:prstGeom prst="round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31128-CEE7-4295-81DD-BD436986702A}"/>
              </a:ext>
            </a:extLst>
          </p:cNvPr>
          <p:cNvSpPr txBox="1"/>
          <p:nvPr/>
        </p:nvSpPr>
        <p:spPr>
          <a:xfrm>
            <a:off x="7429500" y="2870200"/>
            <a:ext cx="3302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Largest Trn instance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9EBE1-0C2F-4514-AC89-0555680E9244}"/>
              </a:ext>
            </a:extLst>
          </p:cNvPr>
          <p:cNvSpPr txBox="1"/>
          <p:nvPr/>
        </p:nvSpPr>
        <p:spPr>
          <a:xfrm>
            <a:off x="7429500" y="3403600"/>
            <a:ext cx="3302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34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23A1B-CD01-4817-A1CE-E59E443FB5CB}"/>
              </a:ext>
            </a:extLst>
          </p:cNvPr>
          <p:cNvSpPr txBox="1"/>
          <p:nvPr/>
        </p:nvSpPr>
        <p:spPr>
          <a:xfrm>
            <a:off x="7429500" y="3962400"/>
            <a:ext cx="330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EAF5EF"/>
                </a:solidFill>
              </a:rPr>
              <a:t>AWS Trainium chips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D0074-241D-47C9-AFDF-5730CE7AAF66}"/>
              </a:ext>
            </a:extLst>
          </p:cNvPr>
          <p:cNvSpPr txBox="1"/>
          <p:nvPr/>
        </p:nvSpPr>
        <p:spPr>
          <a:xfrm>
            <a:off x="7429500" y="4445000"/>
            <a:ext cx="3302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3400" b="1">
                <a:solidFill>
                  <a:srgbClr val="FFFFFF"/>
                </a:solidFill>
              </a:rPr>
              <a:t>512 GB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394FE-07BA-4E23-A739-F8C0482ADCCA}"/>
              </a:ext>
            </a:extLst>
          </p:cNvPr>
          <p:cNvSpPr txBox="1"/>
          <p:nvPr/>
        </p:nvSpPr>
        <p:spPr>
          <a:xfrm>
            <a:off x="7429500" y="5003800"/>
            <a:ext cx="3302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EAF5EF"/>
                </a:solidFill>
              </a:rPr>
              <a:t>shared accelerator memory</a:t>
            </a:r>
          </a:p>
        </p:txBody>
      </p:sp>
    </p:spTree>
    <p:extLst>
      <p:ext uri="{BB962C8B-B14F-4D97-AF65-F5344CB8AC3E}">
        <p14:creationId xmlns:p14="http://schemas.microsoft.com/office/powerpoint/2010/main" val="204414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D137-0AF7-7EE7-CD8C-9C1999FB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Types &amp; Numerical Precision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32623-5CED-4206-D347-9A7FE52B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numbers are stored — and why precision is the key to saving memory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9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BEB8-D587-1FF4-32CB-63A0ED889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Data Types for Quantization</a:t>
            </a:r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B9D6D1-8728-44BF-82CE-BF688EF30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823415"/>
              </p:ext>
            </p:extLst>
          </p:nvPr>
        </p:nvGraphicFramePr>
        <p:xfrm>
          <a:off x="1143000" y="2540000"/>
          <a:ext cx="9906000" cy="292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67221680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477405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1976024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5478314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52989635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259235044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Data type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Total bits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Exponent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Fraction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Bytes</a:t>
                      </a:r>
                    </a:p>
                  </a:txBody>
                  <a:tcPr anchor="ctr">
                    <a:solidFill>
                      <a:srgbClr val="4470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426679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FP32  (full)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32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23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4</a:t>
                      </a:r>
                    </a:p>
                  </a:txBody>
                  <a:tcPr anchor="ctr">
                    <a:solidFill>
                      <a:srgbClr val="EFF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00243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FP16  (half)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16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5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10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988510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BF16  (bfloat16)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16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2</a:t>
                      </a:r>
                    </a:p>
                  </a:txBody>
                  <a:tcPr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1776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FP8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 (configurable)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—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B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7639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INT8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8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—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7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1</a:t>
                      </a:r>
                    </a:p>
                  </a:txBody>
                  <a:tcPr anchor="ctr">
                    <a:solidFill>
                      <a:srgbClr val="F6E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2300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A2FA59-1803-432E-A5AD-81997F2CE4C2}"/>
              </a:ext>
            </a:extLst>
          </p:cNvPr>
          <p:cNvSpPr txBox="1"/>
          <p:nvPr/>
        </p:nvSpPr>
        <p:spPr>
          <a:xfrm>
            <a:off x="1143000" y="5651500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44709D"/>
                </a:solidFill>
              </a:rPr>
              <a:t>Fewer bits → less memory. BF16 keeps FP32's 8-bit exponent (same dynamic range) — that's why it's preferred over FP16 for training.</a:t>
            </a:r>
            <a:endParaRPr lang="en-IN" sz="1500" i="1">
              <a:solidFill>
                <a:srgbClr val="44709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2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A69F-20EC-C3A4-27CF-C875237B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Quantization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F2B1-A4E4-55E9-EB79-73027815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Reducing precision to shrink the memory footprint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44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76A4-1505-D8D5-C15D-DB5A5F79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Quantization Saves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E7002-E514-468F-9B38-A5308E84D05F}"/>
              </a:ext>
            </a:extLst>
          </p:cNvPr>
          <p:cNvSpPr txBox="1"/>
          <p:nvPr/>
        </p:nvSpPr>
        <p:spPr>
          <a:xfrm>
            <a:off x="1295400" y="2540000"/>
            <a:ext cx="4953000" cy="22006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IN" sz="1700" b="1" dirty="0">
                <a:solidFill>
                  <a:srgbClr val="83992A"/>
                </a:solidFill>
              </a:rPr>
              <a:t>The mechanism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Compute a scaling factor between the source and target ranges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Project high-precision values into the lower-precision set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Store the result in reduced precision → less memory, faster training, lower cost</a:t>
            </a:r>
          </a:p>
          <a:p>
            <a:pPr>
              <a:buNone/>
            </a:pPr>
            <a:endParaRPr lang="en-IN" sz="800" dirty="0"/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FP32 → 16-bit: </a:t>
            </a:r>
            <a:r>
              <a:rPr lang="en-IN" sz="1600" b="1" dirty="0"/>
              <a:t>50% memory saved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FP32 → INT8: </a:t>
            </a:r>
            <a:r>
              <a:rPr lang="en-IN" sz="1600" b="1" dirty="0"/>
              <a:t>75% memory saved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9C99C-FE92-4A13-95B0-27BAE09B3E7E}"/>
              </a:ext>
            </a:extLst>
          </p:cNvPr>
          <p:cNvSpPr txBox="1"/>
          <p:nvPr/>
        </p:nvSpPr>
        <p:spPr>
          <a:xfrm>
            <a:off x="6604000" y="2489200"/>
            <a:ext cx="431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44709D"/>
                </a:solidFill>
              </a:rPr>
              <a:t>GPU RAM to load a 1B-param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D9083B-BF0B-4302-B1BE-FAD480499E29}"/>
              </a:ext>
            </a:extLst>
          </p:cNvPr>
          <p:cNvSpPr/>
          <p:nvPr/>
        </p:nvSpPr>
        <p:spPr>
          <a:xfrm>
            <a:off x="6858000" y="3302000"/>
            <a:ext cx="1016000" cy="25400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423D9-0D14-4FCE-A96B-193FBFFDCED6}"/>
              </a:ext>
            </a:extLst>
          </p:cNvPr>
          <p:cNvSpPr txBox="1"/>
          <p:nvPr/>
        </p:nvSpPr>
        <p:spPr>
          <a:xfrm>
            <a:off x="6604000" y="2997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A23C33"/>
                </a:solidFill>
              </a:rPr>
              <a:t>4 GB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C60B9-383D-4DAC-A357-739004695503}"/>
              </a:ext>
            </a:extLst>
          </p:cNvPr>
          <p:cNvSpPr txBox="1"/>
          <p:nvPr/>
        </p:nvSpPr>
        <p:spPr>
          <a:xfrm>
            <a:off x="6604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FP32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6D03A-4AFE-4CC1-9FB2-88C859D9C8C2}"/>
              </a:ext>
            </a:extLst>
          </p:cNvPr>
          <p:cNvSpPr/>
          <p:nvPr/>
        </p:nvSpPr>
        <p:spPr>
          <a:xfrm>
            <a:off x="8382000" y="4572000"/>
            <a:ext cx="1016000" cy="1270000"/>
          </a:xfrm>
          <a:prstGeom prst="rect">
            <a:avLst/>
          </a:prstGeom>
          <a:solidFill>
            <a:srgbClr val="2E755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B3DCD-65FD-4BB3-AFE3-8D0CC2E5774D}"/>
              </a:ext>
            </a:extLst>
          </p:cNvPr>
          <p:cNvSpPr txBox="1"/>
          <p:nvPr/>
        </p:nvSpPr>
        <p:spPr>
          <a:xfrm>
            <a:off x="8128000" y="4267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3C9770"/>
                </a:solidFill>
              </a:rPr>
              <a:t>2 GB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1242C-FE2A-4655-A073-7A270B734E3F}"/>
              </a:ext>
            </a:extLst>
          </p:cNvPr>
          <p:cNvSpPr txBox="1"/>
          <p:nvPr/>
        </p:nvSpPr>
        <p:spPr>
          <a:xfrm>
            <a:off x="8128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FP16/BF16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9F193-B3C2-47F1-A77E-D4A510911587}"/>
              </a:ext>
            </a:extLst>
          </p:cNvPr>
          <p:cNvSpPr txBox="1"/>
          <p:nvPr/>
        </p:nvSpPr>
        <p:spPr>
          <a:xfrm>
            <a:off x="8128000" y="6172200"/>
            <a:ext cx="152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300" b="1">
                <a:solidFill>
                  <a:srgbClr val="A23C33"/>
                </a:solidFill>
              </a:rPr>
              <a:t>−50%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F6A11E-41C6-415F-92DE-555764A5746D}"/>
              </a:ext>
            </a:extLst>
          </p:cNvPr>
          <p:cNvSpPr/>
          <p:nvPr/>
        </p:nvSpPr>
        <p:spPr>
          <a:xfrm>
            <a:off x="9906000" y="5207000"/>
            <a:ext cx="1016000" cy="635000"/>
          </a:xfrm>
          <a:prstGeom prst="rect">
            <a:avLst/>
          </a:prstGeom>
          <a:solidFill>
            <a:srgbClr val="5F6F1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D7D6E-3AF2-48E2-8503-4364E84DEE26}"/>
              </a:ext>
            </a:extLst>
          </p:cNvPr>
          <p:cNvSpPr txBox="1"/>
          <p:nvPr/>
        </p:nvSpPr>
        <p:spPr>
          <a:xfrm>
            <a:off x="9652000" y="49022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83992A"/>
                </a:solidFill>
              </a:rPr>
              <a:t>1 GB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B1576-1748-4794-BDC6-D01918B2BD24}"/>
              </a:ext>
            </a:extLst>
          </p:cNvPr>
          <p:cNvSpPr txBox="1"/>
          <p:nvPr/>
        </p:nvSpPr>
        <p:spPr>
          <a:xfrm>
            <a:off x="9652000" y="5892800"/>
            <a:ext cx="152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/>
              <a:t>INT8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4A2CE-2D51-4BB1-A181-A1192B27783C}"/>
              </a:ext>
            </a:extLst>
          </p:cNvPr>
          <p:cNvSpPr txBox="1"/>
          <p:nvPr/>
        </p:nvSpPr>
        <p:spPr>
          <a:xfrm>
            <a:off x="9652000" y="6172200"/>
            <a:ext cx="1524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300" b="1">
                <a:solidFill>
                  <a:srgbClr val="A23C33"/>
                </a:solidFill>
              </a:rPr>
              <a:t>−75%</a:t>
            </a:r>
          </a:p>
        </p:txBody>
      </p:sp>
    </p:spTree>
    <p:extLst>
      <p:ext uri="{BB962C8B-B14F-4D97-AF65-F5344CB8AC3E}">
        <p14:creationId xmlns:p14="http://schemas.microsoft.com/office/powerpoint/2010/main" val="4457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6636-FD97-F3CE-919E-66C1ED55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Optimizing the Self-Attention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35964-5218-EFD6-756F-D622B09044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IN" sz="1900" b="1" dirty="0">
                <a:solidFill>
                  <a:srgbClr val="83992A"/>
                </a:solidFill>
              </a:rPr>
              <a:t>FlashAttention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Self-attention scales </a:t>
            </a:r>
            <a:r>
              <a:rPr lang="en-IN" sz="1500" b="1" dirty="0"/>
              <a:t>quadratically O(n²)</a:t>
            </a:r>
            <a:r>
              <a:rPr lang="en-IN" sz="1500" dirty="0"/>
              <a:t> with input tokens — the bottleneck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Cuts reads/writes between slow GPU HBM and fast on-chip SRAM</a:t>
            </a:r>
          </a:p>
          <a:p>
            <a:pPr marL="285750" indent="-285750">
              <a:buFont typeface="Arial"/>
              <a:buChar char="•"/>
            </a:pPr>
            <a:r>
              <a:rPr lang="en-IN" sz="1500" b="1" dirty="0"/>
              <a:t>2–4× faster</a:t>
            </a:r>
            <a:r>
              <a:rPr lang="en-IN" sz="1500" dirty="0"/>
              <a:t>, </a:t>
            </a:r>
            <a:r>
              <a:rPr lang="en-IN" sz="1500" b="1" dirty="0"/>
              <a:t>10–20× less memory</a:t>
            </a:r>
            <a:r>
              <a:rPr lang="en-IN" sz="1500" dirty="0"/>
              <a:t>; reduces O(n²) → </a:t>
            </a:r>
            <a:r>
              <a:rPr lang="en-IN" sz="1500" b="1" dirty="0"/>
              <a:t>O(n)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Enables much longer input sequences / larger context windows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46EC1-66B8-9BD0-CF91-829EC6A48D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IN" sz="1900" b="1" dirty="0">
                <a:solidFill>
                  <a:srgbClr val="44709D"/>
                </a:solidFill>
              </a:rPr>
              <a:t>Grouped-Query Attention (GQA)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Shares one key (K) and value (V) head per </a:t>
            </a:r>
            <a:r>
              <a:rPr lang="en-IN" sz="1500" b="1" dirty="0"/>
              <a:t>group</a:t>
            </a:r>
            <a:r>
              <a:rPr lang="en-IN" sz="1500" dirty="0"/>
              <a:t> of query (Q) heads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Fewer K/V heads → less memory and fewer memory reads/writes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Especially useful for long input sequences</a:t>
            </a:r>
          </a:p>
          <a:p>
            <a:pPr marL="285750" indent="-285750">
              <a:buFont typeface="Arial"/>
              <a:buChar char="•"/>
            </a:pPr>
            <a:r>
              <a:rPr lang="en-IN" sz="1500" b="1" dirty="0"/>
              <a:t>Llama 2</a:t>
            </a:r>
            <a:r>
              <a:rPr lang="en-IN" sz="1500" dirty="0"/>
              <a:t> uses GQA to double the context window to </a:t>
            </a:r>
            <a:r>
              <a:rPr lang="en-IN" sz="1500" b="1" dirty="0"/>
              <a:t>4,096 tokens</a:t>
            </a:r>
          </a:p>
        </p:txBody>
      </p:sp>
    </p:spTree>
    <p:extLst>
      <p:ext uri="{BB962C8B-B14F-4D97-AF65-F5344CB8AC3E}">
        <p14:creationId xmlns:p14="http://schemas.microsoft.com/office/powerpoint/2010/main" val="414040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EA7D-0F03-E521-6ED1-DEAE8A8A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Distributed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E7C66-3AEE-5739-1FA0-4492157B9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Scaling training across hundreds or thousands of GPUs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5F48-3E45-EFE1-1FD8-AA9E4CAD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DDP vs. FSDP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7026A-4F9D-C263-14BF-0689BFC40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sz="2000" b="1" dirty="0">
                <a:solidFill>
                  <a:srgbClr val="3C9770"/>
                </a:solidFill>
              </a:rPr>
              <a:t>DDP — Distributed Data Parallel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2E6B1-3462-284F-6BE7-927FCC1623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500" dirty="0"/>
              <a:t>Use when the model </a:t>
            </a:r>
            <a:r>
              <a:rPr lang="en-IN" sz="1500" b="1" dirty="0"/>
              <a:t>fits on a single GPU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A full copy of the model is loaded onto every GPU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Data is split into batches across GPUs and processed in parallel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Gradients are synchronized (averaged) after each step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8E9EA-5E9F-E24C-FE0A-D99CBDF9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buNone/>
            </a:pPr>
            <a:r>
              <a:rPr lang="en-IN" sz="2000" b="1" dirty="0">
                <a:solidFill>
                  <a:srgbClr val="A23C33"/>
                </a:solidFill>
              </a:rPr>
              <a:t>FSDP — Fully Sharded Data Parallel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AB4A8-7F8B-C3C8-9AEC-7708911CF5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500" dirty="0"/>
              <a:t>Use when the model is </a:t>
            </a:r>
            <a:r>
              <a:rPr lang="en-IN" sz="1500" b="1" dirty="0"/>
              <a:t>too large for one GPU</a:t>
            </a:r>
            <a:r>
              <a:rPr lang="en-IN" sz="1500" dirty="0"/>
              <a:t> (even after quantization)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Shards parameters, gradients and optimizer states across GPUs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Full layers are rebuilt on demand for each forward/backward pass</a:t>
            </a:r>
          </a:p>
          <a:p>
            <a:pPr marL="285750" indent="-285750">
              <a:buFont typeface="Arial"/>
              <a:buChar char="•"/>
            </a:pPr>
            <a:r>
              <a:rPr lang="en-IN" sz="1500" dirty="0"/>
              <a:t>Based on the </a:t>
            </a:r>
            <a:r>
              <a:rPr lang="en-IN" sz="1500" b="1" dirty="0"/>
              <a:t>ZeRO</a:t>
            </a:r>
            <a:r>
              <a:rPr lang="en-IN" sz="1500" dirty="0"/>
              <a:t> (zero redundancy optimizer) paper</a:t>
            </a:r>
          </a:p>
        </p:txBody>
      </p:sp>
    </p:spTree>
    <p:extLst>
      <p:ext uri="{BB962C8B-B14F-4D97-AF65-F5344CB8AC3E}">
        <p14:creationId xmlns:p14="http://schemas.microsoft.com/office/powerpoint/2010/main" val="106856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CD39-C344-9CF5-ED79-F8129A31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FSDP &amp; the Three ZeRO Stages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6A498-B251-4A1C-BFFA-44D3BA98E46E}"/>
              </a:ext>
            </a:extLst>
          </p:cNvPr>
          <p:cNvSpPr txBox="1"/>
          <p:nvPr/>
        </p:nvSpPr>
        <p:spPr>
          <a:xfrm>
            <a:off x="1143000" y="2413000"/>
            <a:ext cx="990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3C9770"/>
                </a:solidFill>
              </a:rPr>
              <a:t>ZeRO (Zero Redundancy Optimizer) progressively shards more of the training state across GPUs to cut memory.</a:t>
            </a:r>
            <a:endParaRPr lang="en-IN" sz="1500" i="1">
              <a:solidFill>
                <a:srgbClr val="3C977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F9CC95-6FC5-41CE-A860-D576E5BFA4EC}"/>
              </a:ext>
            </a:extLst>
          </p:cNvPr>
          <p:cNvSpPr/>
          <p:nvPr/>
        </p:nvSpPr>
        <p:spPr>
          <a:xfrm>
            <a:off x="1143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DEB34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123EF-6A18-4AF1-8E1E-E945F814A542}"/>
              </a:ext>
            </a:extLst>
          </p:cNvPr>
          <p:cNvSpPr/>
          <p:nvPr/>
        </p:nvSpPr>
        <p:spPr>
          <a:xfrm>
            <a:off x="1143000" y="3111500"/>
            <a:ext cx="3048000" cy="584200"/>
          </a:xfrm>
          <a:prstGeom prst="rect">
            <a:avLst/>
          </a:prstGeom>
          <a:solidFill>
            <a:srgbClr val="DEB3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303F6-A71E-4940-97AB-05615877E618}"/>
              </a:ext>
            </a:extLst>
          </p:cNvPr>
          <p:cNvSpPr txBox="1"/>
          <p:nvPr/>
        </p:nvSpPr>
        <p:spPr>
          <a:xfrm>
            <a:off x="1143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98C22-8AC8-4395-9A86-B9ACD9BBB03F}"/>
              </a:ext>
            </a:extLst>
          </p:cNvPr>
          <p:cNvSpPr txBox="1"/>
          <p:nvPr/>
        </p:nvSpPr>
        <p:spPr>
          <a:xfrm>
            <a:off x="1320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/>
              <a:t>Shards optimizer states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3E6F4-C92D-4BF7-9A1E-3CCA97D08C12}"/>
              </a:ext>
            </a:extLst>
          </p:cNvPr>
          <p:cNvSpPr txBox="1"/>
          <p:nvPr/>
        </p:nvSpPr>
        <p:spPr>
          <a:xfrm>
            <a:off x="1270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DEB340"/>
                </a:solidFill>
              </a:rPr>
              <a:t>up to 4×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48309-E372-440B-99E0-E493CDE486A2}"/>
              </a:ext>
            </a:extLst>
          </p:cNvPr>
          <p:cNvSpPr txBox="1"/>
          <p:nvPr/>
        </p:nvSpPr>
        <p:spPr>
          <a:xfrm>
            <a:off x="1270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memory reduction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FD7D76-DC15-4AAC-80E0-E25E8B723725}"/>
              </a:ext>
            </a:extLst>
          </p:cNvPr>
          <p:cNvSpPr/>
          <p:nvPr/>
        </p:nvSpPr>
        <p:spPr>
          <a:xfrm>
            <a:off x="4445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D97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2E1176-1A43-460D-A061-CD35762181B9}"/>
              </a:ext>
            </a:extLst>
          </p:cNvPr>
          <p:cNvSpPr/>
          <p:nvPr/>
        </p:nvSpPr>
        <p:spPr>
          <a:xfrm>
            <a:off x="4445000" y="3111500"/>
            <a:ext cx="3048000" cy="584200"/>
          </a:xfrm>
          <a:prstGeom prst="rect">
            <a:avLst/>
          </a:prstGeom>
          <a:solidFill>
            <a:srgbClr val="D9782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C8230-484C-4BC6-A621-A0A321A0B612}"/>
              </a:ext>
            </a:extLst>
          </p:cNvPr>
          <p:cNvSpPr txBox="1"/>
          <p:nvPr/>
        </p:nvSpPr>
        <p:spPr>
          <a:xfrm>
            <a:off x="4445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EBB2B-9129-42D0-9241-3C7B7300EB1A}"/>
              </a:ext>
            </a:extLst>
          </p:cNvPr>
          <p:cNvSpPr txBox="1"/>
          <p:nvPr/>
        </p:nvSpPr>
        <p:spPr>
          <a:xfrm>
            <a:off x="4622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/>
              <a:t>Shards optimizer states + gradients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93AC51-FF49-447F-AFE2-D415296B539E}"/>
              </a:ext>
            </a:extLst>
          </p:cNvPr>
          <p:cNvSpPr txBox="1"/>
          <p:nvPr/>
        </p:nvSpPr>
        <p:spPr>
          <a:xfrm>
            <a:off x="4572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D97828"/>
                </a:solidFill>
              </a:rPr>
              <a:t>up to 8×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23D65-C46F-4C29-9B3B-6E17E9D77A7B}"/>
              </a:ext>
            </a:extLst>
          </p:cNvPr>
          <p:cNvSpPr txBox="1"/>
          <p:nvPr/>
        </p:nvSpPr>
        <p:spPr>
          <a:xfrm>
            <a:off x="4572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memory reduction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F3E0F1-17D3-4190-8DB1-0DC7551F2866}"/>
              </a:ext>
            </a:extLst>
          </p:cNvPr>
          <p:cNvSpPr/>
          <p:nvPr/>
        </p:nvSpPr>
        <p:spPr>
          <a:xfrm>
            <a:off x="7747000" y="3111500"/>
            <a:ext cx="3048000" cy="2667000"/>
          </a:xfrm>
          <a:prstGeom prst="roundRect">
            <a:avLst/>
          </a:prstGeom>
          <a:solidFill>
            <a:srgbClr val="F4F2EC"/>
          </a:solidFill>
          <a:ln w="19050" cap="flat" cmpd="sng" algn="ctr">
            <a:solidFill>
              <a:srgbClr val="A23C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887AF-C791-4645-97BE-7FB7A43BBBE8}"/>
              </a:ext>
            </a:extLst>
          </p:cNvPr>
          <p:cNvSpPr/>
          <p:nvPr/>
        </p:nvSpPr>
        <p:spPr>
          <a:xfrm>
            <a:off x="7747000" y="3111500"/>
            <a:ext cx="3048000" cy="584200"/>
          </a:xfrm>
          <a:prstGeom prst="rect">
            <a:avLst/>
          </a:prstGeom>
          <a:solidFill>
            <a:srgbClr val="A23C3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E0006-B42C-4754-9460-E7928436773F}"/>
              </a:ext>
            </a:extLst>
          </p:cNvPr>
          <p:cNvSpPr txBox="1"/>
          <p:nvPr/>
        </p:nvSpPr>
        <p:spPr>
          <a:xfrm>
            <a:off x="7747000" y="3213100"/>
            <a:ext cx="3048000" cy="381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0C1E45-2C64-44AE-A4DE-28C81999B1E2}"/>
              </a:ext>
            </a:extLst>
          </p:cNvPr>
          <p:cNvSpPr txBox="1"/>
          <p:nvPr/>
        </p:nvSpPr>
        <p:spPr>
          <a:xfrm>
            <a:off x="7924800" y="3848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/>
              <a:t>Shards everything — incl. model parameters</a:t>
            </a:r>
            <a:endParaRPr lang="en-IN" sz="15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7657C-063B-49F2-BECA-BF44F54CB4D0}"/>
              </a:ext>
            </a:extLst>
          </p:cNvPr>
          <p:cNvSpPr txBox="1"/>
          <p:nvPr/>
        </p:nvSpPr>
        <p:spPr>
          <a:xfrm>
            <a:off x="7874000" y="4737100"/>
            <a:ext cx="2794000" cy="5080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2800" b="1">
                <a:solidFill>
                  <a:srgbClr val="A23C33"/>
                </a:solidFill>
              </a:rPr>
              <a:t>up to n×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6C8DA2-2E05-4C36-A60D-576C16F132B5}"/>
              </a:ext>
            </a:extLst>
          </p:cNvPr>
          <p:cNvSpPr txBox="1"/>
          <p:nvPr/>
        </p:nvSpPr>
        <p:spPr>
          <a:xfrm>
            <a:off x="7874000" y="5245100"/>
            <a:ext cx="279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212121"/>
                </a:solidFill>
              </a:rPr>
              <a:t>(n = number of GPUs)</a:t>
            </a:r>
          </a:p>
        </p:txBody>
      </p:sp>
    </p:spTree>
    <p:extLst>
      <p:ext uri="{BB962C8B-B14F-4D97-AF65-F5344CB8AC3E}">
        <p14:creationId xmlns:p14="http://schemas.microsoft.com/office/powerpoint/2010/main" val="3789927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19C5-E936-F5B3-B5A2-FCEBB6B0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Distributed Training on AWS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13FB6-65F7-47BC-BD5A-EF5D6DEA2FA6}"/>
              </a:ext>
            </a:extLst>
          </p:cNvPr>
          <p:cNvSpPr txBox="1"/>
          <p:nvPr/>
        </p:nvSpPr>
        <p:spPr>
          <a:xfrm>
            <a:off x="1295400" y="2540000"/>
            <a:ext cx="5080000" cy="18158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1600" b="1" dirty="0"/>
              <a:t>Amazon SageMaker</a:t>
            </a:r>
            <a:r>
              <a:rPr lang="en-IN" sz="1600" dirty="0"/>
              <a:t> runs scalable, cost-effective distributed training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Launch FSDP with the </a:t>
            </a:r>
            <a:r>
              <a:rPr lang="en-IN" sz="1600" b="1" dirty="0"/>
              <a:t>PyTorch Estimator</a:t>
            </a:r>
            <a:r>
              <a:rPr lang="en-IN" sz="1600" dirty="0"/>
              <a:t> — the sharding factor is just a config parameter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Train on </a:t>
            </a:r>
            <a:r>
              <a:rPr lang="en-IN" sz="1600" b="1" dirty="0"/>
              <a:t>AWS Trainium</a:t>
            </a:r>
            <a:r>
              <a:rPr lang="en-IN" sz="1600" dirty="0"/>
              <a:t> via the </a:t>
            </a:r>
            <a:r>
              <a:rPr lang="en-IN" sz="1600" b="1" dirty="0"/>
              <a:t>AWS Neuron SDK</a:t>
            </a:r>
          </a:p>
          <a:p>
            <a:pPr marL="285750" indent="-285750">
              <a:buFont typeface="Arial"/>
              <a:buChar char="•"/>
            </a:pPr>
            <a:r>
              <a:rPr lang="en-IN" sz="1600" dirty="0"/>
              <a:t>Hugging Face </a:t>
            </a:r>
            <a:r>
              <a:rPr lang="en-IN" sz="1600" b="1" dirty="0"/>
              <a:t>Optimum Neuron</a:t>
            </a:r>
            <a:r>
              <a:rPr lang="en-IN" sz="1600" dirty="0"/>
              <a:t> bridges Transformers with the Neuron SDK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9BCDF-F24A-44FB-8B89-D08D83B00200}"/>
              </a:ext>
            </a:extLst>
          </p:cNvPr>
          <p:cNvSpPr txBox="1"/>
          <p:nvPr/>
        </p:nvSpPr>
        <p:spPr>
          <a:xfrm>
            <a:off x="6731000" y="2489200"/>
            <a:ext cx="4191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 b="1">
                <a:solidFill>
                  <a:srgbClr val="83992A"/>
                </a:solidFill>
              </a:rPr>
              <a:t>Trained on SageMaker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CD38FA-5737-4412-A4A5-69AD0B8FCECD}"/>
              </a:ext>
            </a:extLst>
          </p:cNvPr>
          <p:cNvSpPr/>
          <p:nvPr/>
        </p:nvSpPr>
        <p:spPr>
          <a:xfrm>
            <a:off x="6731000" y="2895600"/>
            <a:ext cx="4191000" cy="1371600"/>
          </a:xfrm>
          <a:prstGeom prst="roundRect">
            <a:avLst/>
          </a:prstGeom>
          <a:solidFill>
            <a:srgbClr val="4470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DDCE3-50F5-4A48-B756-3267C92AFB51}"/>
              </a:ext>
            </a:extLst>
          </p:cNvPr>
          <p:cNvSpPr txBox="1"/>
          <p:nvPr/>
        </p:nvSpPr>
        <p:spPr>
          <a:xfrm>
            <a:off x="6921500" y="30226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Falcon-180B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DFD92-0FCF-4F7E-858F-986EA12C9676}"/>
              </a:ext>
            </a:extLst>
          </p:cNvPr>
          <p:cNvSpPr txBox="1"/>
          <p:nvPr/>
        </p:nvSpPr>
        <p:spPr>
          <a:xfrm>
            <a:off x="6921500" y="34290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FFFFFF"/>
                </a:solidFill>
              </a:rPr>
              <a:t>512 instances · 4,096 A100 GPUs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3E9EB-7300-46E1-B70D-DF4C07728A2B}"/>
              </a:ext>
            </a:extLst>
          </p:cNvPr>
          <p:cNvSpPr txBox="1"/>
          <p:nvPr/>
        </p:nvSpPr>
        <p:spPr>
          <a:xfrm>
            <a:off x="6921500" y="37592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≈ 164 TB of GPU RAM</a:t>
            </a:r>
            <a:endParaRPr lang="en-IN" sz="1400">
              <a:solidFill>
                <a:srgbClr val="FFFFFF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EF9D0C-D440-4FD0-8C2E-584221DC7E24}"/>
              </a:ext>
            </a:extLst>
          </p:cNvPr>
          <p:cNvSpPr/>
          <p:nvPr/>
        </p:nvSpPr>
        <p:spPr>
          <a:xfrm>
            <a:off x="6731000" y="4470400"/>
            <a:ext cx="4191000" cy="1371600"/>
          </a:xfrm>
          <a:prstGeom prst="roundRect">
            <a:avLst/>
          </a:prstGeom>
          <a:solidFill>
            <a:srgbClr val="3C977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6C555-4249-4A29-9CB3-9D318F73F5AA}"/>
              </a:ext>
            </a:extLst>
          </p:cNvPr>
          <p:cNvSpPr txBox="1"/>
          <p:nvPr/>
        </p:nvSpPr>
        <p:spPr>
          <a:xfrm>
            <a:off x="6921500" y="45974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b="1">
                <a:solidFill>
                  <a:srgbClr val="FFFFFF"/>
                </a:solidFill>
              </a:rPr>
              <a:t>BloombergGPT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7FB95-47A2-420A-9AA5-C5F5A91FE80C}"/>
              </a:ext>
            </a:extLst>
          </p:cNvPr>
          <p:cNvSpPr txBox="1"/>
          <p:nvPr/>
        </p:nvSpPr>
        <p:spPr>
          <a:xfrm>
            <a:off x="6921500" y="50038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IN" sz="1400">
                <a:solidFill>
                  <a:srgbClr val="FFFFFF"/>
                </a:solidFill>
              </a:rPr>
              <a:t>64 instances · 512 GPUs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1370E-7019-4D2C-82F6-ED961F56427B}"/>
              </a:ext>
            </a:extLst>
          </p:cNvPr>
          <p:cNvSpPr txBox="1"/>
          <p:nvPr/>
        </p:nvSpPr>
        <p:spPr>
          <a:xfrm>
            <a:off x="6921500" y="5334000"/>
            <a:ext cx="3810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≈ 20 TB of GPU RAM</a:t>
            </a:r>
            <a:endParaRPr lang="en-IN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441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E423-8149-5960-0F2B-0037C4EF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 &amp; 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93C2-C0F9-A26F-82CD-282C04CC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73050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IN" sz="1700" dirty="0"/>
              <a:t>Training large models is constrained by </a:t>
            </a:r>
            <a:r>
              <a:rPr lang="en-IN" sz="1700" b="1" dirty="0"/>
              <a:t>GPU memory</a:t>
            </a:r>
            <a:r>
              <a:rPr lang="en-IN" sz="1700" dirty="0"/>
              <a:t> — a 1B-param model needs ~24 GB to train at FP32</a:t>
            </a:r>
          </a:p>
          <a:p>
            <a:pPr marL="285750" indent="-285750">
              <a:buFont typeface="Arial"/>
              <a:buChar char="•"/>
            </a:pPr>
            <a:r>
              <a:rPr lang="en-IN" sz="1700" b="1" dirty="0"/>
              <a:t>Quantization</a:t>
            </a:r>
            <a:r>
              <a:rPr lang="en-IN" sz="1700" dirty="0"/>
              <a:t> lowers precision (BF16, FP8, INT8) to cut memory 50–75%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Attention optimizations (</a:t>
            </a:r>
            <a:r>
              <a:rPr lang="en-IN" sz="1700" b="1" dirty="0"/>
              <a:t>FlashAttention</a:t>
            </a:r>
            <a:r>
              <a:rPr lang="en-IN" sz="1700" dirty="0"/>
              <a:t>, </a:t>
            </a:r>
            <a:r>
              <a:rPr lang="en-IN" sz="1700" b="1" dirty="0"/>
              <a:t>GQA</a:t>
            </a:r>
            <a:r>
              <a:rPr lang="en-IN" sz="1700" dirty="0"/>
              <a:t>) speed up and shrink memory</a:t>
            </a:r>
          </a:p>
          <a:p>
            <a:pPr marL="285750" indent="-285750">
              <a:buFont typeface="Arial"/>
              <a:buChar char="•"/>
            </a:pPr>
            <a:r>
              <a:rPr lang="en-IN" sz="1700" b="1" dirty="0"/>
              <a:t>DDP &amp; FSDP</a:t>
            </a:r>
            <a:r>
              <a:rPr lang="en-IN" sz="1700" dirty="0"/>
              <a:t> scale training across many GPUs; AWS SageMaker + Trainium make it practical</a:t>
            </a:r>
          </a:p>
          <a:p>
            <a:pPr marL="285750" indent="-285750">
              <a:buFont typeface="Arial"/>
              <a:buChar char="•"/>
            </a:pPr>
            <a:r>
              <a:rPr lang="en-IN" sz="1700" dirty="0"/>
              <a:t>Combine </a:t>
            </a:r>
            <a:r>
              <a:rPr lang="en-IN" sz="1700" b="1" dirty="0"/>
              <a:t>quantization + distributed computing</a:t>
            </a:r>
            <a:r>
              <a:rPr lang="en-IN" sz="1700" dirty="0"/>
              <a:t> to train very large models efficiently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D43AFD-A4FE-4A22-870F-87898F6DEC61}"/>
              </a:ext>
            </a:extLst>
          </p:cNvPr>
          <p:cNvSpPr/>
          <p:nvPr/>
        </p:nvSpPr>
        <p:spPr>
          <a:xfrm>
            <a:off x="1295400" y="5562600"/>
            <a:ext cx="9601200" cy="711200"/>
          </a:xfrm>
          <a:prstGeom prst="roundRect">
            <a:avLst/>
          </a:prstGeom>
          <a:solidFill>
            <a:srgbClr val="44709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Next — Chapter 5: Fine-tuning foundation models on your own datasets</a:t>
            </a:r>
            <a:endParaRPr lang="en-IN" sz="17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80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A19E8DB-9F6A-48CA-9C0F-0EDB6D8F39B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54b09c9-931d-4abb-a88b-5f8236d23d6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881</Words>
  <Application>Microsoft Office PowerPoint</Application>
  <PresentationFormat>Widescreen</PresentationFormat>
  <Paragraphs>156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Lecture 3 (Advanced Generative AI)</vt:lpstr>
      <vt:lpstr>Objectives of Lecture 3</vt:lpstr>
      <vt:lpstr>The Memory Challenge</vt:lpstr>
      <vt:lpstr>Why Models Run Out of Memory</vt:lpstr>
      <vt:lpstr>AWS Trainium — Purpose-Built ML Accelerators</vt:lpstr>
      <vt:lpstr>Data Types &amp; Numerical Precision</vt:lpstr>
      <vt:lpstr>Comparing Data Types for Quantization</vt:lpstr>
      <vt:lpstr>Quantization</vt:lpstr>
      <vt:lpstr>How Quantization Saves Memory</vt:lpstr>
      <vt:lpstr>Optimizing the Self-Attention Layers</vt:lpstr>
      <vt:lpstr>Distributed Computing</vt:lpstr>
      <vt:lpstr>DDP vs. FSDP</vt:lpstr>
      <vt:lpstr>FSDP &amp; the Three ZeRO Stages</vt:lpstr>
      <vt:lpstr>Distributed Training on AWS</vt:lpstr>
      <vt:lpstr>Summary &amp; What's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gupta</dc:creator>
  <cp:lastModifiedBy>dishant gupta</cp:lastModifiedBy>
  <cp:revision>1</cp:revision>
  <dcterms:created xsi:type="dcterms:W3CDTF">2026-05-31T18:03:03Z</dcterms:created>
  <dcterms:modified xsi:type="dcterms:W3CDTF">2026-05-31T18:27:09Z</dcterms:modified>
</cp:coreProperties>
</file>